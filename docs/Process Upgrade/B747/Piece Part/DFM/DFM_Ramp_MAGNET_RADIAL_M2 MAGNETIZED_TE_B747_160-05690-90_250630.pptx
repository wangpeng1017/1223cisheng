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438" r:id="rId2"/>
    <p:sldId id="439" r:id="rId3"/>
    <p:sldId id="283" r:id="rId4"/>
    <p:sldId id="482" r:id="rId5"/>
    <p:sldId id="465" r:id="rId6"/>
    <p:sldId id="474" r:id="rId7"/>
    <p:sldId id="475" r:id="rId8"/>
    <p:sldId id="476" r:id="rId9"/>
    <p:sldId id="477" r:id="rId10"/>
    <p:sldId id="478" r:id="rId11"/>
    <p:sldId id="479" r:id="rId12"/>
    <p:sldId id="480" r:id="rId13"/>
    <p:sldId id="481" r:id="rId14"/>
    <p:sldId id="466" r:id="rId15"/>
    <p:sldId id="484" r:id="rId16"/>
    <p:sldId id="468" r:id="rId17"/>
    <p:sldId id="489" r:id="rId18"/>
    <p:sldId id="469" r:id="rId19"/>
    <p:sldId id="483" r:id="rId20"/>
    <p:sldId id="267" r:id="rId21"/>
  </p:sldIdLst>
  <p:sldSz cx="24384000" cy="13716000"/>
  <p:notesSz cx="6858000" cy="9144000"/>
  <p:custDataLst>
    <p:tags r:id="rId23"/>
  </p:custDataLst>
  <p:defaultTextStyle>
    <a:defPPr>
      <a:defRPr lang="zh-CN"/>
    </a:defPPr>
    <a:lvl1pPr marL="0" lvl="0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3" userDrawn="1">
          <p15:clr>
            <a:srgbClr val="A4A3A4"/>
          </p15:clr>
        </p15:guide>
        <p15:guide id="2" pos="72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6366" autoAdjust="0"/>
  </p:normalViewPr>
  <p:slideViewPr>
    <p:cSldViewPr showGuides="1">
      <p:cViewPr varScale="1">
        <p:scale>
          <a:sx n="49" d="100"/>
          <a:sy n="49" d="100"/>
        </p:scale>
        <p:origin x="72" y="198"/>
      </p:cViewPr>
      <p:guideLst>
        <p:guide orient="horz" pos="4223"/>
        <p:guide pos="72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1" name="Shape 30"/>
          <p:cNvSpPr>
            <a:spLocks noGrp="1" noRot="1" noChangeAspect="1"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4584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2870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670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8800" rtl="0" eaLnBrk="0" fontAlgn="base" latinLnBrk="0" hangingPunct="0">
              <a:lnSpc>
                <a:spcPct val="100000"/>
              </a:lnSpc>
              <a:spcBef>
                <a:spcPts val="3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39DBE-F4DB-4660-B0AE-EFBEB0C40E0E}" type="slidenum"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8800" rtl="0" eaLnBrk="0" fontAlgn="base" latinLnBrk="0" hangingPunct="0">
              <a:lnSpc>
                <a:spcPct val="100000"/>
              </a:lnSpc>
              <a:spcBef>
                <a:spcPts val="3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39DBE-F4DB-4660-B0AE-EFBEB0C40E0E}" type="slidenum"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未命名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0"/>
            <a:ext cx="23922037" cy="2447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未标题-3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23200" y="679450"/>
            <a:ext cx="2825750" cy="622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未标题-4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600" y="1371600"/>
            <a:ext cx="3276600" cy="222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9" name="标题文本"/>
          <p:cNvSpPr>
            <a:spLocks noGrp="1"/>
          </p:cNvSpPr>
          <p:nvPr>
            <p:ph type="title"/>
          </p:nvPr>
        </p:nvSpPr>
        <p:spPr>
          <a:xfrm>
            <a:off x="3652838" y="1539875"/>
            <a:ext cx="19507200" cy="333692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 anchor="ctr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30" name="正文级别 1…"/>
          <p:cNvSpPr>
            <a:spLocks noGrp="1"/>
          </p:cNvSpPr>
          <p:nvPr>
            <p:ph type="body"/>
          </p:nvPr>
        </p:nvSpPr>
        <p:spPr>
          <a:xfrm>
            <a:off x="13609638" y="4876800"/>
            <a:ext cx="9550400" cy="8839200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1031" name="幻灯片编号"/>
          <p:cNvSpPr>
            <a:spLocks noGrp="1" noChangeArrowheads="1"/>
          </p:cNvSpPr>
          <p:nvPr>
            <p:ph type="sldNum" sz="quarter" idx="2"/>
          </p:nvPr>
        </p:nvSpPr>
        <p:spPr bwMode="auto">
          <a:xfrm>
            <a:off x="11666538" y="13269913"/>
            <a:ext cx="3222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6" tIns="91436" rIns="91436" bIns="91436" numCol="1" anchor="ctr" anchorCtr="0" compatLnSpc="1">
            <a:spAutoFit/>
          </a:bodyPr>
          <a:lstStyle>
            <a:lvl1pPr algn="r" eaLnBrk="0" hangingPunct="0">
              <a:spcBef>
                <a:spcPts val="3200"/>
              </a:spcBef>
              <a:buFont typeface="Arial" panose="020B0604020202020204" pitchFamily="34" charset="0"/>
              <a:buNone/>
              <a:defRPr sz="2000">
                <a:cs typeface="+mn-cs"/>
                <a:sym typeface="Arial" panose="020B0604020202020204" pitchFamily="34" charset="0"/>
              </a:defRPr>
            </a:lvl1pPr>
          </a:lstStyle>
          <a:p>
            <a:pPr marL="0" marR="0" lvl="0" indent="0" algn="r" defTabSz="1828800" rtl="0" eaLnBrk="0" fontAlgn="base" latinLnBrk="0" hangingPunct="0">
              <a:lnSpc>
                <a:spcPct val="100000"/>
              </a:lnSpc>
              <a:spcBef>
                <a:spcPts val="3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39DBE-F4DB-4660-B0AE-EFBEB0C40E0E}" type="slidenum"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hf sldNum="0" hdr="0" ftr="0" dt="0"/>
  <p:txStyles>
    <p:titleStyle>
      <a:lvl1pPr algn="ctr" defTabSz="1828800" rtl="0" eaLnBrk="0" fontAlgn="base" hangingPunct="0">
        <a:spcBef>
          <a:spcPts val="3200"/>
        </a:spcBef>
        <a:spcAft>
          <a:spcPct val="0"/>
        </a:spcAft>
        <a:defRPr sz="8800" kern="1200">
          <a:solidFill>
            <a:srgbClr val="000000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lvl1pPr marL="685800" indent="-6858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7" Type="http://schemas.openxmlformats.org/officeDocument/2006/relationships/image" Target="../media/image53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FM_T1_MAGNET,X1758_810-09111–04"/>
          <p:cNvSpPr/>
          <p:nvPr/>
        </p:nvSpPr>
        <p:spPr>
          <a:xfrm>
            <a:off x="411162" y="5331575"/>
            <a:ext cx="23561675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 algn="ctr">
              <a:spcBef>
                <a:spcPts val="3200"/>
              </a:spcBef>
            </a:pPr>
            <a:r>
              <a:rPr lang="en-US" altLang="zh-CN" sz="4800" dirty="0">
                <a:cs typeface="Arial" panose="020B0604020202020204" pitchFamily="34" charset="0"/>
              </a:rPr>
              <a:t>DFM_RAMP_MAGNET_RADIAL_M2_MAGNETIZED_TE_B747_160-05690-90</a:t>
            </a:r>
            <a:endParaRPr lang="da-DK" altLang="zh-CN" sz="4800" dirty="0">
              <a:cs typeface="Arial" panose="020B0604020202020204" pitchFamily="34" charset="0"/>
            </a:endParaRPr>
          </a:p>
        </p:txBody>
      </p:sp>
      <p:sp>
        <p:nvSpPr>
          <p:cNvPr id="6" name="Date:2019-04-16"/>
          <p:cNvSpPr/>
          <p:nvPr/>
        </p:nvSpPr>
        <p:spPr>
          <a:xfrm>
            <a:off x="16149638" y="8177491"/>
            <a:ext cx="3473450" cy="1190069"/>
          </a:xfrm>
          <a:prstGeom prst="rect">
            <a:avLst/>
          </a:prstGeom>
          <a:noFill/>
          <a:ln w="9525">
            <a:noFill/>
          </a:ln>
        </p:spPr>
        <p:txBody>
          <a:bodyPr lIns="101600" tIns="101600" rIns="101600" bIns="101600" anchor="ctr">
            <a:sp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cs typeface="Arial" panose="020B0604020202020204" pitchFamily="34" charset="0"/>
              </a:rPr>
              <a:t>Date: 20</a:t>
            </a:r>
            <a:r>
              <a:rPr lang="en-US" altLang="zh-CN" sz="3200" dirty="0">
                <a:cs typeface="Arial" panose="020B0604020202020204" pitchFamily="34" charset="0"/>
                <a:sym typeface="Helvetica" charset="0"/>
              </a:rPr>
              <a:t>25/06/30</a:t>
            </a:r>
            <a:endParaRPr lang="zh-CN" altLang="en-US" sz="3200" dirty="0">
              <a:cs typeface="Arial" panose="020B0604020202020204" pitchFamily="34" charset="0"/>
              <a:sym typeface="Helvetica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cs typeface="Arial" panose="020B0604020202020204" pitchFamily="34" charset="0"/>
              </a:rPr>
              <a:t>R</a:t>
            </a:r>
            <a:r>
              <a:rPr lang="en-US" altLang="zh-CN" sz="3200" dirty="0" err="1">
                <a:cs typeface="Arial" panose="020B0604020202020204" pitchFamily="34" charset="0"/>
              </a:rPr>
              <a:t>ev</a:t>
            </a:r>
            <a:r>
              <a:rPr lang="en-US" altLang="zh-CN" sz="3200" dirty="0">
                <a:cs typeface="Arial" panose="020B0604020202020204" pitchFamily="34" charset="0"/>
              </a:rPr>
              <a:t>.</a:t>
            </a:r>
            <a:r>
              <a:rPr lang="zh-CN" altLang="en-US" sz="3200" dirty="0">
                <a:cs typeface="Arial" panose="020B0604020202020204" pitchFamily="34" charset="0"/>
              </a:rPr>
              <a:t>: </a:t>
            </a:r>
            <a:r>
              <a:rPr lang="en-US" altLang="zh-CN" sz="3200" dirty="0">
                <a:cs typeface="Arial" panose="020B0604020202020204" pitchFamily="34" charset="0"/>
                <a:sym typeface="Helvetica" charset="0"/>
              </a:rPr>
              <a:t>90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X1758 / Revision list："/>
          <p:cNvSpPr/>
          <p:nvPr/>
        </p:nvSpPr>
        <p:spPr>
          <a:xfrm>
            <a:off x="361950" y="908050"/>
            <a:ext cx="16362363" cy="92392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Lucida Grande" charset="0"/>
              </a:rPr>
              <a:t>B747 </a:t>
            </a:r>
            <a:r>
              <a:rPr lang="en-US" altLang="zh-CN" sz="4800" dirty="0">
                <a:latin typeface="Helvetica" charset="0"/>
                <a:sym typeface="Helvetica" charset="0"/>
              </a:rPr>
              <a:t>| Revision List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graphicFrame>
        <p:nvGraphicFramePr>
          <p:cNvPr id="4" name="Group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454845"/>
              </p:ext>
            </p:extLst>
          </p:nvPr>
        </p:nvGraphicFramePr>
        <p:xfrm>
          <a:off x="1246188" y="2933700"/>
          <a:ext cx="21893212" cy="6199190"/>
        </p:xfrm>
        <a:graphic>
          <a:graphicData uri="http://schemas.openxmlformats.org/drawingml/2006/table">
            <a:tbl>
              <a:tblPr/>
              <a:tblGrid>
                <a:gridCol w="228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3625"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zh-CN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Rev.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zh-CN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Description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zh-CN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Date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113"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01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algn="l" defTabSz="1828800" rtl="0" eaLnBrk="1" fontAlgn="base" latinLnBrk="0" hangingPunct="0">
                        <a:lnSpc>
                          <a:spcPct val="100000"/>
                        </a:lnSpc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Initial Release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12/05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02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 defTabSz="1828800" rtl="0" eaLnBrk="1" fontAlgn="base" latinLnBrk="0" hangingPunct="0">
                        <a:lnSpc>
                          <a:spcPct val="100000"/>
                        </a:lnSpc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Update 2D Drawing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03/04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03195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03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Update 2D Drawing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05/09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6016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04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Update 2D Drawing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06/20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607270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90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Page 17 has been updated to automatic magnetization &amp; laser marking line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06/30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92415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latin typeface="Helvetica" charset="0"/>
                <a:sym typeface="Helvetica" charset="0"/>
              </a:rPr>
              <a:t>| Product Information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908" y="4625752"/>
            <a:ext cx="19082114" cy="43204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Process Flow Chart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sp>
        <p:nvSpPr>
          <p:cNvPr id="56" name="AutoShape 7"/>
          <p:cNvSpPr/>
          <p:nvPr/>
        </p:nvSpPr>
        <p:spPr>
          <a:xfrm>
            <a:off x="2275614" y="3070860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Block Magnet</a:t>
            </a:r>
          </a:p>
        </p:txBody>
      </p:sp>
      <p:sp>
        <p:nvSpPr>
          <p:cNvPr id="57" name="AutoShape 9"/>
          <p:cNvSpPr/>
          <p:nvPr/>
        </p:nvSpPr>
        <p:spPr>
          <a:xfrm>
            <a:off x="13055564" y="3070860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1st Double Side Grinding</a:t>
            </a:r>
          </a:p>
        </p:txBody>
      </p:sp>
      <p:sp>
        <p:nvSpPr>
          <p:cNvPr id="58" name="AutoShape 10"/>
          <p:cNvSpPr/>
          <p:nvPr/>
        </p:nvSpPr>
        <p:spPr>
          <a:xfrm>
            <a:off x="7665589" y="3070860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1st Wire Saw</a:t>
            </a:r>
          </a:p>
        </p:txBody>
      </p:sp>
      <p:sp>
        <p:nvSpPr>
          <p:cNvPr id="59" name="箭头"/>
          <p:cNvSpPr/>
          <p:nvPr/>
        </p:nvSpPr>
        <p:spPr>
          <a:xfrm>
            <a:off x="6247600" y="342971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60" name="AutoShape 13"/>
          <p:cNvSpPr/>
          <p:nvPr/>
        </p:nvSpPr>
        <p:spPr>
          <a:xfrm>
            <a:off x="18445538" y="3071584"/>
            <a:ext cx="3453997" cy="1148269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2nd Wire Saw</a:t>
            </a:r>
          </a:p>
        </p:txBody>
      </p:sp>
      <p:sp>
        <p:nvSpPr>
          <p:cNvPr id="61" name="AutoShape 16"/>
          <p:cNvSpPr/>
          <p:nvPr/>
        </p:nvSpPr>
        <p:spPr>
          <a:xfrm>
            <a:off x="13029922" y="5666007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1st Profile Grinding</a:t>
            </a:r>
          </a:p>
        </p:txBody>
      </p:sp>
      <p:sp>
        <p:nvSpPr>
          <p:cNvPr id="62" name="AutoShape 17"/>
          <p:cNvSpPr/>
          <p:nvPr/>
        </p:nvSpPr>
        <p:spPr>
          <a:xfrm>
            <a:off x="7575495" y="5685155"/>
            <a:ext cx="3724275" cy="115062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3rd Wire Saw</a:t>
            </a:r>
          </a:p>
        </p:txBody>
      </p:sp>
      <p:sp>
        <p:nvSpPr>
          <p:cNvPr id="63" name="AutoShape 29"/>
          <p:cNvSpPr/>
          <p:nvPr/>
        </p:nvSpPr>
        <p:spPr>
          <a:xfrm>
            <a:off x="18444014" y="10820283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Magnetizing</a:t>
            </a:r>
          </a:p>
        </p:txBody>
      </p:sp>
      <p:sp>
        <p:nvSpPr>
          <p:cNvPr id="64" name="AutoShape 30"/>
          <p:cNvSpPr/>
          <p:nvPr/>
        </p:nvSpPr>
        <p:spPr>
          <a:xfrm>
            <a:off x="18435886" y="8261155"/>
            <a:ext cx="3452474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AOI Inspection</a:t>
            </a:r>
          </a:p>
        </p:txBody>
      </p:sp>
      <p:sp>
        <p:nvSpPr>
          <p:cNvPr id="65" name="AutoShape 10"/>
          <p:cNvSpPr/>
          <p:nvPr/>
        </p:nvSpPr>
        <p:spPr>
          <a:xfrm>
            <a:off x="18445538" y="5685607"/>
            <a:ext cx="3452473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2nd Double Side Grinding</a:t>
            </a:r>
          </a:p>
        </p:txBody>
      </p:sp>
      <p:sp>
        <p:nvSpPr>
          <p:cNvPr id="66" name="AutoShape 13"/>
          <p:cNvSpPr/>
          <p:nvPr/>
        </p:nvSpPr>
        <p:spPr>
          <a:xfrm>
            <a:off x="2275614" y="5685607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2nd Profile Grinding</a:t>
            </a:r>
          </a:p>
        </p:txBody>
      </p:sp>
      <p:sp>
        <p:nvSpPr>
          <p:cNvPr id="67" name="AutoShape 10"/>
          <p:cNvSpPr/>
          <p:nvPr/>
        </p:nvSpPr>
        <p:spPr>
          <a:xfrm>
            <a:off x="7656000" y="8261155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Tumbling</a:t>
            </a:r>
          </a:p>
        </p:txBody>
      </p:sp>
      <p:sp>
        <p:nvSpPr>
          <p:cNvPr id="68" name="箭头"/>
          <p:cNvSpPr/>
          <p:nvPr/>
        </p:nvSpPr>
        <p:spPr>
          <a:xfrm rot="10740000">
            <a:off x="6202553" y="604446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69" name="AutoShape 7"/>
          <p:cNvSpPr/>
          <p:nvPr/>
        </p:nvSpPr>
        <p:spPr>
          <a:xfrm>
            <a:off x="13029921" y="8188129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Plating</a:t>
            </a:r>
          </a:p>
        </p:txBody>
      </p:sp>
      <p:sp>
        <p:nvSpPr>
          <p:cNvPr id="70" name="箭头"/>
          <p:cNvSpPr/>
          <p:nvPr/>
        </p:nvSpPr>
        <p:spPr>
          <a:xfrm rot="5340000">
            <a:off x="19798984" y="9825084"/>
            <a:ext cx="900000" cy="432000"/>
          </a:xfrm>
          <a:prstGeom prst="rightArrow">
            <a:avLst>
              <a:gd name="adj1" fmla="val 50000"/>
              <a:gd name="adj2" fmla="val 136580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1" name="箭头"/>
          <p:cNvSpPr/>
          <p:nvPr/>
        </p:nvSpPr>
        <p:spPr>
          <a:xfrm>
            <a:off x="11637575" y="342971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2" name="箭头"/>
          <p:cNvSpPr/>
          <p:nvPr/>
        </p:nvSpPr>
        <p:spPr>
          <a:xfrm>
            <a:off x="17027550" y="342971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3" name="箭头"/>
          <p:cNvSpPr/>
          <p:nvPr/>
        </p:nvSpPr>
        <p:spPr>
          <a:xfrm rot="5340000">
            <a:off x="19803553" y="4736730"/>
            <a:ext cx="900000" cy="432000"/>
          </a:xfrm>
          <a:prstGeom prst="rightArrow">
            <a:avLst>
              <a:gd name="adj1" fmla="val 50000"/>
              <a:gd name="adj2" fmla="val 135941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4" name="箭头"/>
          <p:cNvSpPr/>
          <p:nvPr/>
        </p:nvSpPr>
        <p:spPr>
          <a:xfrm rot="10740000">
            <a:off x="17072594" y="604446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5" name="箭头"/>
          <p:cNvSpPr/>
          <p:nvPr/>
        </p:nvSpPr>
        <p:spPr>
          <a:xfrm rot="10740000">
            <a:off x="11772712" y="604446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6" name="箭头"/>
          <p:cNvSpPr/>
          <p:nvPr/>
        </p:nvSpPr>
        <p:spPr>
          <a:xfrm rot="5340000">
            <a:off x="3495042" y="7484298"/>
            <a:ext cx="900000" cy="432000"/>
          </a:xfrm>
          <a:prstGeom prst="rightArrow">
            <a:avLst>
              <a:gd name="adj1" fmla="val 50000"/>
              <a:gd name="adj2" fmla="val 13657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7" name="箭头"/>
          <p:cNvSpPr/>
          <p:nvPr/>
        </p:nvSpPr>
        <p:spPr>
          <a:xfrm>
            <a:off x="11627970" y="8620013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8" name="箭头"/>
          <p:cNvSpPr/>
          <p:nvPr/>
        </p:nvSpPr>
        <p:spPr>
          <a:xfrm>
            <a:off x="17176386" y="8620013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9" name="AutoShape 30"/>
          <p:cNvSpPr/>
          <p:nvPr/>
        </p:nvSpPr>
        <p:spPr>
          <a:xfrm>
            <a:off x="13061008" y="10710251"/>
            <a:ext cx="3452474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Laser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80" name="AutoShape 29"/>
          <p:cNvSpPr/>
          <p:nvPr/>
        </p:nvSpPr>
        <p:spPr>
          <a:xfrm>
            <a:off x="7710633" y="10834137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Inspection</a:t>
            </a:r>
          </a:p>
        </p:txBody>
      </p:sp>
      <p:sp>
        <p:nvSpPr>
          <p:cNvPr id="81" name="箭头"/>
          <p:cNvSpPr/>
          <p:nvPr/>
        </p:nvSpPr>
        <p:spPr>
          <a:xfrm rot="10740000">
            <a:off x="11781084" y="1119299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82" name="箭头"/>
          <p:cNvSpPr/>
          <p:nvPr/>
        </p:nvSpPr>
        <p:spPr>
          <a:xfrm rot="10740000">
            <a:off x="17097608" y="1118957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83" name="AutoShape 16"/>
          <p:cNvSpPr/>
          <p:nvPr/>
        </p:nvSpPr>
        <p:spPr>
          <a:xfrm>
            <a:off x="2256000" y="8442000"/>
            <a:ext cx="3627443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3rd Profile Grinding</a:t>
            </a:r>
          </a:p>
        </p:txBody>
      </p:sp>
      <p:sp>
        <p:nvSpPr>
          <p:cNvPr id="84" name="箭头"/>
          <p:cNvSpPr/>
          <p:nvPr/>
        </p:nvSpPr>
        <p:spPr>
          <a:xfrm>
            <a:off x="6262556" y="866774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32" name="AutoShape 30"/>
          <p:cNvSpPr/>
          <p:nvPr/>
        </p:nvSpPr>
        <p:spPr>
          <a:xfrm>
            <a:off x="2277137" y="10834137"/>
            <a:ext cx="3452474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Packaging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3" name="箭头"/>
          <p:cNvSpPr/>
          <p:nvPr/>
        </p:nvSpPr>
        <p:spPr>
          <a:xfrm rot="10740000">
            <a:off x="6202553" y="11179141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924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Block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grpSp>
        <p:nvGrpSpPr>
          <p:cNvPr id="25" name="成组"/>
          <p:cNvGrpSpPr>
            <a:grpSpLocks noChangeAspect="1"/>
          </p:cNvGrpSpPr>
          <p:nvPr/>
        </p:nvGrpSpPr>
        <p:grpSpPr>
          <a:xfrm>
            <a:off x="365134" y="2250000"/>
            <a:ext cx="23562865" cy="5112718"/>
            <a:chOff x="0" y="0"/>
            <a:chExt cx="8575058" cy="1860633"/>
          </a:xfrm>
        </p:grpSpPr>
        <p:sp>
          <p:nvSpPr>
            <p:cNvPr id="26" name="矩形"/>
            <p:cNvSpPr/>
            <p:nvPr/>
          </p:nvSpPr>
          <p:spPr>
            <a:xfrm>
              <a:off x="6595" y="0"/>
              <a:ext cx="8556623" cy="1857600"/>
            </a:xfrm>
            <a:prstGeom prst="rect">
              <a:avLst/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Trebuchet MS" panose="020B0603020202020204"/>
                <a:cs typeface="Arial" panose="020B0604020202020204" pitchFamily="34" charset="0"/>
                <a:sym typeface="Trebuchet MS" panose="020B0603020202020204"/>
              </a:endParaRPr>
            </a:p>
          </p:txBody>
        </p:sp>
        <p:sp>
          <p:nvSpPr>
            <p:cNvPr id="27" name="Block magnet with proper properties and dimension"/>
            <p:cNvSpPr/>
            <p:nvPr/>
          </p:nvSpPr>
          <p:spPr>
            <a:xfrm>
              <a:off x="2256975" y="0"/>
              <a:ext cx="3779637" cy="212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12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3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/>
                </a:rPr>
                <a:t>Block magnet with proper properties and dimension</a:t>
              </a:r>
            </a:p>
          </p:txBody>
        </p:sp>
        <p:sp>
          <p:nvSpPr>
            <p:cNvPr id="32" name="Control Point:…"/>
            <p:cNvSpPr/>
            <p:nvPr/>
          </p:nvSpPr>
          <p:spPr>
            <a:xfrm>
              <a:off x="2256975" y="534638"/>
              <a:ext cx="3779637" cy="1287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00" b="1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kumimoji="0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Control Point:</a:t>
              </a:r>
              <a:endPara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Verdana" panose="020B0604030504040204"/>
                <a:cs typeface="Arial" panose="020B0604020202020204" pitchFamily="34" charset="0"/>
                <a:sym typeface="Verdana" panose="020B0604030504040204"/>
              </a:endParaRPr>
            </a:p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Char char="→"/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Arial" panose="020B0604020202020204"/>
                </a:rPr>
                <a:t> 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Arial" panose="020B0604020202020204"/>
                </a:rPr>
                <a:t>Material Grade: 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N48SH-100RC(REE)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Br: 13.7-14.2kGs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  <a:sym typeface="Verdana" panose="020B0604030504040204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 </a:t>
              </a:r>
              <a:r>
                <a:rPr lang="en-US" altLang="zh-CN" sz="3200" kern="0" dirty="0" err="1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Hcb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: ≥ 13.2 </a:t>
              </a:r>
              <a:r>
                <a:rPr lang="en-US" altLang="zh-CN" sz="3200" kern="0" dirty="0" err="1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kOe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 </a:t>
              </a:r>
              <a:r>
                <a:rPr lang="en-US" altLang="zh-CN" sz="3200" kern="0" dirty="0" err="1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Hcj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: ≥ 19kOe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 (BH)max: 45-49MGOe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</a:endParaRPr>
            </a:p>
            <a:p>
              <a:pPr lvl="0" defTabSz="914400" eaLnBrk="1" fontAlgn="auto" hangingPunct="1"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Char char="→"/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Block magnet size: 57 × 43 × </a:t>
              </a:r>
              <a:r>
                <a:rPr lang="en-US" altLang="zh-CN" sz="3200" kern="0" dirty="0">
                  <a:solidFill>
                    <a:srgbClr val="0000FF"/>
                  </a:solidFill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35</a:t>
              </a:r>
            </a:p>
          </p:txBody>
        </p:sp>
        <p:pic>
          <p:nvPicPr>
            <p:cNvPr id="33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187731" cy="185760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34" name="图像" descr="图像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098258" y="3032"/>
              <a:ext cx="2476800" cy="185760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2475694" y="7650412"/>
            <a:ext cx="6620306" cy="5760000"/>
            <a:chOff x="1155271" y="3918073"/>
            <a:chExt cx="2561174" cy="2226960"/>
          </a:xfrm>
        </p:grpSpPr>
        <p:pic>
          <p:nvPicPr>
            <p:cNvPr id="38" name="图片 12" descr="图片 1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155271" y="3918073"/>
              <a:ext cx="2561174" cy="1920880"/>
            </a:xfrm>
            <a:prstGeom prst="rect">
              <a:avLst/>
            </a:prstGeom>
            <a:ln w="12700">
              <a:miter lim="400000"/>
              <a:headEnd/>
              <a:tailEnd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9" name="矩形"/>
            <p:cNvSpPr/>
            <p:nvPr/>
          </p:nvSpPr>
          <p:spPr>
            <a:xfrm>
              <a:off x="1155271" y="5824593"/>
              <a:ext cx="2561174" cy="320440"/>
            </a:xfrm>
            <a:prstGeom prst="rect">
              <a:avLst/>
            </a:prstGeom>
            <a:gradFill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/>
            </a:gradFill>
            <a:ln w="12700">
              <a:miter lim="400000"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  <p:txBody>
            <a:bodyPr lIns="45719" rIns="45719" anchor="ctr"/>
            <a:lstStyle/>
            <a:p>
              <a:pPr algn="ctr" defTabSz="914400" eaLnBrk="1" fontAlgn="auto" hangingPunct="1">
                <a:spcBef>
                  <a:spcPts val="1000"/>
                </a:spcBef>
                <a:spcAft>
                  <a:spcPts val="0"/>
                </a:spcAft>
                <a:defRPr sz="2000" b="1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Magnetic Properties Tester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8958050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</a:t>
            </a:r>
            <a:r>
              <a:rPr lang="en-US" altLang="zh-CN" sz="4800" dirty="0">
                <a:cs typeface="Arial" panose="020B0604020202020204" pitchFamily="34" charset="0"/>
              </a:rPr>
              <a:t>1st</a:t>
            </a:r>
            <a:r>
              <a:rPr lang="en-US" altLang="zh-CN" sz="4800" dirty="0">
                <a:latin typeface="Helvetica" charset="0"/>
                <a:sym typeface="Helvetica" charset="0"/>
              </a:rPr>
              <a:t> Wire Saw</a:t>
            </a:r>
          </a:p>
        </p:txBody>
      </p:sp>
      <p:graphicFrame>
        <p:nvGraphicFramePr>
          <p:cNvPr id="3" name="表格 25">
            <a:extLst>
              <a:ext uri="{FF2B5EF4-FFF2-40B4-BE49-F238E27FC236}">
                <a16:creationId xmlns:a16="http://schemas.microsoft.com/office/drawing/2014/main" id="{BB1B0F0A-94CF-4DE2-AF45-6F625472E861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484421" cy="8412921"/>
        </p:xfrm>
        <a:graphic>
          <a:graphicData uri="http://schemas.openxmlformats.org/drawingml/2006/table">
            <a:tbl>
              <a:tblPr/>
              <a:tblGrid>
                <a:gridCol w="3040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8462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1st</a:t>
                      </a:r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Wire Saw P</a:t>
                      </a:r>
                      <a:r>
                        <a:rPr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769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  <a:endParaRPr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CX2121(CHT690)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滚轮转速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Speed</a:t>
                      </a:r>
                      <a:endParaRPr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8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00-1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00m/min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线径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/Wire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Diameter</a:t>
                      </a:r>
                      <a:endParaRPr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0.25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主进给速度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/Main Feeding Speed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0.3-0.5mm/min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309958"/>
                  </a:ext>
                </a:extLst>
              </a:tr>
              <a:tr h="686769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related</a:t>
                      </a:r>
                      <a:endParaRPr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料块摆放数量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/Block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Qty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 × 3 × 4 × 2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切片尺寸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/Slicing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Dimension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8.93±0.04 mm</a:t>
                      </a:r>
                      <a:endParaRPr sz="20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冷却液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DX-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7A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6769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直角靠块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GB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Right-angle Block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专用夹具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/Customized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GB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Micrometer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0-25mm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大理石底板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/Marble platform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专用定制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/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Custon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Times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86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94%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虚尾箭头 7">
            <a:extLst>
              <a:ext uri="{FF2B5EF4-FFF2-40B4-BE49-F238E27FC236}">
                <a16:creationId xmlns:a16="http://schemas.microsoft.com/office/drawing/2014/main" id="{71BBE9D0-12D9-400E-A78F-C3CC26B7675C}"/>
              </a:ext>
            </a:extLst>
          </p:cNvPr>
          <p:cNvSpPr/>
          <p:nvPr/>
        </p:nvSpPr>
        <p:spPr>
          <a:xfrm rot="5400000">
            <a:off x="15680172" y="6375585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虚尾箭头 7">
            <a:extLst>
              <a:ext uri="{FF2B5EF4-FFF2-40B4-BE49-F238E27FC236}">
                <a16:creationId xmlns:a16="http://schemas.microsoft.com/office/drawing/2014/main" id="{7146A52F-E251-4109-9FCB-3AA73F86345F}"/>
              </a:ext>
            </a:extLst>
          </p:cNvPr>
          <p:cNvSpPr/>
          <p:nvPr/>
        </p:nvSpPr>
        <p:spPr>
          <a:xfrm rot="2533571">
            <a:off x="18554292" y="10410210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C7924DB-3B19-4908-88BE-F0A60A74984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274046" y="3176234"/>
            <a:ext cx="4104000" cy="47637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8F8FDF-EBCD-4D82-951C-9EDCF06F7D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06303" y="7427685"/>
            <a:ext cx="4901439" cy="31777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B5CFF51-47C4-4A12-962F-FB59162ECE7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2475" y="2260715"/>
            <a:ext cx="4761077" cy="3121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EE23730-5BBB-42B2-A649-2E5907EC8A9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36102" y="8514277"/>
            <a:ext cx="3507712" cy="419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70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9174050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1st Double Side Grinding</a:t>
            </a:r>
          </a:p>
        </p:txBody>
      </p:sp>
      <p:graphicFrame>
        <p:nvGraphicFramePr>
          <p:cNvPr id="3" name="表格 25">
            <a:extLst>
              <a:ext uri="{FF2B5EF4-FFF2-40B4-BE49-F238E27FC236}">
                <a16:creationId xmlns:a16="http://schemas.microsoft.com/office/drawing/2014/main" id="{D65EC3C5-2BF6-445F-A778-C5A29F060579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196421" cy="8193307"/>
        </p:xfrm>
        <a:graphic>
          <a:graphicData uri="http://schemas.openxmlformats.org/drawingml/2006/table">
            <a:tbl>
              <a:tblPr/>
              <a:tblGrid>
                <a:gridCol w="322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91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1st Double Side Grinding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  <a:endParaRPr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M7625(M7635)</a:t>
                      </a:r>
                      <a:endParaRPr lang="en-US" altLang="zh-CN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砂轮材质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Material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树脂砂轮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/Resin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砂轮规格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SPEC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250(350)x129x35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278087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研磨前尺寸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Before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lvl="4" indent="0" algn="l" defTabSz="457200">
                        <a:spcBef>
                          <a:spcPts val="0"/>
                        </a:spcBef>
                        <a:tabLst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8.93 × 43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研磨后尺寸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After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4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8.809±0.02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× 43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成型磨冷却液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ES232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93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固定导槽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Fixed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Guide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导轨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/Slideway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 Micrometer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98.65%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09B9C6CA-1C55-4F40-BB49-8DC8C8C95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87720" y="8487950"/>
            <a:ext cx="5706229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虚尾箭头 7">
            <a:extLst>
              <a:ext uri="{FF2B5EF4-FFF2-40B4-BE49-F238E27FC236}">
                <a16:creationId xmlns:a16="http://schemas.microsoft.com/office/drawing/2014/main" id="{1958CE74-E4A5-4718-A0A7-71807B7FB49C}"/>
              </a:ext>
            </a:extLst>
          </p:cNvPr>
          <p:cNvSpPr/>
          <p:nvPr/>
        </p:nvSpPr>
        <p:spPr>
          <a:xfrm rot="20501578">
            <a:off x="17532148" y="5112612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8171F7-F585-4951-92DA-D526AE0BA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4418" y="4346229"/>
            <a:ext cx="3115110" cy="34485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A28F31-B31E-4AA3-9969-01D36667C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60000" y="3217894"/>
            <a:ext cx="3143689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7333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6362363" cy="923322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</a:t>
            </a:r>
            <a:r>
              <a:rPr lang="en-US" altLang="zh-CN" sz="4800" dirty="0">
                <a:cs typeface="Arial" panose="020B0604020202020204" pitchFamily="34" charset="0"/>
              </a:rPr>
              <a:t>2nd</a:t>
            </a:r>
            <a:r>
              <a:rPr lang="en-US" altLang="zh-CN" sz="4800" dirty="0">
                <a:latin typeface="Helvetica" charset="0"/>
                <a:sym typeface="Helvetica" charset="0"/>
              </a:rPr>
              <a:t> Wire Saw</a:t>
            </a:r>
          </a:p>
        </p:txBody>
      </p:sp>
      <p:graphicFrame>
        <p:nvGraphicFramePr>
          <p:cNvPr id="3" name="表格 25">
            <a:extLst>
              <a:ext uri="{FF2B5EF4-FFF2-40B4-BE49-F238E27FC236}">
                <a16:creationId xmlns:a16="http://schemas.microsoft.com/office/drawing/2014/main" id="{476707F6-9181-494A-9B5E-169E13DD4950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240000" cy="8467200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3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2nd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Wire Saw P</a:t>
                      </a:r>
                      <a:r>
                        <a:rPr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200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DX2240(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DX2260,CX680)</a:t>
                      </a:r>
                      <a:endParaRPr lang="en-US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滚轮转速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800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-1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00m/min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线径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/Wire Diameter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</a:t>
                      </a: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mm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主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进给速度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/Main Feeding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0.3-0.5mm/min</a:t>
                      </a:r>
                      <a:endParaRPr lang="en-US" altLang="zh-CN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948614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料块摆放数量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Block Qty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 × 8 × 5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切片尺寸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Slicing Dimension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1828800" lvl="4" indent="-1828800" algn="l" defTabSz="457200">
                        <a:spcBef>
                          <a:spcPts val="0"/>
                        </a:spcBef>
                        <a:tabLst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3.93±0.04 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冷却液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Coolant</a:t>
                      </a: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DX-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7A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</a:t>
                      </a: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直角靠块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Right-angle Block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专用夹具 Custom Made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Micrometer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大理石底板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/Marble platform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专用定制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Custon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Times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91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91.4%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虚尾箭头 7">
            <a:extLst>
              <a:ext uri="{FF2B5EF4-FFF2-40B4-BE49-F238E27FC236}">
                <a16:creationId xmlns:a16="http://schemas.microsoft.com/office/drawing/2014/main" id="{47A10D94-CC51-466F-BDCD-5A79B017002A}"/>
              </a:ext>
            </a:extLst>
          </p:cNvPr>
          <p:cNvSpPr/>
          <p:nvPr/>
        </p:nvSpPr>
        <p:spPr>
          <a:xfrm rot="5400000">
            <a:off x="15311251" y="7068168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62096A7-3821-4F17-A3CE-CC58A2C627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60" b="-589"/>
          <a:stretch>
            <a:fillRect/>
          </a:stretch>
        </p:blipFill>
        <p:spPr>
          <a:xfrm>
            <a:off x="19320000" y="6498000"/>
            <a:ext cx="3760609" cy="46659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794ACAA-7FBC-4117-8E17-8AA77AE664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72000" y="2552032"/>
            <a:ext cx="8971952" cy="39377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191DA2-C29E-4637-9E67-DD4D46A2427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5016" y="8131487"/>
            <a:ext cx="3456000" cy="404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9840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8958050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2nd Double Side Grinding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F842549-359B-423B-A550-B9273E1A1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68757" y="8210056"/>
            <a:ext cx="5706232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虚尾箭头 7">
            <a:extLst>
              <a:ext uri="{FF2B5EF4-FFF2-40B4-BE49-F238E27FC236}">
                <a16:creationId xmlns:a16="http://schemas.microsoft.com/office/drawing/2014/main" id="{5122D328-DDB5-48BF-9507-D3C561099CD3}"/>
              </a:ext>
            </a:extLst>
          </p:cNvPr>
          <p:cNvSpPr/>
          <p:nvPr/>
        </p:nvSpPr>
        <p:spPr>
          <a:xfrm rot="20328444">
            <a:off x="17587403" y="4940866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graphicFrame>
        <p:nvGraphicFramePr>
          <p:cNvPr id="14" name="表格 25">
            <a:extLst>
              <a:ext uri="{FF2B5EF4-FFF2-40B4-BE49-F238E27FC236}">
                <a16:creationId xmlns:a16="http://schemas.microsoft.com/office/drawing/2014/main" id="{70F924B3-763F-481A-AAA9-65ED6E99EADE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196421" cy="8193307"/>
        </p:xfrm>
        <a:graphic>
          <a:graphicData uri="http://schemas.openxmlformats.org/drawingml/2006/table">
            <a:tbl>
              <a:tblPr/>
              <a:tblGrid>
                <a:gridCol w="322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91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2nd</a:t>
                      </a: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D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ouble Side Grinding Parameter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M7625(M7635)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砂轮材质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Material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树脂砂轮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/Resin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砂轮规格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SPEC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250(350)x129x35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278087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研磨前尺寸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Before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lvl="4" indent="0" algn="l" defTabSz="457200">
                        <a:spcBef>
                          <a:spcPts val="0"/>
                        </a:spcBef>
                        <a:tabLst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8.809 × 3.93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研磨后尺寸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After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4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8.809 × </a:t>
                      </a: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3.825±0.02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成型磨冷却液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ES232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93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固定导槽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Fixed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Guide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导轨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/Slideway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 Micrometer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97.33%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2A94E3A-112B-4B43-BF50-20A68FB1329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16465" y="3065375"/>
            <a:ext cx="3362547" cy="34092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D32BF3-7335-4B4B-ABD8-D89DC9260B1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5605" y="4132846"/>
            <a:ext cx="3261359" cy="340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2992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25">
            <a:extLst>
              <a:ext uri="{FF2B5EF4-FFF2-40B4-BE49-F238E27FC236}">
                <a16:creationId xmlns:a16="http://schemas.microsoft.com/office/drawing/2014/main" id="{96BA4BD5-5D9E-4424-93ED-5334EFD6CE09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557334" y="2250000"/>
          <a:ext cx="13434666" cy="8902400"/>
        </p:xfrm>
        <a:graphic>
          <a:graphicData uri="http://schemas.openxmlformats.org/drawingml/2006/table">
            <a:tbl>
              <a:tblPr/>
              <a:tblGrid>
                <a:gridCol w="3242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4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2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 </a:t>
                      </a: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1st </a:t>
                      </a: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Profile Grinding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  <a:endParaRPr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6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PG160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砂轮材质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Material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金刚砂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SiC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砂轮规格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 SPEC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523762"/>
                  </a:ext>
                </a:extLst>
              </a:tr>
              <a:tr h="8576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研磨前尺寸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Before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8.809 × 3.825 × 35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9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研磨后尺寸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After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 b="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8.809 ×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FF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(R21.5 / R24.5 </a:t>
                      </a: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3)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×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35</a:t>
                      </a:r>
                      <a:endParaRPr lang="en-US" altLang="zh-CN" sz="20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成型磨冷却液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ES232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76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固定导槽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/Fixed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Guide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专用导轨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/Customized Slideway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影像测试仪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/Image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Tester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O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MM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57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78.38%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7" name="图片 1" descr="图片 1">
            <a:extLst>
              <a:ext uri="{FF2B5EF4-FFF2-40B4-BE49-F238E27FC236}">
                <a16:creationId xmlns:a16="http://schemas.microsoft.com/office/drawing/2014/main" id="{DC82D495-5EC9-4188-9711-215CA5B566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622713" y="8730000"/>
            <a:ext cx="5499459" cy="4320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虚尾箭头 7">
            <a:extLst>
              <a:ext uri="{FF2B5EF4-FFF2-40B4-BE49-F238E27FC236}">
                <a16:creationId xmlns:a16="http://schemas.microsoft.com/office/drawing/2014/main" id="{0604C638-9A36-405D-AEC9-6BDF774D99A8}"/>
              </a:ext>
            </a:extLst>
          </p:cNvPr>
          <p:cNvSpPr/>
          <p:nvPr/>
        </p:nvSpPr>
        <p:spPr>
          <a:xfrm rot="20567709">
            <a:off x="18516213" y="5452942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X1758 / Revision list：">
            <a:extLst>
              <a:ext uri="{FF2B5EF4-FFF2-40B4-BE49-F238E27FC236}">
                <a16:creationId xmlns:a16="http://schemas.microsoft.com/office/drawing/2014/main" id="{ED2E2AF9-87F8-400E-9729-ECEE7B7B4500}"/>
              </a:ext>
            </a:extLst>
          </p:cNvPr>
          <p:cNvSpPr/>
          <p:nvPr/>
        </p:nvSpPr>
        <p:spPr>
          <a:xfrm>
            <a:off x="361950" y="908050"/>
            <a:ext cx="17950050" cy="2021058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</a:t>
            </a:r>
            <a:r>
              <a:rPr lang="en-US" altLang="zh-CN" sz="4800" dirty="0">
                <a:latin typeface="Helvetica" charset="0"/>
              </a:rPr>
              <a:t>1st </a:t>
            </a:r>
            <a:r>
              <a:rPr lang="en-US" altLang="zh-CN" sz="4800" dirty="0">
                <a:cs typeface="Arial" panose="020B0604020202020204" pitchFamily="34" charset="0"/>
              </a:rPr>
              <a:t>Profile Grinding</a:t>
            </a:r>
          </a:p>
          <a:p>
            <a:pPr>
              <a:spcBef>
                <a:spcPts val="2800"/>
              </a:spcBef>
            </a:pPr>
            <a:endParaRPr lang="en-US" altLang="zh-CN" sz="4800" dirty="0">
              <a:latin typeface="Helvetica" charset="0"/>
              <a:sym typeface="Helvetica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4CBC48-ADCA-4EDC-B6A9-5E3E818CB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1765" y="4194000"/>
            <a:ext cx="4124901" cy="19147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747E27-1FA7-47BA-80CB-7750AE7EE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4813" y="5683902"/>
            <a:ext cx="3934374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3342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6362363" cy="923322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3rd Wire Saw</a:t>
            </a:r>
          </a:p>
        </p:txBody>
      </p:sp>
      <p:sp>
        <p:nvSpPr>
          <p:cNvPr id="12" name="虚尾箭头 7">
            <a:extLst>
              <a:ext uri="{FF2B5EF4-FFF2-40B4-BE49-F238E27FC236}">
                <a16:creationId xmlns:a16="http://schemas.microsoft.com/office/drawing/2014/main" id="{237F77B5-5646-4643-92E4-BDC8EE4CAC33}"/>
              </a:ext>
            </a:extLst>
          </p:cNvPr>
          <p:cNvSpPr/>
          <p:nvPr/>
        </p:nvSpPr>
        <p:spPr>
          <a:xfrm rot="5400000">
            <a:off x="15539999" y="7355413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graphicFrame>
        <p:nvGraphicFramePr>
          <p:cNvPr id="8" name="表格 2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9582133"/>
              </p:ext>
            </p:extLst>
          </p:nvPr>
        </p:nvGraphicFramePr>
        <p:xfrm>
          <a:off x="355579" y="2322000"/>
          <a:ext cx="12240000" cy="8467200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3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3rd</a:t>
                      </a:r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Wire Saw P</a:t>
                      </a:r>
                      <a:r>
                        <a:rPr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200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/Model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SDX1160MHR</a:t>
                      </a:r>
                      <a:endParaRPr lang="en-US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滚轮转速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/Wheel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1000-1600m/min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线径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/Wire Diameter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</a:t>
                      </a: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18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mm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主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进给速度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/Main Feeding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0.3-0.5mm/min</a:t>
                      </a:r>
                      <a:endParaRPr lang="en-US" altLang="zh-CN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料块摆放数量/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Block Qty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(1 × 10) × 8 ×4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切片尺寸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Slicing Dimension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1828800" lvl="4" indent="-1828800" algn="l" defTabSz="457200">
                        <a:spcBef>
                          <a:spcPts val="0"/>
                        </a:spcBef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1.60±0.04 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冷却液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Coolant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GD260-A</a:t>
                      </a:r>
                      <a:endParaRPr lang="en-US" sz="2000" dirty="0" err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983942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</a:t>
                      </a: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直角靠块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Right-angle Block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专用夹具 Custom Made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Micrometer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大理石底板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/Marble platform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专用定制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Custon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Times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1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88.18%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虚尾箭头 7"/>
          <p:cNvSpPr/>
          <p:nvPr/>
        </p:nvSpPr>
        <p:spPr>
          <a:xfrm rot="5400000">
            <a:off x="15539999" y="7355413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13835074" y="2714596"/>
            <a:ext cx="7657542" cy="3214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14835206" y="9215454"/>
            <a:ext cx="2448357" cy="131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764428" y="6643686"/>
            <a:ext cx="3588771" cy="47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839823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虚尾箭头 7">
            <a:extLst>
              <a:ext uri="{FF2B5EF4-FFF2-40B4-BE49-F238E27FC236}">
                <a16:creationId xmlns:a16="http://schemas.microsoft.com/office/drawing/2014/main" id="{0604C638-9A36-405D-AEC9-6BDF774D99A8}"/>
              </a:ext>
            </a:extLst>
          </p:cNvPr>
          <p:cNvSpPr/>
          <p:nvPr/>
        </p:nvSpPr>
        <p:spPr>
          <a:xfrm rot="12923314">
            <a:off x="18721021" y="4617179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X1758 / Revision list：">
            <a:extLst>
              <a:ext uri="{FF2B5EF4-FFF2-40B4-BE49-F238E27FC236}">
                <a16:creationId xmlns:a16="http://schemas.microsoft.com/office/drawing/2014/main" id="{ED2E2AF9-87F8-400E-9729-ECEE7B7B4500}"/>
              </a:ext>
            </a:extLst>
          </p:cNvPr>
          <p:cNvSpPr/>
          <p:nvPr/>
        </p:nvSpPr>
        <p:spPr>
          <a:xfrm>
            <a:off x="361950" y="908050"/>
            <a:ext cx="17950050" cy="2021058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2nd </a:t>
            </a:r>
            <a:r>
              <a:rPr lang="en-US" altLang="zh-CN" sz="4800" dirty="0">
                <a:cs typeface="Arial" panose="020B0604020202020204" pitchFamily="34" charset="0"/>
              </a:rPr>
              <a:t>Profile Grinding</a:t>
            </a:r>
          </a:p>
          <a:p>
            <a:pPr>
              <a:spcBef>
                <a:spcPts val="2800"/>
              </a:spcBef>
            </a:pPr>
            <a:endParaRPr lang="en-US" altLang="zh-CN" sz="4800" dirty="0">
              <a:latin typeface="Helvetica" charset="0"/>
              <a:sym typeface="Helvetica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78610" y="7572380"/>
            <a:ext cx="3429024" cy="4719592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20264494" y="5000612"/>
            <a:ext cx="3143272" cy="2071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flipH="1">
            <a:off x="15549586" y="2714596"/>
            <a:ext cx="3143272" cy="202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6" name="表格 19"/>
          <p:cNvGraphicFramePr/>
          <p:nvPr>
            <p:custDataLst>
              <p:tags r:id="rId1"/>
            </p:custDataLst>
          </p:nvPr>
        </p:nvGraphicFramePr>
        <p:xfrm>
          <a:off x="1437176" y="2466000"/>
          <a:ext cx="12986824" cy="6947860"/>
        </p:xfrm>
        <a:graphic>
          <a:graphicData uri="http://schemas.openxmlformats.org/drawingml/2006/table">
            <a:tbl>
              <a:tblPr/>
              <a:tblGrid>
                <a:gridCol w="291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3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1839">
                <a:tc grid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2nd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Grinding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宋体" panose="02010600030101010101" pitchFamily="2" charset="-122"/>
                        </a:rPr>
                        <a:t>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/Type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Grinding Machine With Two Grinding Wheels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8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砂轮材质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Material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金刚砂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/Emery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8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砂轮规格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Specification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研磨前尺寸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before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1.60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51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研磨后尺寸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after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 </a:t>
                      </a:r>
                      <a:r>
                        <a:rPr lang="en-US" altLang="zh-CN" sz="2000" b="0" kern="1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Inner Arc</a:t>
                      </a:r>
                      <a:endParaRPr lang="en-US" altLang="zh-CN" sz="2000" b="0" kern="12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62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成型磨冷却液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/Coolant for Profile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M6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6224">
                <a:tc rowSpan="2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固定导槽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/Fixed Guide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专用导轨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Customized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Slideway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5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影像测试仪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/Image Measurement Instrument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OMM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409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ctr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74.05%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2255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X1758 / Revision list：">
            <a:extLst>
              <a:ext uri="{FF2B5EF4-FFF2-40B4-BE49-F238E27FC236}">
                <a16:creationId xmlns:a16="http://schemas.microsoft.com/office/drawing/2014/main" id="{ED2E2AF9-87F8-400E-9729-ECEE7B7B4500}"/>
              </a:ext>
            </a:extLst>
          </p:cNvPr>
          <p:cNvSpPr/>
          <p:nvPr/>
        </p:nvSpPr>
        <p:spPr>
          <a:xfrm>
            <a:off x="361950" y="908050"/>
            <a:ext cx="17950050" cy="2021058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3rd </a:t>
            </a:r>
            <a:r>
              <a:rPr lang="en-US" altLang="zh-CN" sz="4800" dirty="0">
                <a:cs typeface="Arial" panose="020B0604020202020204" pitchFamily="34" charset="0"/>
              </a:rPr>
              <a:t>Profile Grinding</a:t>
            </a:r>
          </a:p>
          <a:p>
            <a:pPr>
              <a:spcBef>
                <a:spcPts val="2800"/>
              </a:spcBef>
            </a:pPr>
            <a:endParaRPr lang="en-US" altLang="zh-CN" sz="4800" dirty="0">
              <a:latin typeface="Helvetica" charset="0"/>
              <a:sym typeface="Helvetica" charset="0"/>
            </a:endParaRPr>
          </a:p>
        </p:txBody>
      </p:sp>
      <p:sp>
        <p:nvSpPr>
          <p:cNvPr id="10" name="虚尾箭头 7"/>
          <p:cNvSpPr/>
          <p:nvPr/>
        </p:nvSpPr>
        <p:spPr>
          <a:xfrm rot="12260278">
            <a:off x="19078983" y="4476783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graphicFrame>
        <p:nvGraphicFramePr>
          <p:cNvPr id="11" name="表格 19"/>
          <p:cNvGraphicFramePr/>
          <p:nvPr>
            <p:custDataLst>
              <p:tags r:id="rId1"/>
            </p:custDataLst>
          </p:nvPr>
        </p:nvGraphicFramePr>
        <p:xfrm>
          <a:off x="1437176" y="2466000"/>
          <a:ext cx="13562824" cy="6947860"/>
        </p:xfrm>
        <a:graphic>
          <a:graphicData uri="http://schemas.openxmlformats.org/drawingml/2006/table">
            <a:tbl>
              <a:tblPr/>
              <a:tblGrid>
                <a:gridCol w="291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9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1839">
                <a:tc grid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3rd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Grinding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宋体" panose="02010600030101010101" pitchFamily="2" charset="-122"/>
                        </a:rPr>
                        <a:t>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/Type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Grinding Machine With Two Grinding Wheels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8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砂轮材质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Material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金刚砂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/Emery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8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砂轮规格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Specification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研磨前尺寸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before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Inner Arc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51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研磨后尺寸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after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 Inner Arc </a:t>
                      </a:r>
                      <a:r>
                        <a:rPr lang="en-US" altLang="zh-CN" sz="2000" b="0" kern="1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/ Outer Arc</a:t>
                      </a:r>
                      <a:endParaRPr lang="en-US" altLang="zh-CN" sz="2000" b="0" kern="12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62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成型磨冷却液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/Coolant for Profile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M6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6224">
                <a:tc rowSpan="2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固定导槽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/Fixed Guide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专用导轨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Customized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Slideway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5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影像测试仪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/Image Measurement Instrument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OMM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409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ctr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81.26%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192792" y="8072446"/>
            <a:ext cx="3643338" cy="5014567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677899" flipH="1">
            <a:off x="20999030" y="4246423"/>
            <a:ext cx="2310688" cy="32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20116138" flipH="1">
            <a:off x="15960746" y="3047426"/>
            <a:ext cx="3216255" cy="1351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6349510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360" y="2394000"/>
            <a:ext cx="8131766" cy="5760000"/>
          </a:xfrm>
          <a:prstGeom prst="rect">
            <a:avLst/>
          </a:prstGeom>
        </p:spPr>
      </p:pic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14640000" y="8706875"/>
            <a:ext cx="7348893" cy="3280059"/>
            <a:chOff x="15547632" y="8442000"/>
            <a:chExt cx="4328588" cy="1931995"/>
          </a:xfrm>
        </p:grpSpPr>
        <p:sp>
          <p:nvSpPr>
            <p:cNvPr id="135" name="Remove the sharp edge of magnet"/>
            <p:cNvSpPr txBox="1"/>
            <p:nvPr/>
          </p:nvSpPr>
          <p:spPr>
            <a:xfrm>
              <a:off x="15547632" y="10102069"/>
              <a:ext cx="3986435" cy="27192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1438" rIns="91438">
              <a:spAutoFit/>
            </a:bodyPr>
            <a:lstStyle>
              <a:lvl1pPr algn="l">
                <a:spcBef>
                  <a:spcPts val="0"/>
                </a:spcBef>
                <a:defRPr sz="12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400" dirty="0">
                  <a:latin typeface="Arial" panose="020B0604020202020204" pitchFamily="34" charset="0"/>
                  <a:cs typeface="Arial" panose="020B0604020202020204" pitchFamily="34" charset="0"/>
                </a:rPr>
                <a:t>Remove the sharp edge of magnet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76000" y="8442000"/>
              <a:ext cx="2129790" cy="157734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808660" y="8442000"/>
              <a:ext cx="2067560" cy="1567180"/>
            </a:xfrm>
            <a:prstGeom prst="rect">
              <a:avLst/>
            </a:prstGeom>
          </p:spPr>
        </p:pic>
      </p:grpSp>
      <p:sp>
        <p:nvSpPr>
          <p:cNvPr id="3" name="X1758 / Revision list："/>
          <p:cNvSpPr/>
          <p:nvPr/>
        </p:nvSpPr>
        <p:spPr>
          <a:xfrm>
            <a:off x="361950" y="908050"/>
            <a:ext cx="21740176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</a:t>
            </a: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20204" pitchFamily="34" charset="0"/>
                <a:sym typeface="Helvetica" charset="0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20204" pitchFamily="34" charset="0"/>
              </a:rPr>
              <a:t>|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 Process Description _ Tumbling</a:t>
            </a:r>
          </a:p>
        </p:txBody>
      </p:sp>
      <p:graphicFrame>
        <p:nvGraphicFramePr>
          <p:cNvPr id="5" name="表格 25"/>
          <p:cNvGraphicFramePr/>
          <p:nvPr>
            <p:custDataLst>
              <p:tags r:id="rId1"/>
            </p:custDataLst>
          </p:nvPr>
        </p:nvGraphicFramePr>
        <p:xfrm>
          <a:off x="355579" y="2214000"/>
          <a:ext cx="12240000" cy="9792000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Tumbling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  <a:endParaRPr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型号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/Model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LZG200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类型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/Type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Vibrator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容量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/Volume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20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转速（电压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频率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)/speed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45-50Hz 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振幅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/Amplitude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-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0"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related</a:t>
                      </a:r>
                      <a:endParaRPr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磨石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VS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磁钢配比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75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±5 </a:t>
                      </a: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 35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±5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装载量（容量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L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Loadage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35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±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5kg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振磨时间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/Time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10~12</a:t>
                      </a:r>
                      <a:r>
                        <a:rPr lang="en-US" altLang="zh-CN" sz="20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hrs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磨石规格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/size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Φ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圆球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&amp; 18*18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斜三角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磨石材质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/Material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SiC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过滤网</a:t>
                      </a:r>
                      <a:r>
                        <a:rPr sz="20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  <a:sym typeface="Arial" panose="020B0604020202020204"/>
                        </a:rPr>
                        <a:t>/Filter screen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-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X1758 / Revision list："/>
          <p:cNvSpPr/>
          <p:nvPr/>
        </p:nvSpPr>
        <p:spPr>
          <a:xfrm>
            <a:off x="361950" y="908050"/>
            <a:ext cx="21740176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90204" pitchFamily="34" charset="0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90204" pitchFamily="34" charset="0"/>
              </a:rPr>
              <a:t>|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 Process Description _ Plating</a:t>
            </a:r>
            <a:r>
              <a:rPr lang="zh-CN" altLang="en-US" sz="4800" dirty="0">
                <a:cs typeface="Arial" panose="020B0604020202090204" pitchFamily="34" charset="0"/>
                <a:sym typeface="Helvetica" charset="0"/>
              </a:rPr>
              <a:t> 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(CU+EN Plating) </a:t>
            </a:r>
            <a:r>
              <a:rPr lang="zh-CN" altLang="en-US" sz="4800" dirty="0">
                <a:cs typeface="Arial" panose="020B0604020202090204" pitchFamily="34" charset="0"/>
                <a:sym typeface="Helvetica" charset="0"/>
              </a:rPr>
              <a:t> </a:t>
            </a:r>
            <a:endParaRPr lang="en-US" altLang="zh-CN" sz="4800" dirty="0">
              <a:cs typeface="Arial" panose="020B0604020202090204" pitchFamily="34" charset="0"/>
              <a:sym typeface="Helvetica" charset="0"/>
            </a:endParaRPr>
          </a:p>
        </p:txBody>
      </p:sp>
      <p:sp>
        <p:nvSpPr>
          <p:cNvPr id="2" name="Coating and protecting the magnet"/>
          <p:cNvSpPr txBox="1"/>
          <p:nvPr/>
        </p:nvSpPr>
        <p:spPr>
          <a:xfrm>
            <a:off x="600000" y="2185272"/>
            <a:ext cx="16489045" cy="684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>
            <a:lvl1pPr algn="l">
              <a:spcBef>
                <a:spcPts val="0"/>
              </a:spcBef>
              <a:defRPr sz="1200" b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cs typeface="Arial" panose="020B0604020202090204" pitchFamily="34" charset="0"/>
                <a:sym typeface="Helvetica" charset="0"/>
              </a:rPr>
              <a:t>Plating Process Flow Chart</a:t>
            </a:r>
            <a:endParaRPr sz="4000" dirty="0">
              <a:cs typeface="Arial" panose="020B0604020202090204" pitchFamily="34" charset="0"/>
            </a:endParaRPr>
          </a:p>
        </p:txBody>
      </p:sp>
      <p:sp>
        <p:nvSpPr>
          <p:cNvPr id="4" name="AutoShape 7"/>
          <p:cNvSpPr/>
          <p:nvPr/>
        </p:nvSpPr>
        <p:spPr>
          <a:xfrm>
            <a:off x="514325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Ultrasonic degreasing</a:t>
            </a:r>
          </a:p>
        </p:txBody>
      </p:sp>
      <p:sp>
        <p:nvSpPr>
          <p:cNvPr id="16" name="AutoShape 9"/>
          <p:cNvSpPr/>
          <p:nvPr/>
        </p:nvSpPr>
        <p:spPr>
          <a:xfrm>
            <a:off x="8415414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Activation</a:t>
            </a:r>
          </a:p>
        </p:txBody>
      </p:sp>
      <p:sp>
        <p:nvSpPr>
          <p:cNvPr id="17" name="AutoShape 10"/>
          <p:cNvSpPr/>
          <p:nvPr/>
        </p:nvSpPr>
        <p:spPr>
          <a:xfrm>
            <a:off x="4490734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Acid pickling</a:t>
            </a:r>
          </a:p>
        </p:txBody>
      </p:sp>
      <p:sp>
        <p:nvSpPr>
          <p:cNvPr id="18" name="箭头"/>
          <p:cNvSpPr/>
          <p:nvPr/>
        </p:nvSpPr>
        <p:spPr>
          <a:xfrm>
            <a:off x="3518501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19" name="AutoShape 13"/>
          <p:cNvSpPr/>
          <p:nvPr/>
        </p:nvSpPr>
        <p:spPr>
          <a:xfrm>
            <a:off x="12507737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Copper plating</a:t>
            </a:r>
          </a:p>
        </p:txBody>
      </p:sp>
      <p:sp>
        <p:nvSpPr>
          <p:cNvPr id="20" name="箭头"/>
          <p:cNvSpPr/>
          <p:nvPr/>
        </p:nvSpPr>
        <p:spPr>
          <a:xfrm>
            <a:off x="7594643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21" name="箭头"/>
          <p:cNvSpPr/>
          <p:nvPr/>
        </p:nvSpPr>
        <p:spPr>
          <a:xfrm>
            <a:off x="11604485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22" name="AutoShape 13"/>
          <p:cNvSpPr/>
          <p:nvPr/>
        </p:nvSpPr>
        <p:spPr>
          <a:xfrm>
            <a:off x="16600060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Activation</a:t>
            </a:r>
          </a:p>
        </p:txBody>
      </p:sp>
      <p:sp>
        <p:nvSpPr>
          <p:cNvPr id="23" name="AutoShape 13"/>
          <p:cNvSpPr/>
          <p:nvPr/>
        </p:nvSpPr>
        <p:spPr>
          <a:xfrm>
            <a:off x="20436000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EN plating </a:t>
            </a:r>
          </a:p>
        </p:txBody>
      </p:sp>
      <p:sp>
        <p:nvSpPr>
          <p:cNvPr id="24" name="箭头"/>
          <p:cNvSpPr/>
          <p:nvPr/>
        </p:nvSpPr>
        <p:spPr>
          <a:xfrm>
            <a:off x="15676957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25" name="箭头"/>
          <p:cNvSpPr/>
          <p:nvPr/>
        </p:nvSpPr>
        <p:spPr>
          <a:xfrm>
            <a:off x="19613121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36" name="Coating and protecting the magnet"/>
          <p:cNvSpPr txBox="1"/>
          <p:nvPr/>
        </p:nvSpPr>
        <p:spPr>
          <a:xfrm>
            <a:off x="600000" y="6173201"/>
            <a:ext cx="21042000" cy="684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>
            <a:lvl1pPr algn="l">
              <a:spcBef>
                <a:spcPts val="0"/>
              </a:spcBef>
              <a:defRPr sz="1200" b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cs typeface="Arial" panose="020B0604020202090204" pitchFamily="34" charset="0"/>
                <a:sym typeface="Helvetica" charset="0"/>
              </a:rPr>
              <a:t>Main</a:t>
            </a:r>
            <a:r>
              <a:rPr lang="zh-CN" altLang="en-US" sz="4000" dirty="0">
                <a:cs typeface="Arial" panose="020B0604020202090204" pitchFamily="34" charset="0"/>
                <a:sym typeface="Helvetica" charset="0"/>
              </a:rPr>
              <a:t> </a:t>
            </a:r>
            <a:r>
              <a:rPr lang="en-US" altLang="zh-CN" sz="4000" dirty="0">
                <a:cs typeface="Arial" panose="020B0604020202090204" pitchFamily="34" charset="0"/>
                <a:sym typeface="Helvetica" charset="0"/>
              </a:rPr>
              <a:t>Process:</a:t>
            </a:r>
          </a:p>
        </p:txBody>
      </p:sp>
      <p:sp>
        <p:nvSpPr>
          <p:cNvPr id="44" name="AutoShape 13"/>
          <p:cNvSpPr/>
          <p:nvPr/>
        </p:nvSpPr>
        <p:spPr>
          <a:xfrm>
            <a:off x="1897110" y="6930000"/>
            <a:ext cx="2700000" cy="648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Copper plating</a:t>
            </a:r>
          </a:p>
        </p:txBody>
      </p:sp>
      <p:sp>
        <p:nvSpPr>
          <p:cNvPr id="48" name="箭头"/>
          <p:cNvSpPr/>
          <p:nvPr/>
        </p:nvSpPr>
        <p:spPr>
          <a:xfrm>
            <a:off x="7315110" y="711000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51" name="Control Point:…"/>
          <p:cNvSpPr txBox="1"/>
          <p:nvPr/>
        </p:nvSpPr>
        <p:spPr>
          <a:xfrm>
            <a:off x="1104000" y="12186000"/>
            <a:ext cx="5178318" cy="1177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1. </a:t>
            </a:r>
            <a:r>
              <a:rPr kumimoji="0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Plating layer thickness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lang="en-US" sz="2400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   Cu: </a:t>
            </a:r>
            <a:r>
              <a:rPr lang="en-US" altLang="zh-CN" sz="2400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2.5-5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</a:t>
            </a:r>
            <a:r>
              <a:rPr kumimoji="0" lang="el-GR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μ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2.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Qty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.: 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4~5kg /1barrel /70-90min</a:t>
            </a:r>
            <a:endParaRPr lang="en-US" sz="2400" b="1" kern="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</p:txBody>
      </p:sp>
      <p:sp>
        <p:nvSpPr>
          <p:cNvPr id="52" name="Control Point:…"/>
          <p:cNvSpPr txBox="1"/>
          <p:nvPr/>
        </p:nvSpPr>
        <p:spPr>
          <a:xfrm>
            <a:off x="9153921" y="12186000"/>
            <a:ext cx="5760000" cy="1177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1. </a:t>
            </a:r>
            <a:r>
              <a:rPr kumimoji="0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Plating layer thickness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lang="en-US" sz="2400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   EN: 2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-4 </a:t>
            </a:r>
            <a:r>
              <a:rPr kumimoji="0" lang="el-GR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μ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m</a:t>
            </a:r>
            <a:endParaRPr lang="en-US" sz="2400" kern="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2.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Qty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.: 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Qty.:4~5kg /1barrel /70-90min</a:t>
            </a:r>
            <a:endParaRPr lang="en-US" sz="2400" b="1" kern="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8" y="7722000"/>
            <a:ext cx="4509350" cy="432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7428" y="7722000"/>
            <a:ext cx="4804137" cy="4320000"/>
          </a:xfrm>
          <a:prstGeom prst="rect">
            <a:avLst/>
          </a:prstGeom>
        </p:spPr>
      </p:pic>
      <p:sp>
        <p:nvSpPr>
          <p:cNvPr id="6" name="AutoShape 13"/>
          <p:cNvSpPr/>
          <p:nvPr/>
        </p:nvSpPr>
        <p:spPr>
          <a:xfrm>
            <a:off x="10645110" y="6930000"/>
            <a:ext cx="2700000" cy="648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EN plating </a:t>
            </a:r>
          </a:p>
        </p:txBody>
      </p:sp>
    </p:spTree>
    <p:extLst>
      <p:ext uri="{BB962C8B-B14F-4D97-AF65-F5344CB8AC3E}">
        <p14:creationId xmlns:p14="http://schemas.microsoft.com/office/powerpoint/2010/main" val="409149189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20204" pitchFamily="34" charset="0"/>
                <a:sym typeface="Helvetica" charset="0"/>
              </a:rPr>
              <a:t>B747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20204" pitchFamily="34" charset="0"/>
              </a:rPr>
              <a:t>|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 Process Description _ AOI Inspection</a:t>
            </a:r>
          </a:p>
        </p:txBody>
      </p:sp>
      <p:sp>
        <p:nvSpPr>
          <p:cNvPr id="3" name="AOI Inspection"/>
          <p:cNvSpPr txBox="1"/>
          <p:nvPr/>
        </p:nvSpPr>
        <p:spPr>
          <a:xfrm>
            <a:off x="4344000" y="11826000"/>
            <a:ext cx="2878993" cy="569387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 anchor="ctr">
            <a:spAutoFit/>
          </a:bodyPr>
          <a:lstStyle/>
          <a:p>
            <a:pPr>
              <a:defRPr sz="1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defRPr>
            </a:pPr>
            <a:r>
              <a:rPr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AOI </a:t>
            </a:r>
            <a:r>
              <a:rPr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Inspection</a:t>
            </a:r>
            <a:r>
              <a:rPr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图像" descr="图像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8000" y="2543082"/>
            <a:ext cx="8052632" cy="9000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6" name="组合 5"/>
          <p:cNvGrpSpPr/>
          <p:nvPr/>
        </p:nvGrpSpPr>
        <p:grpSpPr>
          <a:xfrm>
            <a:off x="11327904" y="2543082"/>
            <a:ext cx="8568952" cy="6358826"/>
            <a:chOff x="11543928" y="2241925"/>
            <a:chExt cx="8568952" cy="635882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43928" y="2241925"/>
              <a:ext cx="8568952" cy="6358826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 bwMode="auto">
            <a:xfrm>
              <a:off x="14712280" y="2393504"/>
              <a:ext cx="2160240" cy="720080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18528704" y="4701258"/>
              <a:ext cx="1008112" cy="720080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11543928" y="4193704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15036316" y="5781377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15871183" y="7191064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831961" y="9708948"/>
            <a:ext cx="7488831" cy="2418209"/>
            <a:chOff x="9862142" y="9014510"/>
            <a:chExt cx="11845689" cy="34866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28551" y="9014510"/>
              <a:ext cx="11679280" cy="3486637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 bwMode="auto">
            <a:xfrm>
              <a:off x="9862142" y="10324031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5360352" y="10057751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FA77435-4712-6C9A-8D6B-65FF5E4664D4}"/>
              </a:ext>
            </a:extLst>
          </p:cNvPr>
          <p:cNvGrpSpPr/>
          <p:nvPr/>
        </p:nvGrpSpPr>
        <p:grpSpPr>
          <a:xfrm>
            <a:off x="4778181" y="6325259"/>
            <a:ext cx="12238355" cy="5948020"/>
            <a:chOff x="5999312" y="3112674"/>
            <a:chExt cx="12238355" cy="630237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9810C0A-54C0-44E6-C833-316ACCDD90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433"/>
            <a:stretch/>
          </p:blipFill>
          <p:spPr>
            <a:xfrm>
              <a:off x="5999312" y="3112674"/>
              <a:ext cx="11210925" cy="6050431"/>
            </a:xfrm>
            <a:prstGeom prst="rect">
              <a:avLst/>
            </a:prstGeom>
          </p:spPr>
        </p:pic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8CA69F1-6B85-D303-9E49-077765D727A3}"/>
                </a:ext>
              </a:extLst>
            </p:cNvPr>
            <p:cNvCxnSpPr/>
            <p:nvPr/>
          </p:nvCxnSpPr>
          <p:spPr>
            <a:xfrm flipH="1">
              <a:off x="6172032" y="8121705"/>
              <a:ext cx="0" cy="12600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9461410-D6AC-3EF1-9CF2-96E1AB4D6BD5}"/>
                </a:ext>
              </a:extLst>
            </p:cNvPr>
            <p:cNvCxnSpPr/>
            <p:nvPr/>
          </p:nvCxnSpPr>
          <p:spPr>
            <a:xfrm>
              <a:off x="16555552" y="9067220"/>
              <a:ext cx="1682115" cy="1905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58363A7-0579-AA88-D1DB-61B6DAFE899E}"/>
                </a:ext>
              </a:extLst>
            </p:cNvPr>
            <p:cNvCxnSpPr/>
            <p:nvPr/>
          </p:nvCxnSpPr>
          <p:spPr>
            <a:xfrm>
              <a:off x="16555552" y="3876730"/>
              <a:ext cx="1450975" cy="825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8EFBE45-C881-B282-FCAB-A7EBF9EAE2B3}"/>
                </a:ext>
              </a:extLst>
            </p:cNvPr>
            <p:cNvCxnSpPr/>
            <p:nvPr/>
          </p:nvCxnSpPr>
          <p:spPr>
            <a:xfrm flipH="1">
              <a:off x="9996637" y="7944470"/>
              <a:ext cx="3175" cy="14020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6E0060D-14D3-FABB-15DB-D8C318F198E8}"/>
                </a:ext>
              </a:extLst>
            </p:cNvPr>
            <p:cNvCxnSpPr/>
            <p:nvPr/>
          </p:nvCxnSpPr>
          <p:spPr>
            <a:xfrm flipH="1">
              <a:off x="12722692" y="7938120"/>
              <a:ext cx="27940" cy="146685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02B46B5-3F2A-91D8-8C6F-88763F9D9FE1}"/>
                </a:ext>
              </a:extLst>
            </p:cNvPr>
            <p:cNvCxnSpPr/>
            <p:nvPr/>
          </p:nvCxnSpPr>
          <p:spPr>
            <a:xfrm flipV="1">
              <a:off x="6191082" y="9225900"/>
              <a:ext cx="3798570" cy="1778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B3BC1016-BA31-2E1E-939B-FCC94AE4321C}"/>
                </a:ext>
              </a:extLst>
            </p:cNvPr>
            <p:cNvCxnSpPr/>
            <p:nvPr/>
          </p:nvCxnSpPr>
          <p:spPr>
            <a:xfrm>
              <a:off x="9999812" y="9215740"/>
              <a:ext cx="2693670" cy="1016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E934FF0-894D-5F2C-0591-6F993373BD22}"/>
                </a:ext>
              </a:extLst>
            </p:cNvPr>
            <p:cNvCxnSpPr/>
            <p:nvPr/>
          </p:nvCxnSpPr>
          <p:spPr>
            <a:xfrm>
              <a:off x="12790002" y="9210025"/>
              <a:ext cx="4278630" cy="43815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1F8BF86-8FF9-D052-B321-E760AD94D1FE}"/>
                </a:ext>
              </a:extLst>
            </p:cNvPr>
            <p:cNvCxnSpPr/>
            <p:nvPr/>
          </p:nvCxnSpPr>
          <p:spPr>
            <a:xfrm flipV="1">
              <a:off x="17824282" y="3895780"/>
              <a:ext cx="14605" cy="515239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5" name="圆角矩形 23">
              <a:extLst>
                <a:ext uri="{FF2B5EF4-FFF2-40B4-BE49-F238E27FC236}">
                  <a16:creationId xmlns:a16="http://schemas.microsoft.com/office/drawing/2014/main" id="{3030BD8F-CC48-0710-B7E3-1E8ACAE91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3831" y="8799567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1600mm</a:t>
              </a:r>
            </a:p>
          </p:txBody>
        </p:sp>
        <p:sp>
          <p:nvSpPr>
            <p:cNvPr id="17" name="圆角矩形 23">
              <a:extLst>
                <a:ext uri="{FF2B5EF4-FFF2-40B4-BE49-F238E27FC236}">
                  <a16:creationId xmlns:a16="http://schemas.microsoft.com/office/drawing/2014/main" id="{3610BE1A-B315-A223-B5E2-736719BBF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2192" y="8802216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1400mm</a:t>
              </a:r>
            </a:p>
          </p:txBody>
        </p:sp>
        <p:sp>
          <p:nvSpPr>
            <p:cNvPr id="18" name="圆角矩形 23">
              <a:extLst>
                <a:ext uri="{FF2B5EF4-FFF2-40B4-BE49-F238E27FC236}">
                  <a16:creationId xmlns:a16="http://schemas.microsoft.com/office/drawing/2014/main" id="{763E09A2-04E6-9260-2967-B942152C7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7002" y="8823925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1000mm</a:t>
              </a:r>
            </a:p>
          </p:txBody>
        </p:sp>
        <p:sp>
          <p:nvSpPr>
            <p:cNvPr id="19" name="圆角矩形 23">
              <a:extLst>
                <a:ext uri="{FF2B5EF4-FFF2-40B4-BE49-F238E27FC236}">
                  <a16:creationId xmlns:a16="http://schemas.microsoft.com/office/drawing/2014/main" id="{7EEBFA19-3B5D-6E9B-01F0-4240C9A832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6401882" y="6194480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1800mm</a:t>
              </a:r>
            </a:p>
          </p:txBody>
        </p:sp>
        <p:cxnSp>
          <p:nvCxnSpPr>
            <p:cNvPr id="20" name="直接连接符 7">
              <a:extLst>
                <a:ext uri="{FF2B5EF4-FFF2-40B4-BE49-F238E27FC236}">
                  <a16:creationId xmlns:a16="http://schemas.microsoft.com/office/drawing/2014/main" id="{8EF7D216-9538-C4CA-98AE-20D7B57EDCEC}"/>
                </a:ext>
              </a:extLst>
            </p:cNvPr>
            <p:cNvCxnSpPr/>
            <p:nvPr/>
          </p:nvCxnSpPr>
          <p:spPr>
            <a:xfrm flipH="1">
              <a:off x="17055374" y="8299046"/>
              <a:ext cx="0" cy="11160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64" name="图片 63">
            <a:extLst>
              <a:ext uri="{FF2B5EF4-FFF2-40B4-BE49-F238E27FC236}">
                <a16:creationId xmlns:a16="http://schemas.microsoft.com/office/drawing/2014/main" id="{E87D9E69-E2A2-1785-89CE-DD4F3C318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598" y="4237413"/>
            <a:ext cx="1864573" cy="1294352"/>
          </a:xfrm>
          <a:prstGeom prst="rect">
            <a:avLst/>
          </a:prstGeom>
        </p:spPr>
      </p:pic>
      <p:pic>
        <p:nvPicPr>
          <p:cNvPr id="75" name="图片 74" descr="图片包含 图示&#10;&#10;描述已自动生成">
            <a:extLst>
              <a:ext uri="{FF2B5EF4-FFF2-40B4-BE49-F238E27FC236}">
                <a16:creationId xmlns:a16="http://schemas.microsoft.com/office/drawing/2014/main" id="{34C00C34-3263-965E-F4C5-3316C1F73C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144" y="4405767"/>
            <a:ext cx="992522" cy="640803"/>
          </a:xfrm>
          <a:prstGeom prst="rect">
            <a:avLst/>
          </a:prstGeom>
        </p:spPr>
      </p:pic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90204" pitchFamily="34" charset="0"/>
                <a:sym typeface="Helvetica" charset="0"/>
              </a:rPr>
              <a:t>B747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90204" pitchFamily="34" charset="0"/>
              </a:rPr>
              <a:t>|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 Process Description _ Magnetizing/ Laser Marking</a:t>
            </a:r>
            <a:endParaRPr lang="zh-CN" altLang="en-US" sz="4800" dirty="0">
              <a:cs typeface="Arial" panose="020B0604020202090204" pitchFamily="34" charset="0"/>
            </a:endParaRPr>
          </a:p>
        </p:txBody>
      </p:sp>
      <p:pic>
        <p:nvPicPr>
          <p:cNvPr id="39" name="图片 38" descr="画着卡通人物&#10;&#10;描述已自动生成">
            <a:extLst>
              <a:ext uri="{FF2B5EF4-FFF2-40B4-BE49-F238E27FC236}">
                <a16:creationId xmlns:a16="http://schemas.microsoft.com/office/drawing/2014/main" id="{C1C1F0ED-0D04-8B51-C6A2-157309AC4A7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20" y="4484462"/>
            <a:ext cx="1397698" cy="582971"/>
          </a:xfrm>
          <a:prstGeom prst="rect">
            <a:avLst/>
          </a:prstGeom>
        </p:spPr>
      </p:pic>
      <p:sp>
        <p:nvSpPr>
          <p:cNvPr id="55" name="圆角矩形 23">
            <a:extLst>
              <a:ext uri="{FF2B5EF4-FFF2-40B4-BE49-F238E27FC236}">
                <a16:creationId xmlns:a16="http://schemas.microsoft.com/office/drawing/2014/main" id="{8D70A673-F918-6542-B4D7-F5517E46A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928" y="5781738"/>
            <a:ext cx="3990340" cy="554355"/>
          </a:xfrm>
          <a:prstGeom prst="roundRect">
            <a:avLst>
              <a:gd name="adj" fmla="val 16667"/>
            </a:avLst>
          </a:prstGeom>
          <a:noFill/>
          <a:ln w="12700">
            <a:noFill/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Flex Vibration Feeder Module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6" name="圆角矩形 23">
            <a:extLst>
              <a:ext uri="{FF2B5EF4-FFF2-40B4-BE49-F238E27FC236}">
                <a16:creationId xmlns:a16="http://schemas.microsoft.com/office/drawing/2014/main" id="{2FEC5DCC-BEC8-ABF0-8907-9717450EC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7356" y="5777880"/>
            <a:ext cx="4502041" cy="554355"/>
          </a:xfrm>
          <a:prstGeom prst="roundRect">
            <a:avLst>
              <a:gd name="adj" fmla="val 16667"/>
            </a:avLst>
          </a:prstGeom>
          <a:noFill/>
          <a:ln w="12700">
            <a:noFill/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Magnetizing module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3" name="箭头: 右 13">
            <a:extLst>
              <a:ext uri="{FF2B5EF4-FFF2-40B4-BE49-F238E27FC236}">
                <a16:creationId xmlns:a16="http://schemas.microsoft.com/office/drawing/2014/main" id="{D47AF7B0-43A3-109E-1DD5-C764A814A597}"/>
              </a:ext>
            </a:extLst>
          </p:cNvPr>
          <p:cNvSpPr/>
          <p:nvPr/>
        </p:nvSpPr>
        <p:spPr>
          <a:xfrm>
            <a:off x="5509024" y="450015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07D27BB1-FB30-AB40-D59C-D73DE11DBE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775" y="3491361"/>
            <a:ext cx="673976" cy="668909"/>
          </a:xfrm>
          <a:prstGeom prst="rect">
            <a:avLst/>
          </a:prstGeom>
        </p:spPr>
      </p:pic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A38EB3-4396-B941-66B9-EADE54B3BA0F}"/>
              </a:ext>
            </a:extLst>
          </p:cNvPr>
          <p:cNvGrpSpPr/>
          <p:nvPr/>
        </p:nvGrpSpPr>
        <p:grpSpPr>
          <a:xfrm>
            <a:off x="3759119" y="3804656"/>
            <a:ext cx="3015887" cy="971291"/>
            <a:chOff x="1207592" y="9838742"/>
            <a:chExt cx="3015887" cy="971291"/>
          </a:xfrm>
        </p:grpSpPr>
        <p:sp>
          <p:nvSpPr>
            <p:cNvPr id="66" name="圆角矩形 23">
              <a:extLst>
                <a:ext uri="{FF2B5EF4-FFF2-40B4-BE49-F238E27FC236}">
                  <a16:creationId xmlns:a16="http://schemas.microsoft.com/office/drawing/2014/main" id="{B82B0E8E-4570-1435-08E8-1DADDA9E5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592" y="9838742"/>
              <a:ext cx="2308525" cy="598362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vertOverflow="overflow" horzOverflow="overflow" vert="horz" wrap="square" lIns="90170" tIns="46990" rIns="90170" bIns="46990" numCol="1" spcCol="0" rtlCol="0" fromWordArt="0" anchor="ctr" anchorCtr="0" forceAA="0" compatLnSpc="1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Flexible</a:t>
              </a:r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Vibrating</a:t>
              </a:r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Plate</a:t>
              </a:r>
              <a:endParaRPr kumimoji="1" 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67" name="肘形连接符 86">
              <a:extLst>
                <a:ext uri="{FF2B5EF4-FFF2-40B4-BE49-F238E27FC236}">
                  <a16:creationId xmlns:a16="http://schemas.microsoft.com/office/drawing/2014/main" id="{6599AD50-8830-B261-B797-65BD869466D6}"/>
                </a:ext>
              </a:extLst>
            </p:cNvPr>
            <p:cNvCxnSpPr>
              <a:cxnSpLocks/>
              <a:stCxn id="66" idx="3"/>
            </p:cNvCxnSpPr>
            <p:nvPr/>
          </p:nvCxnSpPr>
          <p:spPr>
            <a:xfrm>
              <a:off x="3516117" y="10137923"/>
              <a:ext cx="707362" cy="672110"/>
            </a:xfrm>
            <a:prstGeom prst="bentConnector3">
              <a:avLst>
                <a:gd name="adj1" fmla="val 50000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2C6AA68-9499-A5A2-D8F4-CF4216450F20}"/>
              </a:ext>
            </a:extLst>
          </p:cNvPr>
          <p:cNvGrpSpPr/>
          <p:nvPr/>
        </p:nvGrpSpPr>
        <p:grpSpPr>
          <a:xfrm>
            <a:off x="3627295" y="3109201"/>
            <a:ext cx="3049480" cy="788623"/>
            <a:chOff x="5493309" y="9666312"/>
            <a:chExt cx="3049480" cy="788623"/>
          </a:xfrm>
        </p:grpSpPr>
        <p:sp>
          <p:nvSpPr>
            <p:cNvPr id="68" name="圆角矩形 23">
              <a:extLst>
                <a:ext uri="{FF2B5EF4-FFF2-40B4-BE49-F238E27FC236}">
                  <a16:creationId xmlns:a16="http://schemas.microsoft.com/office/drawing/2014/main" id="{5C22D76D-0CC5-A03B-4389-3938F5A27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3309" y="9666312"/>
              <a:ext cx="2495379" cy="354341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vertOverflow="overflow" horzOverflow="overflow" vert="horz" wrap="square" lIns="90170" tIns="46990" rIns="90170" bIns="46990" numCol="1" spcCol="0" rtlCol="0" fromWordArt="0" anchor="ctr" anchorCtr="0" forceAA="0" compatLnSpc="1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Contoured</a:t>
              </a:r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Nozzle</a:t>
              </a:r>
              <a:endParaRPr kumimoji="1" 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69" name="肘形连接符 92">
              <a:extLst>
                <a:ext uri="{FF2B5EF4-FFF2-40B4-BE49-F238E27FC236}">
                  <a16:creationId xmlns:a16="http://schemas.microsoft.com/office/drawing/2014/main" id="{B6EE25E9-E438-4621-6271-61574BCDD1E1}"/>
                </a:ext>
              </a:extLst>
            </p:cNvPr>
            <p:cNvCxnSpPr>
              <a:cxnSpLocks/>
              <a:stCxn id="68" idx="3"/>
              <a:endCxn id="65" idx="1"/>
            </p:cNvCxnSpPr>
            <p:nvPr/>
          </p:nvCxnSpPr>
          <p:spPr>
            <a:xfrm>
              <a:off x="7988688" y="9843483"/>
              <a:ext cx="554101" cy="611452"/>
            </a:xfrm>
            <a:prstGeom prst="bentConnector3">
              <a:avLst>
                <a:gd name="adj1" fmla="val 50000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6" name="箭头: 右 13">
            <a:extLst>
              <a:ext uri="{FF2B5EF4-FFF2-40B4-BE49-F238E27FC236}">
                <a16:creationId xmlns:a16="http://schemas.microsoft.com/office/drawing/2014/main" id="{DC977F63-2460-038C-5DF5-73BC21E359A7}"/>
              </a:ext>
            </a:extLst>
          </p:cNvPr>
          <p:cNvSpPr/>
          <p:nvPr/>
        </p:nvSpPr>
        <p:spPr>
          <a:xfrm>
            <a:off x="8708362" y="4463800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图片 83" descr="图示&#10;&#10;描述已自动生成">
            <a:extLst>
              <a:ext uri="{FF2B5EF4-FFF2-40B4-BE49-F238E27FC236}">
                <a16:creationId xmlns:a16="http://schemas.microsoft.com/office/drawing/2014/main" id="{717B0D1E-0381-330E-2DA9-0975258E1F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182" y="3447550"/>
            <a:ext cx="2365285" cy="2213013"/>
          </a:xfrm>
          <a:prstGeom prst="rect">
            <a:avLst/>
          </a:prstGeom>
        </p:spPr>
      </p:pic>
      <p:sp>
        <p:nvSpPr>
          <p:cNvPr id="85" name="箭头: 右 13">
            <a:extLst>
              <a:ext uri="{FF2B5EF4-FFF2-40B4-BE49-F238E27FC236}">
                <a16:creationId xmlns:a16="http://schemas.microsoft.com/office/drawing/2014/main" id="{AA64EADD-4898-5DAC-71BE-6FD4C10A13BF}"/>
              </a:ext>
            </a:extLst>
          </p:cNvPr>
          <p:cNvSpPr/>
          <p:nvPr/>
        </p:nvSpPr>
        <p:spPr>
          <a:xfrm>
            <a:off x="11585986" y="4523220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31F44652-650C-EE06-9547-CEC01DAA63E9}"/>
              </a:ext>
            </a:extLst>
          </p:cNvPr>
          <p:cNvGrpSpPr/>
          <p:nvPr/>
        </p:nvGrpSpPr>
        <p:grpSpPr>
          <a:xfrm>
            <a:off x="7831601" y="3105095"/>
            <a:ext cx="2094512" cy="1418125"/>
            <a:chOff x="6220148" y="9666313"/>
            <a:chExt cx="2094512" cy="1418125"/>
          </a:xfrm>
        </p:grpSpPr>
        <p:sp>
          <p:nvSpPr>
            <p:cNvPr id="89" name="圆角矩形 23">
              <a:extLst>
                <a:ext uri="{FF2B5EF4-FFF2-40B4-BE49-F238E27FC236}">
                  <a16:creationId xmlns:a16="http://schemas.microsoft.com/office/drawing/2014/main" id="{E319F1DB-23CD-1CB6-FC80-B709F8270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0148" y="9666313"/>
              <a:ext cx="1768540" cy="604002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vertOverflow="overflow" horzOverflow="overflow" vert="horz" wrap="square" lIns="90170" tIns="46990" rIns="90170" bIns="46990" numCol="1" spcCol="0" rtlCol="0" fromWordArt="0" anchor="ctr" anchorCtr="0" forceAA="0" compatLnSpc="1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Magnetizing coils</a:t>
              </a:r>
            </a:p>
          </p:txBody>
        </p:sp>
        <p:cxnSp>
          <p:nvCxnSpPr>
            <p:cNvPr id="90" name="肘形连接符 92">
              <a:extLst>
                <a:ext uri="{FF2B5EF4-FFF2-40B4-BE49-F238E27FC236}">
                  <a16:creationId xmlns:a16="http://schemas.microsoft.com/office/drawing/2014/main" id="{2A49E42C-DDA0-70AB-7A94-CE041D14D46D}"/>
                </a:ext>
              </a:extLst>
            </p:cNvPr>
            <p:cNvCxnSpPr>
              <a:cxnSpLocks/>
              <a:stCxn id="89" idx="3"/>
            </p:cNvCxnSpPr>
            <p:nvPr/>
          </p:nvCxnSpPr>
          <p:spPr>
            <a:xfrm>
              <a:off x="7988688" y="9968314"/>
              <a:ext cx="325972" cy="1116124"/>
            </a:xfrm>
            <a:prstGeom prst="bentConnector2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99" name="图片 98">
            <a:extLst>
              <a:ext uri="{FF2B5EF4-FFF2-40B4-BE49-F238E27FC236}">
                <a16:creationId xmlns:a16="http://schemas.microsoft.com/office/drawing/2014/main" id="{8458A0C2-D973-B860-E936-A9EEDF7557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24301" y="3627855"/>
            <a:ext cx="1345166" cy="1821725"/>
          </a:xfrm>
          <a:prstGeom prst="rect">
            <a:avLst/>
          </a:prstGeom>
        </p:spPr>
      </p:pic>
      <p:sp>
        <p:nvSpPr>
          <p:cNvPr id="100" name="圆角矩形 23">
            <a:extLst>
              <a:ext uri="{FF2B5EF4-FFF2-40B4-BE49-F238E27FC236}">
                <a16:creationId xmlns:a16="http://schemas.microsoft.com/office/drawing/2014/main" id="{39DE1D50-4D10-9AA1-1B11-F2F2E0657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1005" y="5808298"/>
            <a:ext cx="4754156" cy="554355"/>
          </a:xfrm>
          <a:prstGeom prst="roundRect">
            <a:avLst>
              <a:gd name="adj" fmla="val 16667"/>
            </a:avLst>
          </a:prstGeom>
          <a:noFill/>
          <a:ln w="12700">
            <a:noFill/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Laser Marking &amp;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Unloading </a:t>
            </a:r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Module</a:t>
            </a:r>
          </a:p>
        </p:txBody>
      </p:sp>
      <p:sp>
        <p:nvSpPr>
          <p:cNvPr id="101" name="箭头: 右 13">
            <a:extLst>
              <a:ext uri="{FF2B5EF4-FFF2-40B4-BE49-F238E27FC236}">
                <a16:creationId xmlns:a16="http://schemas.microsoft.com/office/drawing/2014/main" id="{1D33A0E7-B4C5-DF3E-2EC7-BE3445E4629B}"/>
              </a:ext>
            </a:extLst>
          </p:cNvPr>
          <p:cNvSpPr/>
          <p:nvPr/>
        </p:nvSpPr>
        <p:spPr>
          <a:xfrm>
            <a:off x="13663378" y="448582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图片 101" descr="形状&#10;&#10;描述已自动生成">
            <a:extLst>
              <a:ext uri="{FF2B5EF4-FFF2-40B4-BE49-F238E27FC236}">
                <a16:creationId xmlns:a16="http://schemas.microsoft.com/office/drawing/2014/main" id="{EF071B53-BA02-2458-D2F2-CEE96382670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561139" y="3709097"/>
            <a:ext cx="1303269" cy="1778104"/>
          </a:xfrm>
          <a:prstGeom prst="rect">
            <a:avLst/>
          </a:prstGeom>
        </p:spPr>
      </p:pic>
      <p:graphicFrame>
        <p:nvGraphicFramePr>
          <p:cNvPr id="103" name="表格 15">
            <a:extLst>
              <a:ext uri="{FF2B5EF4-FFF2-40B4-BE49-F238E27FC236}">
                <a16:creationId xmlns:a16="http://schemas.microsoft.com/office/drawing/2014/main" id="{06B64BC8-DBFB-E48B-9479-2CA7F2D94F7A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17679272" y="2274194"/>
          <a:ext cx="6101722" cy="2748702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349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928">
                <a:tc grid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Laser Marking P</a:t>
                      </a:r>
                      <a:r>
                        <a:rPr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3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Type/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endParaRPr sz="1800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GM-F-D-XT-20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Output/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输出功率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20W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Frequency/频率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80KHZ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3">
                <a:tc rowSpan="5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b="1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Processing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Speed/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速度</a:t>
                      </a:r>
                      <a:endParaRPr sz="1800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800-1300</a:t>
                      </a: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mm/s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Q Frequency/Q频率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45-60KHz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Jump Speed/空跳速度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3000mm/s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Power%/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使用功率</a:t>
                      </a: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%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25-45%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02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>
                          <a:latin typeface="Arial" panose="020B0604020202090204"/>
                          <a:ea typeface="Arial" panose="020B0604020202090204"/>
                          <a:cs typeface="Arial" panose="020B0604020202090204"/>
                        </a:defRPr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Arial" panose="020B060402020209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Filling Spacing/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填充间距</a:t>
                      </a:r>
                      <a:endParaRPr sz="1800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0.025-</a:t>
                      </a: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0.0</a:t>
                      </a: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5</a:t>
                      </a: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4" name="表格 15">
            <a:extLst>
              <a:ext uri="{FF2B5EF4-FFF2-40B4-BE49-F238E27FC236}">
                <a16:creationId xmlns:a16="http://schemas.microsoft.com/office/drawing/2014/main" id="{196AA18F-6073-595E-62EC-0D046F0B9D1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679272" y="5096252"/>
          <a:ext cx="6219158" cy="204978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338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96">
                <a:tc gridSpan="2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Magnetizing P</a:t>
                      </a:r>
                      <a:r>
                        <a:rPr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47">
                <a:tc>
                  <a:txBody>
                    <a:bodyPr/>
                    <a:lstStyle/>
                    <a:p>
                      <a:pPr algn="ctr" defTabSz="914400" eaLnBrk="1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defRPr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machine Type</a:t>
                      </a:r>
                      <a:endParaRPr sz="1800" b="1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KCJ-35M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Magnetizing coil Type</a:t>
                      </a:r>
                      <a:endParaRPr lang="zh-C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TCG-S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coil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110*75*150 mm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57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Voltage</a:t>
                      </a:r>
                      <a:endParaRPr sz="1800" b="1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3000 V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Capacitance</a:t>
                      </a:r>
                      <a:endParaRPr lang="zh-C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l-GR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9000μ</a:t>
                      </a: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F</a:t>
                      </a: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4C5E76C8-ABFB-4C95-5724-923EF9485DDC}"/>
              </a:ext>
            </a:extLst>
          </p:cNvPr>
          <p:cNvSpPr/>
          <p:nvPr/>
        </p:nvSpPr>
        <p:spPr bwMode="auto">
          <a:xfrm>
            <a:off x="394537" y="3860093"/>
            <a:ext cx="3152558" cy="920115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18288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Automated Equipment Flow chart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Magnetizing machine…">
            <a:extLst>
              <a:ext uri="{FF2B5EF4-FFF2-40B4-BE49-F238E27FC236}">
                <a16:creationId xmlns:a16="http://schemas.microsoft.com/office/drawing/2014/main" id="{4B859F66-D429-AC94-7F79-83DDC6B7C52C}"/>
              </a:ext>
            </a:extLst>
          </p:cNvPr>
          <p:cNvSpPr txBox="1"/>
          <p:nvPr/>
        </p:nvSpPr>
        <p:spPr>
          <a:xfrm>
            <a:off x="12798256" y="12169668"/>
            <a:ext cx="3987140" cy="46166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1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lang="en-US" sz="2400" kern="0" dirty="0">
                <a:solidFill>
                  <a:srgbClr val="0000FF"/>
                </a:solidFill>
                <a:latin typeface="Arial" panose="020B0604020202090204"/>
                <a:ea typeface="Arial" panose="020B0604020202090204"/>
                <a:sym typeface="Arial" panose="020B0604020202090204"/>
              </a:rPr>
              <a:t>(P</a:t>
            </a:r>
            <a:r>
              <a:rPr lang="en-US" altLang="zh-CN" sz="2400" kern="0" dirty="0">
                <a:solidFill>
                  <a:srgbClr val="0000FF"/>
                </a:solidFill>
                <a:latin typeface="Arial" panose="020B0604020202090204"/>
                <a:ea typeface="Arial" panose="020B0604020202090204"/>
                <a:sym typeface="Arial" panose="020B0604020202090204"/>
              </a:rPr>
              <a:t>icture for reference only)</a:t>
            </a:r>
            <a:endParaRPr lang="en-US" sz="2400" kern="0" dirty="0">
              <a:solidFill>
                <a:srgbClr val="0000FF"/>
              </a:solidFill>
              <a:latin typeface="Arial" panose="020B0604020202090204"/>
              <a:ea typeface="Arial" panose="020B0604020202090204"/>
              <a:sym typeface="Arial" panose="020B0604020202090204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D4E7CC-F146-8DCD-9511-E811ACC1FA4E}"/>
              </a:ext>
            </a:extLst>
          </p:cNvPr>
          <p:cNvSpPr/>
          <p:nvPr/>
        </p:nvSpPr>
        <p:spPr bwMode="auto">
          <a:xfrm>
            <a:off x="369318" y="9244989"/>
            <a:ext cx="3298130" cy="920115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18288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/>
              <a:t>Automated Magnetizing &amp; Laser Marking Line  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圆角矩形 5">
            <a:extLst>
              <a:ext uri="{FF2B5EF4-FFF2-40B4-BE49-F238E27FC236}">
                <a16:creationId xmlns:a16="http://schemas.microsoft.com/office/drawing/2014/main" id="{354849CA-E8DA-73D0-D78C-972BBDDE73B7}"/>
              </a:ext>
            </a:extLst>
          </p:cNvPr>
          <p:cNvSpPr/>
          <p:nvPr/>
        </p:nvSpPr>
        <p:spPr>
          <a:xfrm>
            <a:off x="5741434" y="2316402"/>
            <a:ext cx="2235922" cy="510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Loading Magnet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圆角矩形 5">
            <a:extLst>
              <a:ext uri="{FF2B5EF4-FFF2-40B4-BE49-F238E27FC236}">
                <a16:creationId xmlns:a16="http://schemas.microsoft.com/office/drawing/2014/main" id="{4E225302-B4E9-0D67-1DDA-07FA4E55C154}"/>
              </a:ext>
            </a:extLst>
          </p:cNvPr>
          <p:cNvSpPr/>
          <p:nvPr/>
        </p:nvSpPr>
        <p:spPr>
          <a:xfrm>
            <a:off x="9172313" y="2316402"/>
            <a:ext cx="2235922" cy="510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Magnetizing</a:t>
            </a:r>
          </a:p>
        </p:txBody>
      </p:sp>
      <p:sp>
        <p:nvSpPr>
          <p:cNvPr id="25" name="圆角矩形 5">
            <a:extLst>
              <a:ext uri="{FF2B5EF4-FFF2-40B4-BE49-F238E27FC236}">
                <a16:creationId xmlns:a16="http://schemas.microsoft.com/office/drawing/2014/main" id="{A18322E0-0940-7065-54D6-F8D3C27389C9}"/>
              </a:ext>
            </a:extLst>
          </p:cNvPr>
          <p:cNvSpPr/>
          <p:nvPr/>
        </p:nvSpPr>
        <p:spPr>
          <a:xfrm>
            <a:off x="11691539" y="2316401"/>
            <a:ext cx="2235922" cy="510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Laser Marking</a:t>
            </a:r>
          </a:p>
        </p:txBody>
      </p:sp>
      <p:sp>
        <p:nvSpPr>
          <p:cNvPr id="26" name="圆角矩形 5">
            <a:extLst>
              <a:ext uri="{FF2B5EF4-FFF2-40B4-BE49-F238E27FC236}">
                <a16:creationId xmlns:a16="http://schemas.microsoft.com/office/drawing/2014/main" id="{BB7F5CA0-E07A-8C95-58D9-5FCBE184CE06}"/>
              </a:ext>
            </a:extLst>
          </p:cNvPr>
          <p:cNvSpPr/>
          <p:nvPr/>
        </p:nvSpPr>
        <p:spPr>
          <a:xfrm>
            <a:off x="14248393" y="2339759"/>
            <a:ext cx="2221858" cy="8172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Load the Magnet into the tray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CB2ED86-8208-5687-41E6-D38C1F080103}"/>
              </a:ext>
            </a:extLst>
          </p:cNvPr>
          <p:cNvCxnSpPr>
            <a:cxnSpLocks/>
            <a:stCxn id="65" idx="3"/>
          </p:cNvCxnSpPr>
          <p:nvPr/>
        </p:nvCxnSpPr>
        <p:spPr bwMode="auto">
          <a:xfrm>
            <a:off x="7350751" y="3825816"/>
            <a:ext cx="531757" cy="5772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810982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20204" pitchFamily="34" charset="0"/>
                <a:sym typeface="Helvetica" charset="0"/>
              </a:rPr>
              <a:t>B747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20204" pitchFamily="34" charset="0"/>
              </a:rPr>
              <a:t>|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 Process Description _ Inspection Device</a:t>
            </a:r>
            <a:endParaRPr lang="zh-CN" altLang="en-US" sz="4800" dirty="0"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41810" y="2313228"/>
            <a:ext cx="20999201" cy="10745544"/>
            <a:chOff x="1741810" y="2313228"/>
            <a:chExt cx="20999201" cy="10745544"/>
          </a:xfrm>
        </p:grpSpPr>
        <p:grpSp>
          <p:nvGrpSpPr>
            <p:cNvPr id="29" name="组合 28"/>
            <p:cNvGrpSpPr/>
            <p:nvPr/>
          </p:nvGrpSpPr>
          <p:grpSpPr>
            <a:xfrm>
              <a:off x="1741810" y="2313228"/>
              <a:ext cx="20999201" cy="10745544"/>
              <a:chOff x="1741810" y="2313228"/>
              <a:chExt cx="20999201" cy="10745544"/>
            </a:xfrm>
          </p:grpSpPr>
          <p:pic>
            <p:nvPicPr>
              <p:cNvPr id="15" name="image7.jpeg" descr="image7.jpeg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096000" y="2447934"/>
                <a:ext cx="5876927" cy="4825462"/>
              </a:xfrm>
              <a:prstGeom prst="rect">
                <a:avLst/>
              </a:prstGeom>
              <a:ln w="12700">
                <a:miter lim="400000"/>
                <a:headEnd/>
                <a:tailEnd/>
              </a:ln>
            </p:spPr>
          </p:pic>
          <p:sp>
            <p:nvSpPr>
              <p:cNvPr id="17" name="SST Test"/>
              <p:cNvSpPr txBox="1"/>
              <p:nvPr/>
            </p:nvSpPr>
            <p:spPr>
              <a:xfrm>
                <a:off x="11046090" y="7344457"/>
                <a:ext cx="1801129" cy="584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45718" tIns="45718" rIns="45718" bIns="45718">
                <a:spAutoFit/>
              </a:bodyPr>
              <a:lstStyle>
                <a:lvl1pPr>
                  <a:spcBef>
                    <a:spcPts val="0"/>
                  </a:spcBef>
                  <a:defRPr sz="12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/>
                  </a:rPr>
                  <a:t>SST Test</a:t>
                </a:r>
              </a:p>
            </p:txBody>
          </p:sp>
          <p:sp>
            <p:nvSpPr>
              <p:cNvPr id="18" name="XRF  Coating Test"/>
              <p:cNvSpPr txBox="1"/>
              <p:nvPr/>
            </p:nvSpPr>
            <p:spPr>
              <a:xfrm>
                <a:off x="2819895" y="7344457"/>
                <a:ext cx="4339571" cy="584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45718" tIns="45718" rIns="45718" bIns="45718">
                <a:spAutoFit/>
              </a:bodyPr>
              <a:lstStyle>
                <a:lvl1pPr>
                  <a:spcBef>
                    <a:spcPts val="0"/>
                  </a:spcBef>
                  <a:defRPr sz="12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/>
                  </a:rPr>
                  <a:t>XRF  Coating Test</a:t>
                </a:r>
              </a:p>
            </p:txBody>
          </p:sp>
          <p:pic>
            <p:nvPicPr>
              <p:cNvPr id="19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0000" y="2999887"/>
                <a:ext cx="4900641" cy="4022048"/>
              </a:xfrm>
              <a:prstGeom prst="rect">
                <a:avLst/>
              </a:prstGeom>
              <a:ln w="12700">
                <a:miter lim="400000"/>
                <a:headEnd/>
                <a:tailEnd/>
              </a:ln>
            </p:spPr>
          </p:pic>
          <p:pic>
            <p:nvPicPr>
              <p:cNvPr id="20" name="图像" descr="图像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600000">
                <a:off x="19978331" y="8574409"/>
                <a:ext cx="980550" cy="3600000"/>
              </a:xfrm>
              <a:prstGeom prst="rect">
                <a:avLst/>
              </a:prstGeom>
              <a:ln w="12700">
                <a:miter lim="400000"/>
                <a:headEnd/>
                <a:tailEnd/>
              </a:ln>
            </p:spPr>
          </p:pic>
          <p:sp>
            <p:nvSpPr>
              <p:cNvPr id="21" name="Polar Pen"/>
              <p:cNvSpPr txBox="1"/>
              <p:nvPr/>
            </p:nvSpPr>
            <p:spPr>
              <a:xfrm>
                <a:off x="19353045" y="12474000"/>
                <a:ext cx="1892503" cy="584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45718" tIns="45718" rIns="45718" bIns="45718">
                <a:spAutoFit/>
              </a:bodyPr>
              <a:lstStyle>
                <a:lvl1pPr>
                  <a:spcBef>
                    <a:spcPts val="0"/>
                  </a:spcBef>
                  <a:defRPr sz="12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/>
                  </a:rPr>
                  <a:t>Polar Pen</a:t>
                </a:r>
              </a:p>
            </p:txBody>
          </p:sp>
          <p:sp>
            <p:nvSpPr>
              <p:cNvPr id="23" name="Fluxmeter+ Helmholtz coil"/>
              <p:cNvSpPr txBox="1"/>
              <p:nvPr/>
            </p:nvSpPr>
            <p:spPr>
              <a:xfrm>
                <a:off x="1741810" y="12474000"/>
                <a:ext cx="6557176" cy="584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45718" tIns="45718" rIns="45718" bIns="45718">
                <a:spAutoFit/>
              </a:bodyPr>
              <a:lstStyle>
                <a:lvl1pPr>
                  <a:spcBef>
                    <a:spcPts val="0"/>
                  </a:spcBef>
                  <a:defRPr sz="12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/>
                  </a:rPr>
                  <a:t>Fluxmeter+ Helmholtz coil</a:t>
                </a:r>
              </a:p>
            </p:txBody>
          </p:sp>
          <p:pic>
            <p:nvPicPr>
              <p:cNvPr id="24" name="IMG_3846.jpeg" descr="IMG_3846.jpeg"/>
              <p:cNvPicPr>
                <a:picLocks noChangeAspect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7376000" y="2313228"/>
                <a:ext cx="5365011" cy="5038658"/>
              </a:xfrm>
              <a:prstGeom prst="rect">
                <a:avLst/>
              </a:prstGeom>
              <a:ln w="12700">
                <a:miter lim="400000"/>
                <a:headEnd/>
                <a:tailEnd/>
              </a:ln>
            </p:spPr>
          </p:pic>
          <p:sp>
            <p:nvSpPr>
              <p:cNvPr id="25" name="OMM  Dimension test"/>
              <p:cNvSpPr txBox="1"/>
              <p:nvPr/>
            </p:nvSpPr>
            <p:spPr>
              <a:xfrm>
                <a:off x="18149234" y="7344457"/>
                <a:ext cx="4032509" cy="584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45718" tIns="45718" rIns="45718" bIns="45718">
                <a:spAutoFit/>
              </a:bodyPr>
              <a:lstStyle>
                <a:lvl1pPr>
                  <a:spcBef>
                    <a:spcPts val="0"/>
                  </a:spcBef>
                  <a:defRPr sz="12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/>
                  </a:rPr>
                  <a:t>OMM  Dimension test</a:t>
                </a:r>
              </a:p>
            </p:txBody>
          </p:sp>
          <p:pic>
            <p:nvPicPr>
              <p:cNvPr id="26" name="IMG_3847.jpeg" descr="IMG_3847.jpe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80000" y="8082000"/>
                <a:ext cx="4582232" cy="4320000"/>
              </a:xfrm>
              <a:prstGeom prst="rect">
                <a:avLst/>
              </a:prstGeom>
              <a:ln w="12700">
                <a:miter lim="400000"/>
                <a:headEnd/>
                <a:tailEnd/>
              </a:ln>
            </p:spPr>
          </p:pic>
          <p:sp>
            <p:nvSpPr>
              <p:cNvPr id="27" name="Flux density Test"/>
              <p:cNvSpPr txBox="1"/>
              <p:nvPr/>
            </p:nvSpPr>
            <p:spPr>
              <a:xfrm>
                <a:off x="10680000" y="12474000"/>
                <a:ext cx="4339571" cy="584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45718" tIns="45718" rIns="45718" bIns="45718">
                <a:spAutoFit/>
              </a:bodyPr>
              <a:lstStyle>
                <a:lvl1pPr>
                  <a:spcBef>
                    <a:spcPts val="0"/>
                  </a:spcBef>
                  <a:defRPr sz="12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32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/>
                  </a:rPr>
                  <a:t>Flux density Test</a:t>
                </a:r>
              </a:p>
            </p:txBody>
          </p: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7" cstate="email"/>
            <a:stretch>
              <a:fillRect/>
            </a:stretch>
          </p:blipFill>
          <p:spPr>
            <a:xfrm>
              <a:off x="3120000" y="8244814"/>
              <a:ext cx="3440754" cy="3941759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08" y="3893604"/>
            <a:ext cx="4513851" cy="3153806"/>
          </a:xfrm>
          <a:prstGeom prst="rect">
            <a:avLst/>
          </a:prstGeom>
        </p:spPr>
      </p:pic>
      <p:sp>
        <p:nvSpPr>
          <p:cNvPr id="2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90204" pitchFamily="34" charset="0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90204" pitchFamily="34" charset="0"/>
              </a:rPr>
              <a:t>|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 Process Description _ Packaging</a:t>
            </a:r>
            <a:endParaRPr lang="zh-CN" altLang="en-US" sz="4800" dirty="0">
              <a:cs typeface="Arial" panose="020B0604020202090204" pitchFamily="34" charset="0"/>
            </a:endParaRPr>
          </a:p>
        </p:txBody>
      </p:sp>
      <p:pic>
        <p:nvPicPr>
          <p:cNvPr id="19" name="图像" descr="图像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46053" y="9843904"/>
            <a:ext cx="4526280" cy="35013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Take out of the product (Mag&amp;Can）"/>
          <p:cNvSpPr txBox="1"/>
          <p:nvPr/>
        </p:nvSpPr>
        <p:spPr>
          <a:xfrm>
            <a:off x="886744" y="7301039"/>
            <a:ext cx="6111619" cy="101565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spcBef>
                <a:spcPts val="0"/>
              </a:spcBef>
            </a:pPr>
            <a:r>
              <a:rPr dirty="0"/>
              <a:t>Place the </a:t>
            </a:r>
            <a:r>
              <a:rPr lang="en-US" dirty="0"/>
              <a:t>product</a:t>
            </a:r>
            <a:r>
              <a:rPr lang="en-US" altLang="zh-CN" dirty="0"/>
              <a:t>s</a:t>
            </a:r>
            <a:r>
              <a:rPr lang="en-US" dirty="0"/>
              <a:t> into tray</a:t>
            </a:r>
          </a:p>
          <a:p>
            <a:pPr>
              <a:spcBef>
                <a:spcPts val="0"/>
              </a:spcBef>
            </a:pPr>
            <a:r>
              <a:rPr lang="en-US" dirty="0"/>
              <a:t>Qty: 64 P</a:t>
            </a:r>
            <a:r>
              <a:rPr lang="en-US" altLang="zh-CN" dirty="0"/>
              <a:t>cs</a:t>
            </a:r>
            <a:endParaRPr lang="en-US" dirty="0"/>
          </a:p>
        </p:txBody>
      </p:sp>
      <p:sp>
        <p:nvSpPr>
          <p:cNvPr id="21" name="Put them into the box and cover a EPE board"/>
          <p:cNvSpPr txBox="1"/>
          <p:nvPr/>
        </p:nvSpPr>
        <p:spPr>
          <a:xfrm>
            <a:off x="16821115" y="7375559"/>
            <a:ext cx="6424510" cy="1138769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 algn="just">
              <a:defRPr sz="1200"/>
            </a:lvl1pPr>
          </a:lstStyle>
          <a:p>
            <a:pPr algn="ctr"/>
            <a:r>
              <a:rPr lang="en-US" altLang="zh-CN" sz="3600">
                <a:sym typeface="+mn-ea"/>
              </a:rPr>
              <a:t>Qty:</a:t>
            </a:r>
            <a:r>
              <a:rPr lang="en-US" altLang="zh-CN" sz="3200">
                <a:latin typeface="Arial" panose="020B0604020202020204"/>
                <a:ea typeface="Arial" panose="020B0604020202020204"/>
              </a:rPr>
              <a:t>64 Pcs/Tray * 30 Tray =1920pcs</a:t>
            </a:r>
            <a:endParaRPr lang="en-US" altLang="zh-CN" sz="3200" dirty="0">
              <a:latin typeface="Arial" panose="020B0604020202020204"/>
              <a:ea typeface="Arial" panose="020B060402020202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621789" y="7357861"/>
            <a:ext cx="5325497" cy="66684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101600" tIns="101600" rIns="101600" bIns="101600" numCol="1" spcCol="38100" rtlCol="0" anchor="t" forceAA="0">
            <a:spAutoFit/>
          </a:bodyPr>
          <a:lstStyle/>
          <a:p>
            <a:pPr algn="ctr"/>
            <a:r>
              <a:rPr lang="en-US" altLang="zh-CN" sz="3000">
                <a:latin typeface="Arial" panose="020B0604020202020204"/>
                <a:ea typeface="Arial" panose="020B0604020202020204"/>
                <a:sym typeface="+mn-ea"/>
              </a:rPr>
              <a:t>Put 5 trays into a Vacuum bag</a:t>
            </a:r>
            <a:endParaRPr lang="en-US" altLang="zh-CN" sz="3000" dirty="0">
              <a:latin typeface="Arial" panose="020B0604020202020204"/>
              <a:ea typeface="Arial" panose="020B0604020202020204"/>
              <a:sym typeface="Helvetica" panose="020B0604020202020204"/>
            </a:endParaRPr>
          </a:p>
        </p:txBody>
      </p:sp>
      <p:sp>
        <p:nvSpPr>
          <p:cNvPr id="26" name="Rectangle 235"/>
          <p:cNvSpPr/>
          <p:nvPr/>
        </p:nvSpPr>
        <p:spPr>
          <a:xfrm>
            <a:off x="5137047" y="3757491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en-US" sz="2000" kern="100" dirty="0">
                <a:solidFill>
                  <a:sysClr val="windowText" lastClr="000000"/>
                </a:solidFill>
                <a:ea typeface="Arial" panose="020B0604020202020204" pitchFamily="34" charset="0"/>
                <a:sym typeface="Helvetica Neue"/>
              </a:rPr>
              <a:t>64</a:t>
            </a: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*Products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sp>
        <p:nvSpPr>
          <p:cNvPr id="31" name="Rectangle 239"/>
          <p:cNvSpPr/>
          <p:nvPr/>
        </p:nvSpPr>
        <p:spPr>
          <a:xfrm>
            <a:off x="5158079" y="6511475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1*Packaging Tray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519201" y="3938935"/>
            <a:ext cx="555529" cy="36489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cxnSp>
        <p:nvCxnSpPr>
          <p:cNvPr id="33" name="直接连接符 32"/>
          <p:cNvCxnSpPr/>
          <p:nvPr/>
        </p:nvCxnSpPr>
        <p:spPr>
          <a:xfrm>
            <a:off x="4827694" y="6342427"/>
            <a:ext cx="299380" cy="278596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sp>
        <p:nvSpPr>
          <p:cNvPr id="36" name="箭头: 燕尾形 70"/>
          <p:cNvSpPr/>
          <p:nvPr/>
        </p:nvSpPr>
        <p:spPr>
          <a:xfrm>
            <a:off x="7452845" y="4750507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箭头: 燕尾形 70"/>
          <p:cNvSpPr/>
          <p:nvPr/>
        </p:nvSpPr>
        <p:spPr>
          <a:xfrm>
            <a:off x="16634021" y="4759464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箭头: 燕尾形 70"/>
          <p:cNvSpPr/>
          <p:nvPr/>
        </p:nvSpPr>
        <p:spPr>
          <a:xfrm rot="5400000">
            <a:off x="20012309" y="8772949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295123" y="4283312"/>
            <a:ext cx="2696130" cy="2115285"/>
          </a:xfrm>
          <a:prstGeom prst="rect">
            <a:avLst/>
          </a:prstGeom>
        </p:spPr>
      </p:pic>
      <p:pic>
        <p:nvPicPr>
          <p:cNvPr id="18" name="图片 17" descr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3238" y="3409587"/>
            <a:ext cx="2622550" cy="329311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2000" y="3682265"/>
            <a:ext cx="4534533" cy="291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056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hank you !"/>
          <p:cNvSpPr/>
          <p:nvPr/>
        </p:nvSpPr>
        <p:spPr>
          <a:xfrm>
            <a:off x="5797550" y="6426200"/>
            <a:ext cx="11430000" cy="1441450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 algn="ctr">
              <a:spcBef>
                <a:spcPts val="7200"/>
              </a:spcBef>
              <a:buFont typeface="Arial" panose="020B0604020202020204" pitchFamily="34" charset="0"/>
              <a:buNone/>
            </a:pPr>
            <a:r>
              <a:rPr lang="zh-CN" altLang="zh-CN" sz="8800" dirty="0">
                <a:solidFill>
                  <a:srgbClr val="3366CC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Thank you !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k3MDM5MTA4M2RiZGI2ZDU2ZTUwMjE0NmUwYWY2Y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2cf13d7-a0d1-4f0e-b647-387a0abc001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b70053-9d9f-4bcd-95f8-50a416b2ce7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6090f5c-0219-48df-bf17-aaaf2723f0d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cc5028e-8ed0-44ef-b60d-d650113541cf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253.87716535433,&quot;width&quot;:9397.94330708661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b3dfd75-ef5b-446f-8e4c-ce6fda9ee2e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b3dfd75-ef5b-446f-8e4c-ce6fda9ee2e3}"/>
</p:tagLst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1828800" rtl="0" eaLnBrk="0" fontAlgn="base" latinLnBrk="0" hangingPunct="0">
          <a:lnSpc>
            <a:spcPct val="100000"/>
          </a:lnSpc>
          <a:spcBef>
            <a:spcPts val="32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5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1828800" rtl="0" eaLnBrk="0" fontAlgn="base" latinLnBrk="0" hangingPunct="0">
          <a:lnSpc>
            <a:spcPct val="100000"/>
          </a:lnSpc>
          <a:spcBef>
            <a:spcPts val="32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5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1276</Words>
  <Application>Microsoft Office PowerPoint</Application>
  <PresentationFormat>自定义</PresentationFormat>
  <Paragraphs>356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 Unicode MS</vt:lpstr>
      <vt:lpstr>微软雅黑</vt:lpstr>
      <vt:lpstr>Arial</vt:lpstr>
      <vt:lpstr>Calibri</vt:lpstr>
      <vt:lpstr>Helvetica</vt:lpstr>
      <vt:lpstr>Trebuchet MS</vt:lpstr>
      <vt:lpstr>Verdana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Chen JH</cp:lastModifiedBy>
  <cp:revision>983</cp:revision>
  <dcterms:created xsi:type="dcterms:W3CDTF">2019-10-31T06:27:00Z</dcterms:created>
  <dcterms:modified xsi:type="dcterms:W3CDTF">2025-06-30T11:20:14Z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7B7AE3E51C87401DBB23A9901A7A5F3D_12</vt:lpwstr>
  </property>
</Properties>
</file>