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438" r:id="rId2"/>
    <p:sldId id="439" r:id="rId3"/>
    <p:sldId id="283" r:id="rId4"/>
    <p:sldId id="259" r:id="rId5"/>
    <p:sldId id="464" r:id="rId6"/>
    <p:sldId id="472" r:id="rId7"/>
    <p:sldId id="473" r:id="rId8"/>
    <p:sldId id="474" r:id="rId9"/>
    <p:sldId id="475" r:id="rId10"/>
    <p:sldId id="476" r:id="rId11"/>
    <p:sldId id="486" r:id="rId12"/>
    <p:sldId id="487" r:id="rId13"/>
    <p:sldId id="488" r:id="rId14"/>
    <p:sldId id="465" r:id="rId15"/>
    <p:sldId id="480" r:id="rId16"/>
    <p:sldId id="467" r:id="rId17"/>
    <p:sldId id="489" r:id="rId18"/>
    <p:sldId id="483" r:id="rId19"/>
    <p:sldId id="485" r:id="rId20"/>
    <p:sldId id="267" r:id="rId21"/>
  </p:sldIdLst>
  <p:sldSz cx="24384000" cy="13716000"/>
  <p:notesSz cx="6858000" cy="9144000"/>
  <p:custDataLst>
    <p:tags r:id="rId23"/>
  </p:custDataLst>
  <p:defaultTextStyle>
    <a:defPPr>
      <a:defRPr lang="zh-CN"/>
    </a:defPPr>
    <a:lvl1pPr marL="0" lvl="0" indent="0" algn="l" defTabSz="1828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600" b="0" i="0" u="none" kern="1200" baseline="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1828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600" b="0" i="0" u="none" kern="1200" baseline="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1828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600" b="0" i="0" u="none" kern="1200" baseline="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1828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600" b="0" i="0" u="none" kern="1200" baseline="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1828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600" b="0" i="0" u="none" kern="1200" baseline="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1828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600" b="0" i="0" u="none" kern="1200" baseline="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1828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600" b="0" i="0" u="none" kern="1200" baseline="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1828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600" b="0" i="0" u="none" kern="1200" baseline="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1828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600" b="0" i="0" u="none" kern="1200" baseline="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08" autoAdjust="0"/>
    <p:restoredTop sz="96366" autoAdjust="0"/>
  </p:normalViewPr>
  <p:slideViewPr>
    <p:cSldViewPr showGuides="1">
      <p:cViewPr varScale="1">
        <p:scale>
          <a:sx n="52" d="100"/>
          <a:sy n="52" d="100"/>
        </p:scale>
        <p:origin x="726" y="108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Shape 2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51" name="Shape 30"/>
          <p:cNvSpPr>
            <a:spLocks noGrp="1" noRot="1" noChangeAspect="1" noChangeArrowheads="1"/>
          </p:cNvSpPr>
          <p:nvPr/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89100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944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8053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828800" rtl="0" eaLnBrk="0" fontAlgn="base" latinLnBrk="0" hangingPunct="0">
              <a:lnSpc>
                <a:spcPct val="100000"/>
              </a:lnSpc>
              <a:spcBef>
                <a:spcPts val="3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0139DBE-F4DB-4660-B0AE-EFBEB0C40E0E}" type="slidenum"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pPr marL="0" marR="0" lvl="0" indent="0" algn="r" defTabSz="1828800" rtl="0" eaLnBrk="0" fontAlgn="base" latinLnBrk="0" hangingPunct="0">
                <a:lnSpc>
                  <a:spcPct val="100000"/>
                </a:lnSpc>
                <a:spcBef>
                  <a:spcPts val="32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t>‹#›</a:t>
            </a:fld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828800" rtl="0" eaLnBrk="0" fontAlgn="base" latinLnBrk="0" hangingPunct="0">
              <a:lnSpc>
                <a:spcPct val="100000"/>
              </a:lnSpc>
              <a:spcBef>
                <a:spcPts val="3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0139DBE-F4DB-4660-B0AE-EFBEB0C40E0E}" type="slidenum"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pPr marL="0" marR="0" lvl="0" indent="0" algn="r" defTabSz="1828800" rtl="0" eaLnBrk="0" fontAlgn="base" latinLnBrk="0" hangingPunct="0">
                <a:lnSpc>
                  <a:spcPct val="100000"/>
                </a:lnSpc>
                <a:spcBef>
                  <a:spcPts val="32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t>‹#›</a:t>
            </a:fld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未命名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188" y="0"/>
            <a:ext cx="23922037" cy="24479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7" name="未标题-3.png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23200" y="679450"/>
            <a:ext cx="2825750" cy="622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8" name="未标题-4.png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294600" y="1371600"/>
            <a:ext cx="3276600" cy="222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9" name="标题文本"/>
          <p:cNvSpPr>
            <a:spLocks noGrp="1"/>
          </p:cNvSpPr>
          <p:nvPr>
            <p:ph type="title"/>
          </p:nvPr>
        </p:nvSpPr>
        <p:spPr>
          <a:xfrm>
            <a:off x="3652838" y="1539875"/>
            <a:ext cx="19507200" cy="3336925"/>
          </a:xfrm>
          <a:prstGeom prst="rect">
            <a:avLst/>
          </a:prstGeom>
          <a:noFill/>
          <a:ln w="9525">
            <a:noFill/>
          </a:ln>
        </p:spPr>
        <p:txBody>
          <a:bodyPr lIns="91436" tIns="91436" rIns="91436" bIns="91436" anchor="ctr"/>
          <a:lstStyle/>
          <a:p>
            <a:pPr lvl="0"/>
            <a:r>
              <a:rPr lang="zh-CN" altLang="zh-CN" dirty="0"/>
              <a:t>标题文本</a:t>
            </a:r>
          </a:p>
        </p:txBody>
      </p:sp>
      <p:sp>
        <p:nvSpPr>
          <p:cNvPr id="1030" name="正文级别 1…"/>
          <p:cNvSpPr>
            <a:spLocks noGrp="1"/>
          </p:cNvSpPr>
          <p:nvPr>
            <p:ph type="body"/>
          </p:nvPr>
        </p:nvSpPr>
        <p:spPr>
          <a:xfrm>
            <a:off x="13609638" y="4876800"/>
            <a:ext cx="9550400" cy="8839200"/>
          </a:xfrm>
          <a:prstGeom prst="rect">
            <a:avLst/>
          </a:prstGeom>
          <a:noFill/>
          <a:ln w="9525">
            <a:noFill/>
          </a:ln>
        </p:spPr>
        <p:txBody>
          <a:bodyPr lIns="91436" tIns="91436" rIns="91436" bIns="91436"/>
          <a:lstStyle/>
          <a:p>
            <a:pPr lvl="0"/>
            <a:r>
              <a:rPr lang="zh-CN" altLang="zh-CN" dirty="0"/>
              <a:t>正文级别 1</a:t>
            </a:r>
          </a:p>
          <a:p>
            <a:pPr lvl="1"/>
            <a:r>
              <a:rPr lang="zh-CN" altLang="zh-CN" dirty="0"/>
              <a:t>正文级别 2</a:t>
            </a:r>
          </a:p>
          <a:p>
            <a:pPr lvl="2"/>
            <a:r>
              <a:rPr lang="zh-CN" altLang="zh-CN" dirty="0"/>
              <a:t>正文级别 3</a:t>
            </a:r>
          </a:p>
          <a:p>
            <a:pPr lvl="3"/>
            <a:r>
              <a:rPr lang="zh-CN" altLang="zh-CN" dirty="0"/>
              <a:t>正文级别 4</a:t>
            </a:r>
          </a:p>
          <a:p>
            <a:pPr lvl="4"/>
            <a:r>
              <a:rPr lang="zh-CN" altLang="zh-CN" dirty="0"/>
              <a:t>正文级别 5</a:t>
            </a:r>
          </a:p>
        </p:txBody>
      </p:sp>
      <p:sp>
        <p:nvSpPr>
          <p:cNvPr id="1031" name="幻灯片编号"/>
          <p:cNvSpPr>
            <a:spLocks noGrp="1" noChangeArrowheads="1"/>
          </p:cNvSpPr>
          <p:nvPr>
            <p:ph type="sldNum" sz="quarter" idx="2"/>
          </p:nvPr>
        </p:nvSpPr>
        <p:spPr bwMode="auto">
          <a:xfrm>
            <a:off x="11666538" y="13269913"/>
            <a:ext cx="3222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36" tIns="91436" rIns="91436" bIns="91436" numCol="1" anchor="ctr" anchorCtr="0" compatLnSpc="1">
            <a:spAutoFit/>
          </a:bodyPr>
          <a:lstStyle>
            <a:lvl1pPr algn="r" eaLnBrk="0" hangingPunct="0">
              <a:spcBef>
                <a:spcPts val="3200"/>
              </a:spcBef>
              <a:buFont typeface="Arial" panose="020B0604020202020204" pitchFamily="34" charset="0"/>
              <a:buNone/>
              <a:defRPr sz="2000">
                <a:cs typeface="+mn-cs"/>
                <a:sym typeface="Arial" panose="020B0604020202020204" pitchFamily="34" charset="0"/>
              </a:defRPr>
            </a:lvl1pPr>
          </a:lstStyle>
          <a:p>
            <a:pPr marL="0" marR="0" lvl="0" indent="0" algn="r" defTabSz="1828800" rtl="0" eaLnBrk="0" fontAlgn="base" latinLnBrk="0" hangingPunct="0">
              <a:lnSpc>
                <a:spcPct val="100000"/>
              </a:lnSpc>
              <a:spcBef>
                <a:spcPts val="3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0139DBE-F4DB-4660-B0AE-EFBEB0C40E0E}" type="slidenum"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pPr marL="0" marR="0" lvl="0" indent="0" algn="r" defTabSz="1828800" rtl="0" eaLnBrk="0" fontAlgn="base" latinLnBrk="0" hangingPunct="0">
                <a:lnSpc>
                  <a:spcPct val="100000"/>
                </a:lnSpc>
                <a:spcBef>
                  <a:spcPts val="32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t>‹#›</a:t>
            </a:fld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med"/>
  <p:hf sldNum="0" hdr="0" ftr="0" dt="0"/>
  <p:txStyles>
    <p:titleStyle>
      <a:lvl1pPr algn="ctr" defTabSz="1828800" rtl="0" eaLnBrk="0" fontAlgn="base" hangingPunct="0">
        <a:spcBef>
          <a:spcPts val="3200"/>
        </a:spcBef>
        <a:spcAft>
          <a:spcPct val="0"/>
        </a:spcAft>
        <a:defRPr sz="8800" kern="1200">
          <a:solidFill>
            <a:srgbClr val="000000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ctr" defTabSz="1828800" rtl="0" eaLnBrk="0" fontAlgn="base" hangingPunct="0">
        <a:spcBef>
          <a:spcPts val="3200"/>
        </a:spcBef>
        <a:spcAft>
          <a:spcPct val="0"/>
        </a:spcAft>
        <a:defRPr sz="88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2pPr>
      <a:lvl3pPr algn="ctr" defTabSz="1828800" rtl="0" eaLnBrk="0" fontAlgn="base" hangingPunct="0">
        <a:spcBef>
          <a:spcPts val="3200"/>
        </a:spcBef>
        <a:spcAft>
          <a:spcPct val="0"/>
        </a:spcAft>
        <a:defRPr sz="88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3pPr>
      <a:lvl4pPr algn="ctr" defTabSz="1828800" rtl="0" eaLnBrk="0" fontAlgn="base" hangingPunct="0">
        <a:spcBef>
          <a:spcPts val="3200"/>
        </a:spcBef>
        <a:spcAft>
          <a:spcPct val="0"/>
        </a:spcAft>
        <a:defRPr sz="88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4pPr>
      <a:lvl5pPr algn="ctr" defTabSz="1828800" rtl="0" eaLnBrk="0" fontAlgn="base" hangingPunct="0">
        <a:spcBef>
          <a:spcPts val="3200"/>
        </a:spcBef>
        <a:spcAft>
          <a:spcPct val="0"/>
        </a:spcAft>
        <a:defRPr sz="88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5pPr>
      <a:lvl6pPr marL="457200" algn="ctr" defTabSz="1828800" rtl="0" fontAlgn="base">
        <a:spcBef>
          <a:spcPts val="3200"/>
        </a:spcBef>
        <a:spcAft>
          <a:spcPct val="0"/>
        </a:spcAft>
        <a:defRPr sz="88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6pPr>
      <a:lvl7pPr marL="914400" algn="ctr" defTabSz="1828800" rtl="0" fontAlgn="base">
        <a:spcBef>
          <a:spcPts val="3200"/>
        </a:spcBef>
        <a:spcAft>
          <a:spcPct val="0"/>
        </a:spcAft>
        <a:defRPr sz="88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7pPr>
      <a:lvl8pPr marL="1371600" algn="ctr" defTabSz="1828800" rtl="0" fontAlgn="base">
        <a:spcBef>
          <a:spcPts val="3200"/>
        </a:spcBef>
        <a:spcAft>
          <a:spcPct val="0"/>
        </a:spcAft>
        <a:defRPr sz="88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8pPr>
      <a:lvl9pPr marL="1828800" algn="ctr" defTabSz="1828800" rtl="0" fontAlgn="base">
        <a:spcBef>
          <a:spcPts val="3200"/>
        </a:spcBef>
        <a:spcAft>
          <a:spcPct val="0"/>
        </a:spcAft>
        <a:defRPr sz="88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9pPr>
    </p:titleStyle>
    <p:bodyStyle>
      <a:lvl1pPr marL="685800" indent="-685800" algn="ctr" defTabSz="1828800" rtl="0" eaLnBrk="0" fontAlgn="base" hangingPunct="0">
        <a:spcBef>
          <a:spcPts val="1400"/>
        </a:spcBef>
        <a:spcAft>
          <a:spcPct val="0"/>
        </a:spcAft>
        <a:buSzPct val="100000"/>
        <a:buChar char="•"/>
        <a:defRPr sz="6400" b="1" kern="1200">
          <a:solidFill>
            <a:srgbClr val="000000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1219200" indent="-1219200" algn="ctr" defTabSz="1828800" rtl="0" eaLnBrk="0" fontAlgn="base" hangingPunct="0">
        <a:spcBef>
          <a:spcPts val="1400"/>
        </a:spcBef>
        <a:spcAft>
          <a:spcPct val="0"/>
        </a:spcAft>
        <a:buSzPct val="100000"/>
        <a:buChar char="•"/>
        <a:defRPr sz="6400" b="1" kern="1200">
          <a:solidFill>
            <a:srgbClr val="000000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219200" indent="-1219200" algn="ctr" defTabSz="1828800" rtl="0" eaLnBrk="0" fontAlgn="base" hangingPunct="0">
        <a:spcBef>
          <a:spcPts val="1400"/>
        </a:spcBef>
        <a:spcAft>
          <a:spcPct val="0"/>
        </a:spcAft>
        <a:buSzPct val="100000"/>
        <a:buChar char="•"/>
        <a:defRPr sz="6400" b="1" kern="1200">
          <a:solidFill>
            <a:srgbClr val="000000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219200" indent="-1219200" algn="ctr" defTabSz="1828800" rtl="0" eaLnBrk="0" fontAlgn="base" hangingPunct="0">
        <a:spcBef>
          <a:spcPts val="1400"/>
        </a:spcBef>
        <a:spcAft>
          <a:spcPct val="0"/>
        </a:spcAft>
        <a:buSzPct val="100000"/>
        <a:buChar char="•"/>
        <a:defRPr sz="6400" b="1" kern="1200">
          <a:solidFill>
            <a:srgbClr val="000000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219200" indent="-1219200" algn="ctr" defTabSz="1828800" rtl="0" eaLnBrk="0" fontAlgn="base" hangingPunct="0">
        <a:spcBef>
          <a:spcPts val="1400"/>
        </a:spcBef>
        <a:spcAft>
          <a:spcPct val="0"/>
        </a:spcAft>
        <a:buSzPct val="100000"/>
        <a:buChar char="•"/>
        <a:defRPr sz="6400" b="1" kern="1200">
          <a:solidFill>
            <a:srgbClr val="000000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tif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1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tiff"/><Relationship Id="rId7" Type="http://schemas.openxmlformats.org/officeDocument/2006/relationships/image" Target="../media/image51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jpeg"/><Relationship Id="rId5" Type="http://schemas.openxmlformats.org/officeDocument/2006/relationships/image" Target="../media/image49.jpeg"/><Relationship Id="rId4" Type="http://schemas.openxmlformats.org/officeDocument/2006/relationships/image" Target="../media/image48.tif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FM_T1_MAGNET,X1758_810-09111–04"/>
          <p:cNvSpPr/>
          <p:nvPr/>
        </p:nvSpPr>
        <p:spPr>
          <a:xfrm>
            <a:off x="411162" y="5331575"/>
            <a:ext cx="23561675" cy="923322"/>
          </a:xfrm>
          <a:prstGeom prst="rect">
            <a:avLst/>
          </a:prstGeom>
          <a:noFill/>
          <a:ln w="9525">
            <a:noFill/>
          </a:ln>
        </p:spPr>
        <p:txBody>
          <a:bodyPr wrap="square" lIns="91436" tIns="91436" rIns="91436" bIns="91436">
            <a:spAutoFit/>
          </a:bodyPr>
          <a:lstStyle/>
          <a:p>
            <a:pPr algn="ctr">
              <a:spcBef>
                <a:spcPts val="3200"/>
              </a:spcBef>
            </a:pPr>
            <a:r>
              <a:rPr lang="en-US" altLang="zh-CN" sz="4800" dirty="0">
                <a:cs typeface="Arial" panose="020B0604020202020204" pitchFamily="34" charset="0"/>
              </a:rPr>
              <a:t>DFM_RAMP_MAGNET_RADIAL_ M1 MAGNETIZED_TE_B747_160-05689-91</a:t>
            </a:r>
            <a:endParaRPr lang="da-DK" altLang="zh-CN" sz="4800" dirty="0">
              <a:cs typeface="Arial" panose="020B0604020202020204" pitchFamily="34" charset="0"/>
            </a:endParaRPr>
          </a:p>
        </p:txBody>
      </p:sp>
      <p:sp>
        <p:nvSpPr>
          <p:cNvPr id="6" name="Date:2019-04-16"/>
          <p:cNvSpPr/>
          <p:nvPr/>
        </p:nvSpPr>
        <p:spPr>
          <a:xfrm>
            <a:off x="16149638" y="8177491"/>
            <a:ext cx="3473450" cy="1190069"/>
          </a:xfrm>
          <a:prstGeom prst="rect">
            <a:avLst/>
          </a:prstGeom>
          <a:noFill/>
          <a:ln w="9525">
            <a:noFill/>
          </a:ln>
        </p:spPr>
        <p:txBody>
          <a:bodyPr lIns="101600" tIns="101600" rIns="101600" bIns="101600" anchor="ctr">
            <a:spAutoFit/>
          </a:bodyPr>
          <a:lstStyle/>
          <a:p>
            <a:pPr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3200" dirty="0">
                <a:cs typeface="Arial" panose="020B0604020202020204" pitchFamily="34" charset="0"/>
              </a:rPr>
              <a:t>Date: 20</a:t>
            </a:r>
            <a:r>
              <a:rPr lang="en-US" altLang="zh-CN" sz="3200" dirty="0">
                <a:cs typeface="Arial" panose="020B0604020202020204" pitchFamily="34" charset="0"/>
                <a:sym typeface="Helvetica" charset="0"/>
              </a:rPr>
              <a:t>25/06/24</a:t>
            </a:r>
            <a:endParaRPr lang="zh-CN" altLang="en-US" sz="3200" dirty="0">
              <a:cs typeface="Arial" panose="020B0604020202020204" pitchFamily="34" charset="0"/>
              <a:sym typeface="Helvetica" charset="0"/>
            </a:endParaRPr>
          </a:p>
          <a:p>
            <a:pPr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3200" dirty="0">
                <a:cs typeface="Arial" panose="020B0604020202020204" pitchFamily="34" charset="0"/>
              </a:rPr>
              <a:t>R</a:t>
            </a:r>
            <a:r>
              <a:rPr lang="en-US" altLang="zh-CN" sz="3200" dirty="0" err="1">
                <a:cs typeface="Arial" panose="020B0604020202020204" pitchFamily="34" charset="0"/>
              </a:rPr>
              <a:t>ev</a:t>
            </a:r>
            <a:r>
              <a:rPr lang="en-US" altLang="zh-CN" sz="3200" dirty="0">
                <a:cs typeface="Arial" panose="020B0604020202020204" pitchFamily="34" charset="0"/>
              </a:rPr>
              <a:t>.</a:t>
            </a:r>
            <a:r>
              <a:rPr lang="zh-CN" altLang="en-US" sz="3200" dirty="0">
                <a:cs typeface="Arial" panose="020B0604020202020204" pitchFamily="34" charset="0"/>
              </a:rPr>
              <a:t>: </a:t>
            </a:r>
            <a:r>
              <a:rPr lang="en-US" altLang="zh-CN" sz="3200" dirty="0">
                <a:cs typeface="Arial" panose="020B0604020202020204" pitchFamily="34" charset="0"/>
                <a:sym typeface="Helvetica" charset="0"/>
              </a:rPr>
              <a:t>91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X1758 / Revision list："/>
          <p:cNvSpPr/>
          <p:nvPr/>
        </p:nvSpPr>
        <p:spPr>
          <a:xfrm>
            <a:off x="361950" y="908050"/>
            <a:ext cx="16362363" cy="923925"/>
          </a:xfrm>
          <a:prstGeom prst="rect">
            <a:avLst/>
          </a:prstGeom>
          <a:noFill/>
          <a:ln w="9525">
            <a:noFill/>
          </a:ln>
        </p:spPr>
        <p:txBody>
          <a:bodyPr lIns="91436" tIns="91436" rIns="91436" bIns="91436">
            <a:spAutoFit/>
          </a:bodyPr>
          <a:lstStyle/>
          <a:p>
            <a:pPr>
              <a:spcBef>
                <a:spcPts val="2800"/>
              </a:spcBef>
              <a:buFont typeface="Arial" panose="020B0604020202020204" pitchFamily="34" charset="0"/>
              <a:buNone/>
            </a:pPr>
            <a:r>
              <a:rPr lang="en-US" altLang="zh-CN" sz="4800" dirty="0">
                <a:solidFill>
                  <a:srgbClr val="004D8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sym typeface="Lucida Grande" charset="0"/>
              </a:rPr>
              <a:t>B747 </a:t>
            </a:r>
            <a:r>
              <a:rPr lang="en-US" altLang="zh-CN" sz="4800" dirty="0">
                <a:latin typeface="Helvetica" charset="0"/>
                <a:sym typeface="Helvetica" charset="0"/>
              </a:rPr>
              <a:t>| Revision List</a:t>
            </a:r>
            <a:endParaRPr lang="zh-CN" altLang="en-US" sz="4800" dirty="0">
              <a:latin typeface="Arial" panose="020B0604020202020204" pitchFamily="34" charset="0"/>
            </a:endParaRPr>
          </a:p>
        </p:txBody>
      </p:sp>
      <p:graphicFrame>
        <p:nvGraphicFramePr>
          <p:cNvPr id="4" name="Group 3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59490533"/>
              </p:ext>
            </p:extLst>
          </p:nvPr>
        </p:nvGraphicFramePr>
        <p:xfrm>
          <a:off x="1246188" y="2933700"/>
          <a:ext cx="21893212" cy="7276158"/>
        </p:xfrm>
        <a:graphic>
          <a:graphicData uri="http://schemas.openxmlformats.org/drawingml/2006/table">
            <a:tbl>
              <a:tblPr/>
              <a:tblGrid>
                <a:gridCol w="2287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0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63625">
                <a:tc>
                  <a:txBody>
                    <a:bodyPr/>
                    <a:lstStyle>
                      <a:lvl1pPr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457200" indent="-4572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914400" indent="-9144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371600" indent="-13716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1828800" indent="-18288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8288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0" lang="zh-CN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Rev.</a:t>
                      </a:r>
                    </a:p>
                  </a:txBody>
                  <a:tcPr marL="38106" marR="38106" marT="38106" marB="381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457200" indent="-4572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914400" indent="-9144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371600" indent="-13716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1828800" indent="-18288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8288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0" lang="zh-CN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Description</a:t>
                      </a:r>
                    </a:p>
                  </a:txBody>
                  <a:tcPr marL="38106" marR="38106" marT="38106" marB="381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457200" indent="-4572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914400" indent="-9144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371600" indent="-13716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1828800" indent="-18288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8288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0" lang="zh-CN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Date</a:t>
                      </a:r>
                    </a:p>
                  </a:txBody>
                  <a:tcPr marL="38106" marR="38106" marT="38106" marB="381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7113">
                <a:tc>
                  <a:txBody>
                    <a:bodyPr/>
                    <a:lstStyle>
                      <a:lvl1pPr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457200" indent="-4572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914400" indent="-9144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371600" indent="-13716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1828800" indent="-18288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8288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01</a:t>
                      </a:r>
                    </a:p>
                  </a:txBody>
                  <a:tcPr marL="50804" marR="50804" marT="50804" marB="508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457200" indent="-4572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914400" indent="-9144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371600" indent="-13716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1828800" indent="-18288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algn="l" defTabSz="1828800" rtl="0" eaLnBrk="1" fontAlgn="base" latinLnBrk="0" hangingPunct="0">
                        <a:lnSpc>
                          <a:spcPct val="100000"/>
                        </a:lnSpc>
                        <a:buClrTx/>
                        <a:buSzPct val="100000"/>
                        <a:buFontTx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Initial Release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50804" marR="50804" marT="50804" marB="508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457200" indent="-4572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914400" indent="-9144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371600" indent="-13716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1828800" indent="-1828800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indent="-1828800" algn="ctr" defTabSz="1828800" fontAlgn="base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algn="ctr" defTabSz="1828800" rtl="0" eaLnBrk="1" fontAlgn="base" latinLnBrk="0" hangingPunct="0">
                        <a:lnSpc>
                          <a:spcPct val="100000"/>
                        </a:lnSpc>
                        <a:spcBef>
                          <a:spcPts val="1400"/>
                        </a:spcBef>
                        <a:buClrTx/>
                        <a:buSzPct val="100000"/>
                        <a:buFontTx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20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Helvetica" charset="0"/>
                        </a:rPr>
                        <a:t>24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/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Helvetica" charset="0"/>
                        </a:rPr>
                        <a:t>12/05</a:t>
                      </a:r>
                    </a:p>
                  </a:txBody>
                  <a:tcPr marL="38106" marR="38106" marT="38106" marB="381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7113">
                <a:tc>
                  <a:txBody>
                    <a:bodyPr/>
                    <a:lstStyle/>
                    <a:p>
                      <a:pPr marL="0" marR="0" lvl="0" indent="0" algn="ctr" defTabSz="18288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1.1</a:t>
                      </a:r>
                    </a:p>
                  </a:txBody>
                  <a:tcPr marL="50804" marR="50804" marT="50804" marB="508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800" rtl="0" eaLnBrk="1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On page 11, the wire</a:t>
                      </a:r>
                      <a:r>
                        <a:rPr kumimoji="0" lang="zh-CN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saw</a:t>
                      </a:r>
                      <a:r>
                        <a:rPr kumimoji="0" lang="en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cutting method was changed from straight lines to arcs, and the</a:t>
                      </a:r>
                      <a:r>
                        <a:rPr kumimoji="0" lang="zh-CN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wire</a:t>
                      </a:r>
                      <a:r>
                        <a:rPr kumimoji="0" lang="zh-CN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saw</a:t>
                      </a:r>
                      <a:r>
                        <a:rPr kumimoji="0" lang="en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parameters were changed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;</a:t>
                      </a:r>
                    </a:p>
                  </a:txBody>
                  <a:tcPr marL="50804" marR="50804" marT="50804" marB="508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ctr" defTabSz="1828800" rtl="0" eaLnBrk="1" fontAlgn="base" latinLnBrk="0" hangingPunct="0">
                        <a:lnSpc>
                          <a:spcPct val="100000"/>
                        </a:lnSpc>
                        <a:spcBef>
                          <a:spcPts val="1400"/>
                        </a:spcBef>
                        <a:buClrTx/>
                        <a:buSzPct val="100000"/>
                        <a:buFontTx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Helvetica" charset="0"/>
                        </a:rPr>
                        <a:t>2024/02/10</a:t>
                      </a:r>
                    </a:p>
                  </a:txBody>
                  <a:tcPr marL="38106" marR="38106" marT="38106" marB="381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106290"/>
                  </a:ext>
                </a:extLst>
              </a:tr>
              <a:tr h="1027113">
                <a:tc>
                  <a:txBody>
                    <a:bodyPr/>
                    <a:lstStyle/>
                    <a:p>
                      <a:pPr marL="0" marR="0" lvl="0" indent="0" algn="ctr" defTabSz="18288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02</a:t>
                      </a:r>
                    </a:p>
                  </a:txBody>
                  <a:tcPr marL="50804" marR="50804" marT="50804" marB="508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 defTabSz="1828800" rtl="0" eaLnBrk="1" fontAlgn="base" latinLnBrk="0" hangingPunct="0">
                        <a:lnSpc>
                          <a:spcPct val="100000"/>
                        </a:lnSpc>
                        <a:buClrTx/>
                        <a:buSzPct val="100000"/>
                        <a:buFontTx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Update 2D Drawing</a:t>
                      </a:r>
                    </a:p>
                  </a:txBody>
                  <a:tcPr marL="50804" marR="50804" marT="50804" marB="508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0" eaLnBrk="1" fontAlgn="base" latinLnBrk="0" hangingPunct="0">
                        <a:lnSpc>
                          <a:spcPct val="100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20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Helvetica" charset="0"/>
                        </a:rPr>
                        <a:t>25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/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Helvetica" charset="0"/>
                        </a:rPr>
                        <a:t>03/04</a:t>
                      </a:r>
                    </a:p>
                  </a:txBody>
                  <a:tcPr marL="38106" marR="38106" marT="38106" marB="381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3076745"/>
                  </a:ext>
                </a:extLst>
              </a:tr>
              <a:tr h="1027113">
                <a:tc>
                  <a:txBody>
                    <a:bodyPr/>
                    <a:lstStyle/>
                    <a:p>
                      <a:pPr marL="0" marR="0" lvl="0" indent="0" algn="ctr" defTabSz="18288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03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50804" marR="50804" marT="50804" marB="508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800" rtl="0" eaLnBrk="1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Update 2D Drawing</a:t>
                      </a:r>
                    </a:p>
                  </a:txBody>
                  <a:tcPr marL="50804" marR="50804" marT="50804" marB="508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0" eaLnBrk="1" fontAlgn="base" latinLnBrk="0" hangingPunct="0">
                        <a:lnSpc>
                          <a:spcPct val="100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20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Helvetica" charset="0"/>
                        </a:rPr>
                        <a:t>25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/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Helvetica" charset="0"/>
                        </a:rPr>
                        <a:t>05/09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cs typeface="Arial" panose="020B0604020202020204" pitchFamily="34" charset="0"/>
                        <a:sym typeface="Helvetica" charset="0"/>
                      </a:endParaRPr>
                    </a:p>
                  </a:txBody>
                  <a:tcPr marL="38106" marR="38106" marT="38106" marB="381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980845"/>
                  </a:ext>
                </a:extLst>
              </a:tr>
              <a:tr h="1027113">
                <a:tc>
                  <a:txBody>
                    <a:bodyPr/>
                    <a:lstStyle/>
                    <a:p>
                      <a:pPr marL="0" marR="0" lvl="0" indent="0" algn="ctr" defTabSz="18288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04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50804" marR="50804" marT="50804" marB="508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800" rtl="0" eaLnBrk="1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Update 2D Drawing</a:t>
                      </a:r>
                    </a:p>
                  </a:txBody>
                  <a:tcPr marL="50804" marR="50804" marT="50804" marB="508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0" eaLnBrk="1" fontAlgn="base" latinLnBrk="0" hangingPunct="0">
                        <a:lnSpc>
                          <a:spcPct val="100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20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Helvetica" charset="0"/>
                        </a:rPr>
                        <a:t>25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/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Helvetica" charset="0"/>
                        </a:rPr>
                        <a:t>06/20</a:t>
                      </a:r>
                    </a:p>
                  </a:txBody>
                  <a:tcPr marL="38106" marR="38106" marT="38106" marB="381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092283"/>
                  </a:ext>
                </a:extLst>
              </a:tr>
              <a:tr h="1027113">
                <a:tc>
                  <a:txBody>
                    <a:bodyPr/>
                    <a:lstStyle/>
                    <a:p>
                      <a:pPr marL="0" marR="0" lvl="0" indent="0" algn="ctr" defTabSz="18288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91</a:t>
                      </a:r>
                    </a:p>
                  </a:txBody>
                  <a:tcPr marL="50804" marR="50804" marT="50804" marB="508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800" rtl="0" eaLnBrk="1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Page 17 has been updated to automatic magnetization &amp; laser marking line</a:t>
                      </a:r>
                    </a:p>
                  </a:txBody>
                  <a:tcPr marL="50804" marR="50804" marT="50804" marB="508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0" eaLnBrk="1" fontAlgn="base" latinLnBrk="0" hangingPunct="0">
                        <a:lnSpc>
                          <a:spcPct val="100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20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Helvetica" charset="0"/>
                        </a:rPr>
                        <a:t>25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/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cs typeface="Arial" panose="020B0604020202020204" pitchFamily="34" charset="0"/>
                          <a:sym typeface="Helvetica" charset="0"/>
                        </a:rPr>
                        <a:t>06/30</a:t>
                      </a:r>
                    </a:p>
                  </a:txBody>
                  <a:tcPr marL="38106" marR="38106" marT="38106" marB="381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82122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X1758 / Revision list："/>
          <p:cNvSpPr/>
          <p:nvPr/>
        </p:nvSpPr>
        <p:spPr>
          <a:xfrm>
            <a:off x="361950" y="908050"/>
            <a:ext cx="16362363" cy="920115"/>
          </a:xfrm>
          <a:prstGeom prst="rect">
            <a:avLst/>
          </a:prstGeom>
          <a:noFill/>
          <a:ln w="9525">
            <a:noFill/>
          </a:ln>
        </p:spPr>
        <p:txBody>
          <a:bodyPr lIns="91436" tIns="91436" rIns="91436" bIns="91436">
            <a:spAutoFit/>
          </a:bodyPr>
          <a:lstStyle/>
          <a:p>
            <a:pPr>
              <a:spcBef>
                <a:spcPts val="2800"/>
              </a:spcBef>
              <a:buFont typeface="Arial" panose="020B0604020202020204" pitchFamily="34" charset="0"/>
              <a:buNone/>
            </a:pPr>
            <a:r>
              <a:rPr lang="en-US" altLang="zh-CN" sz="4800" dirty="0">
                <a:solidFill>
                  <a:srgbClr val="004D8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sym typeface="Helvetica" charset="0"/>
              </a:rPr>
              <a:t>B747 </a:t>
            </a:r>
            <a:r>
              <a:rPr lang="en-US" altLang="zh-CN" sz="4800" dirty="0">
                <a:latin typeface="Helvetica" charset="0"/>
                <a:sym typeface="Helvetica" charset="0"/>
              </a:rPr>
              <a:t>| Product Information</a:t>
            </a:r>
            <a:endParaRPr lang="zh-CN" altLang="en-US" sz="4800" dirty="0"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144" y="2465512"/>
            <a:ext cx="15049672" cy="943160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X1758 / Revision list："/>
          <p:cNvSpPr/>
          <p:nvPr/>
        </p:nvSpPr>
        <p:spPr>
          <a:xfrm>
            <a:off x="361950" y="908050"/>
            <a:ext cx="16362363" cy="920115"/>
          </a:xfrm>
          <a:prstGeom prst="rect">
            <a:avLst/>
          </a:prstGeom>
          <a:noFill/>
          <a:ln w="9525">
            <a:noFill/>
          </a:ln>
        </p:spPr>
        <p:txBody>
          <a:bodyPr lIns="91436" tIns="91436" rIns="91436" bIns="91436">
            <a:spAutoFit/>
          </a:bodyPr>
          <a:lstStyle/>
          <a:p>
            <a:pPr>
              <a:spcBef>
                <a:spcPts val="2800"/>
              </a:spcBef>
            </a:pPr>
            <a:r>
              <a:rPr lang="en-US" altLang="zh-CN" sz="4800" dirty="0">
                <a:solidFill>
                  <a:srgbClr val="004D8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sym typeface="Helvetica" charset="0"/>
              </a:rPr>
              <a:t>B747 </a:t>
            </a:r>
            <a:r>
              <a:rPr lang="en-US" altLang="zh-CN" sz="4800" dirty="0">
                <a:solidFill>
                  <a:schemeClr val="tx1"/>
                </a:solidFill>
                <a:latin typeface="Arial" panose="020B0604020202020204" pitchFamily="34" charset="0"/>
              </a:rPr>
              <a:t>|</a:t>
            </a:r>
            <a:r>
              <a:rPr lang="en-US" altLang="zh-CN" sz="4800" dirty="0">
                <a:latin typeface="Helvetica" charset="0"/>
                <a:sym typeface="Helvetica" charset="0"/>
              </a:rPr>
              <a:t> </a:t>
            </a:r>
            <a:r>
              <a:rPr lang="en-US" altLang="zh-CN" sz="4800" dirty="0">
                <a:cs typeface="Arial" panose="020B0604020202020204" pitchFamily="34" charset="0"/>
                <a:sym typeface="Helvetica" charset="0"/>
              </a:rPr>
              <a:t>Process Flow Chart</a:t>
            </a:r>
            <a:endParaRPr lang="zh-CN" altLang="en-US" sz="4800" dirty="0">
              <a:latin typeface="Arial" panose="020B0604020202020204" pitchFamily="34" charset="0"/>
            </a:endParaRPr>
          </a:p>
        </p:txBody>
      </p:sp>
      <p:sp>
        <p:nvSpPr>
          <p:cNvPr id="56" name="AutoShape 7"/>
          <p:cNvSpPr/>
          <p:nvPr/>
        </p:nvSpPr>
        <p:spPr>
          <a:xfrm>
            <a:off x="2275614" y="3070860"/>
            <a:ext cx="3453997" cy="1149717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r>
              <a:rPr lang="en-US" altLang="zh-CN" sz="2800" dirty="0">
                <a:cs typeface="Arial" panose="020B0604020202020204" pitchFamily="34" charset="0"/>
              </a:rPr>
              <a:t>Block Magnet</a:t>
            </a:r>
          </a:p>
        </p:txBody>
      </p:sp>
      <p:sp>
        <p:nvSpPr>
          <p:cNvPr id="57" name="AutoShape 9"/>
          <p:cNvSpPr/>
          <p:nvPr/>
        </p:nvSpPr>
        <p:spPr>
          <a:xfrm>
            <a:off x="13055564" y="3070860"/>
            <a:ext cx="3453997" cy="1149717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r>
              <a:rPr lang="en-US" altLang="zh-CN" sz="2800" dirty="0">
                <a:cs typeface="Arial" panose="020B0604020202020204" pitchFamily="34" charset="0"/>
              </a:rPr>
              <a:t>1st Double Side Grinding</a:t>
            </a:r>
          </a:p>
        </p:txBody>
      </p:sp>
      <p:sp>
        <p:nvSpPr>
          <p:cNvPr id="58" name="AutoShape 10"/>
          <p:cNvSpPr/>
          <p:nvPr/>
        </p:nvSpPr>
        <p:spPr>
          <a:xfrm>
            <a:off x="7665589" y="3070860"/>
            <a:ext cx="3453997" cy="1149717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r>
              <a:rPr lang="en-US" altLang="zh-CN" sz="2800" dirty="0">
                <a:cs typeface="Arial" panose="020B0604020202020204" pitchFamily="34" charset="0"/>
              </a:rPr>
              <a:t>1st Wire Saw</a:t>
            </a:r>
          </a:p>
        </p:txBody>
      </p:sp>
      <p:sp>
        <p:nvSpPr>
          <p:cNvPr id="59" name="箭头"/>
          <p:cNvSpPr/>
          <p:nvPr/>
        </p:nvSpPr>
        <p:spPr>
          <a:xfrm>
            <a:off x="6247600" y="3429718"/>
            <a:ext cx="900000" cy="432000"/>
          </a:xfrm>
          <a:prstGeom prst="rightArrow">
            <a:avLst>
              <a:gd name="adj1" fmla="val 50000"/>
              <a:gd name="adj2" fmla="val 136754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endParaRPr lang="zh-CN" altLang="zh-CN" sz="2800" dirty="0">
              <a:cs typeface="Arial" panose="020B0604020202020204" pitchFamily="34" charset="0"/>
            </a:endParaRPr>
          </a:p>
        </p:txBody>
      </p:sp>
      <p:sp>
        <p:nvSpPr>
          <p:cNvPr id="60" name="AutoShape 13"/>
          <p:cNvSpPr/>
          <p:nvPr/>
        </p:nvSpPr>
        <p:spPr>
          <a:xfrm>
            <a:off x="18445538" y="3071584"/>
            <a:ext cx="3453997" cy="1148269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r>
              <a:rPr lang="en-US" altLang="zh-CN" sz="2800" dirty="0">
                <a:cs typeface="Arial" panose="020B0604020202020204" pitchFamily="34" charset="0"/>
              </a:rPr>
              <a:t>2nd Wire Saw</a:t>
            </a:r>
          </a:p>
        </p:txBody>
      </p:sp>
      <p:sp>
        <p:nvSpPr>
          <p:cNvPr id="61" name="AutoShape 16"/>
          <p:cNvSpPr/>
          <p:nvPr/>
        </p:nvSpPr>
        <p:spPr>
          <a:xfrm>
            <a:off x="13029922" y="5666007"/>
            <a:ext cx="3453997" cy="1149717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r>
              <a:rPr lang="en-US" altLang="zh-CN" sz="2800" dirty="0">
                <a:cs typeface="Arial" panose="020B0604020202020204" pitchFamily="34" charset="0"/>
              </a:rPr>
              <a:t>1st Profile Grinding</a:t>
            </a:r>
          </a:p>
        </p:txBody>
      </p:sp>
      <p:sp>
        <p:nvSpPr>
          <p:cNvPr id="62" name="AutoShape 17"/>
          <p:cNvSpPr/>
          <p:nvPr/>
        </p:nvSpPr>
        <p:spPr>
          <a:xfrm>
            <a:off x="7575495" y="5685155"/>
            <a:ext cx="3724275" cy="1150620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0"/>
              </a:spcBef>
            </a:pPr>
            <a:r>
              <a:rPr lang="en-US" altLang="zh-CN" sz="2800" dirty="0">
                <a:cs typeface="Arial" panose="020B0604020202020204" pitchFamily="34" charset="0"/>
              </a:rPr>
              <a:t>3rd Wire Saw</a:t>
            </a:r>
          </a:p>
        </p:txBody>
      </p:sp>
      <p:sp>
        <p:nvSpPr>
          <p:cNvPr id="63" name="AutoShape 29"/>
          <p:cNvSpPr/>
          <p:nvPr/>
        </p:nvSpPr>
        <p:spPr>
          <a:xfrm>
            <a:off x="18444014" y="10820283"/>
            <a:ext cx="3453997" cy="1149717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0"/>
              </a:spcBef>
            </a:pPr>
            <a:r>
              <a:rPr lang="en-US" altLang="zh-CN" sz="2800" dirty="0">
                <a:cs typeface="Arial" panose="020B0604020202020204" pitchFamily="34" charset="0"/>
              </a:rPr>
              <a:t>Magnetizing</a:t>
            </a:r>
          </a:p>
        </p:txBody>
      </p:sp>
      <p:sp>
        <p:nvSpPr>
          <p:cNvPr id="64" name="AutoShape 30"/>
          <p:cNvSpPr/>
          <p:nvPr/>
        </p:nvSpPr>
        <p:spPr>
          <a:xfrm>
            <a:off x="18435886" y="8261155"/>
            <a:ext cx="3452474" cy="1149717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0"/>
              </a:spcBef>
            </a:pPr>
            <a:r>
              <a:rPr lang="en-US" altLang="zh-CN" sz="2800" dirty="0">
                <a:cs typeface="Arial" panose="020B0604020202020204" pitchFamily="34" charset="0"/>
              </a:rPr>
              <a:t>AOI Inspection</a:t>
            </a:r>
          </a:p>
        </p:txBody>
      </p:sp>
      <p:sp>
        <p:nvSpPr>
          <p:cNvPr id="65" name="AutoShape 10"/>
          <p:cNvSpPr/>
          <p:nvPr/>
        </p:nvSpPr>
        <p:spPr>
          <a:xfrm>
            <a:off x="18445538" y="5685607"/>
            <a:ext cx="3452473" cy="1149717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2800" dirty="0">
                <a:cs typeface="Arial" panose="020B0604020202020204" pitchFamily="34" charset="0"/>
              </a:rPr>
              <a:t>2nd Double Side Grinding</a:t>
            </a:r>
          </a:p>
        </p:txBody>
      </p:sp>
      <p:sp>
        <p:nvSpPr>
          <p:cNvPr id="66" name="AutoShape 13"/>
          <p:cNvSpPr/>
          <p:nvPr/>
        </p:nvSpPr>
        <p:spPr>
          <a:xfrm>
            <a:off x="2275614" y="5685607"/>
            <a:ext cx="3453997" cy="1149717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r>
              <a:rPr lang="en-US" altLang="zh-CN" sz="2800" dirty="0">
                <a:cs typeface="Arial" panose="020B0604020202020204" pitchFamily="34" charset="0"/>
              </a:rPr>
              <a:t>2nd Profile Grinding</a:t>
            </a:r>
          </a:p>
        </p:txBody>
      </p:sp>
      <p:sp>
        <p:nvSpPr>
          <p:cNvPr id="67" name="AutoShape 10"/>
          <p:cNvSpPr/>
          <p:nvPr/>
        </p:nvSpPr>
        <p:spPr>
          <a:xfrm>
            <a:off x="7656000" y="8261155"/>
            <a:ext cx="3453997" cy="1149717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2000"/>
              </a:spcBef>
            </a:pPr>
            <a:r>
              <a:rPr lang="en-US" altLang="zh-CN" sz="2800" dirty="0">
                <a:cs typeface="Arial" panose="020B0604020202020204" pitchFamily="34" charset="0"/>
              </a:rPr>
              <a:t>Tumbling</a:t>
            </a:r>
          </a:p>
        </p:txBody>
      </p:sp>
      <p:sp>
        <p:nvSpPr>
          <p:cNvPr id="68" name="箭头"/>
          <p:cNvSpPr/>
          <p:nvPr/>
        </p:nvSpPr>
        <p:spPr>
          <a:xfrm rot="10740000">
            <a:off x="6202553" y="6044465"/>
            <a:ext cx="900000" cy="432000"/>
          </a:xfrm>
          <a:prstGeom prst="rightArrow">
            <a:avLst>
              <a:gd name="adj1" fmla="val 50000"/>
              <a:gd name="adj2" fmla="val 136355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endParaRPr lang="zh-CN" altLang="zh-CN" sz="2800" dirty="0">
              <a:cs typeface="Arial" panose="020B0604020202020204" pitchFamily="34" charset="0"/>
            </a:endParaRPr>
          </a:p>
        </p:txBody>
      </p:sp>
      <p:sp>
        <p:nvSpPr>
          <p:cNvPr id="69" name="AutoShape 7"/>
          <p:cNvSpPr/>
          <p:nvPr/>
        </p:nvSpPr>
        <p:spPr>
          <a:xfrm>
            <a:off x="13029921" y="8188129"/>
            <a:ext cx="3453997" cy="1149717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2000"/>
              </a:spcBef>
            </a:pPr>
            <a:r>
              <a:rPr lang="en-US" altLang="zh-CN" sz="2800" dirty="0">
                <a:cs typeface="Arial" panose="020B0604020202020204" pitchFamily="34" charset="0"/>
              </a:rPr>
              <a:t>Plating</a:t>
            </a:r>
          </a:p>
        </p:txBody>
      </p:sp>
      <p:sp>
        <p:nvSpPr>
          <p:cNvPr id="70" name="箭头"/>
          <p:cNvSpPr/>
          <p:nvPr/>
        </p:nvSpPr>
        <p:spPr>
          <a:xfrm rot="5340000">
            <a:off x="19798984" y="9825084"/>
            <a:ext cx="900000" cy="432000"/>
          </a:xfrm>
          <a:prstGeom prst="rightArrow">
            <a:avLst>
              <a:gd name="adj1" fmla="val 50000"/>
              <a:gd name="adj2" fmla="val 136580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endParaRPr lang="zh-CN" altLang="zh-CN" sz="2800" dirty="0">
              <a:cs typeface="Arial" panose="020B0604020202020204" pitchFamily="34" charset="0"/>
            </a:endParaRPr>
          </a:p>
        </p:txBody>
      </p:sp>
      <p:sp>
        <p:nvSpPr>
          <p:cNvPr id="71" name="箭头"/>
          <p:cNvSpPr/>
          <p:nvPr/>
        </p:nvSpPr>
        <p:spPr>
          <a:xfrm>
            <a:off x="11637575" y="3429718"/>
            <a:ext cx="900000" cy="432000"/>
          </a:xfrm>
          <a:prstGeom prst="rightArrow">
            <a:avLst>
              <a:gd name="adj1" fmla="val 50000"/>
              <a:gd name="adj2" fmla="val 136754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endParaRPr lang="zh-CN" altLang="zh-CN" sz="2800" dirty="0">
              <a:cs typeface="Arial" panose="020B0604020202020204" pitchFamily="34" charset="0"/>
            </a:endParaRPr>
          </a:p>
        </p:txBody>
      </p:sp>
      <p:sp>
        <p:nvSpPr>
          <p:cNvPr id="72" name="箭头"/>
          <p:cNvSpPr/>
          <p:nvPr/>
        </p:nvSpPr>
        <p:spPr>
          <a:xfrm>
            <a:off x="17027550" y="3429718"/>
            <a:ext cx="900000" cy="432000"/>
          </a:xfrm>
          <a:prstGeom prst="rightArrow">
            <a:avLst>
              <a:gd name="adj1" fmla="val 50000"/>
              <a:gd name="adj2" fmla="val 136754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endParaRPr lang="zh-CN" altLang="zh-CN" sz="2800" dirty="0">
              <a:cs typeface="Arial" panose="020B0604020202020204" pitchFamily="34" charset="0"/>
            </a:endParaRPr>
          </a:p>
        </p:txBody>
      </p:sp>
      <p:sp>
        <p:nvSpPr>
          <p:cNvPr id="73" name="箭头"/>
          <p:cNvSpPr/>
          <p:nvPr/>
        </p:nvSpPr>
        <p:spPr>
          <a:xfrm rot="5340000">
            <a:off x="19803553" y="4736730"/>
            <a:ext cx="900000" cy="432000"/>
          </a:xfrm>
          <a:prstGeom prst="rightArrow">
            <a:avLst>
              <a:gd name="adj1" fmla="val 50000"/>
              <a:gd name="adj2" fmla="val 135941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endParaRPr lang="zh-CN" altLang="zh-CN" sz="2800" dirty="0">
              <a:cs typeface="Arial" panose="020B0604020202020204" pitchFamily="34" charset="0"/>
            </a:endParaRPr>
          </a:p>
        </p:txBody>
      </p:sp>
      <p:sp>
        <p:nvSpPr>
          <p:cNvPr id="74" name="箭头"/>
          <p:cNvSpPr/>
          <p:nvPr/>
        </p:nvSpPr>
        <p:spPr>
          <a:xfrm rot="10740000">
            <a:off x="17072594" y="6044465"/>
            <a:ext cx="900000" cy="432000"/>
          </a:xfrm>
          <a:prstGeom prst="rightArrow">
            <a:avLst>
              <a:gd name="adj1" fmla="val 50000"/>
              <a:gd name="adj2" fmla="val 136355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endParaRPr lang="zh-CN" altLang="zh-CN" sz="2800" dirty="0">
              <a:cs typeface="Arial" panose="020B0604020202020204" pitchFamily="34" charset="0"/>
            </a:endParaRPr>
          </a:p>
        </p:txBody>
      </p:sp>
      <p:sp>
        <p:nvSpPr>
          <p:cNvPr id="75" name="箭头"/>
          <p:cNvSpPr/>
          <p:nvPr/>
        </p:nvSpPr>
        <p:spPr>
          <a:xfrm rot="10740000">
            <a:off x="11772712" y="6044465"/>
            <a:ext cx="900000" cy="432000"/>
          </a:xfrm>
          <a:prstGeom prst="rightArrow">
            <a:avLst>
              <a:gd name="adj1" fmla="val 50000"/>
              <a:gd name="adj2" fmla="val 136355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endParaRPr lang="zh-CN" altLang="zh-CN" sz="2800" dirty="0">
              <a:cs typeface="Arial" panose="020B0604020202020204" pitchFamily="34" charset="0"/>
            </a:endParaRPr>
          </a:p>
        </p:txBody>
      </p:sp>
      <p:sp>
        <p:nvSpPr>
          <p:cNvPr id="76" name="箭头"/>
          <p:cNvSpPr/>
          <p:nvPr/>
        </p:nvSpPr>
        <p:spPr>
          <a:xfrm rot="5340000">
            <a:off x="3495042" y="7484298"/>
            <a:ext cx="900000" cy="432000"/>
          </a:xfrm>
          <a:prstGeom prst="rightArrow">
            <a:avLst>
              <a:gd name="adj1" fmla="val 50000"/>
              <a:gd name="adj2" fmla="val 13657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endParaRPr lang="zh-CN" altLang="zh-CN" sz="2800" dirty="0">
              <a:cs typeface="Arial" panose="020B0604020202020204" pitchFamily="34" charset="0"/>
            </a:endParaRPr>
          </a:p>
        </p:txBody>
      </p:sp>
      <p:sp>
        <p:nvSpPr>
          <p:cNvPr id="77" name="箭头"/>
          <p:cNvSpPr/>
          <p:nvPr/>
        </p:nvSpPr>
        <p:spPr>
          <a:xfrm>
            <a:off x="11627970" y="8620013"/>
            <a:ext cx="900000" cy="432000"/>
          </a:xfrm>
          <a:prstGeom prst="rightArrow">
            <a:avLst>
              <a:gd name="adj1" fmla="val 50000"/>
              <a:gd name="adj2" fmla="val 136754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endParaRPr lang="zh-CN" altLang="zh-CN" sz="2800" dirty="0">
              <a:cs typeface="Arial" panose="020B0604020202020204" pitchFamily="34" charset="0"/>
            </a:endParaRPr>
          </a:p>
        </p:txBody>
      </p:sp>
      <p:sp>
        <p:nvSpPr>
          <p:cNvPr id="78" name="箭头"/>
          <p:cNvSpPr/>
          <p:nvPr/>
        </p:nvSpPr>
        <p:spPr>
          <a:xfrm>
            <a:off x="17176386" y="8620013"/>
            <a:ext cx="900000" cy="432000"/>
          </a:xfrm>
          <a:prstGeom prst="rightArrow">
            <a:avLst>
              <a:gd name="adj1" fmla="val 50000"/>
              <a:gd name="adj2" fmla="val 136754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endParaRPr lang="zh-CN" altLang="zh-CN" sz="2800" dirty="0">
              <a:cs typeface="Arial" panose="020B0604020202020204" pitchFamily="34" charset="0"/>
            </a:endParaRPr>
          </a:p>
        </p:txBody>
      </p:sp>
      <p:sp>
        <p:nvSpPr>
          <p:cNvPr id="79" name="AutoShape 30"/>
          <p:cNvSpPr/>
          <p:nvPr/>
        </p:nvSpPr>
        <p:spPr>
          <a:xfrm>
            <a:off x="13061008" y="10710251"/>
            <a:ext cx="3452474" cy="1149717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r>
              <a:rPr lang="en-US" altLang="zh-CN" sz="2800" dirty="0">
                <a:cs typeface="Arial" panose="020B0604020202020204" pitchFamily="34" charset="0"/>
              </a:rPr>
              <a:t>Laser</a:t>
            </a:r>
            <a:endParaRPr lang="en-US" sz="2800" dirty="0">
              <a:cs typeface="Arial" panose="020B0604020202020204" pitchFamily="34" charset="0"/>
            </a:endParaRPr>
          </a:p>
        </p:txBody>
      </p:sp>
      <p:sp>
        <p:nvSpPr>
          <p:cNvPr id="80" name="AutoShape 29"/>
          <p:cNvSpPr/>
          <p:nvPr/>
        </p:nvSpPr>
        <p:spPr>
          <a:xfrm>
            <a:off x="7710633" y="10834137"/>
            <a:ext cx="3453997" cy="1149717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r>
              <a:rPr lang="en-US" altLang="zh-CN" sz="2800" dirty="0">
                <a:cs typeface="Arial" panose="020B0604020202020204" pitchFamily="34" charset="0"/>
              </a:rPr>
              <a:t>Inspection</a:t>
            </a:r>
          </a:p>
        </p:txBody>
      </p:sp>
      <p:sp>
        <p:nvSpPr>
          <p:cNvPr id="81" name="箭头"/>
          <p:cNvSpPr/>
          <p:nvPr/>
        </p:nvSpPr>
        <p:spPr>
          <a:xfrm rot="10740000">
            <a:off x="11781084" y="11192995"/>
            <a:ext cx="900000" cy="432000"/>
          </a:xfrm>
          <a:prstGeom prst="rightArrow">
            <a:avLst>
              <a:gd name="adj1" fmla="val 50000"/>
              <a:gd name="adj2" fmla="val 136355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endParaRPr lang="zh-CN" altLang="zh-CN" sz="2800" dirty="0">
              <a:cs typeface="Arial" panose="020B0604020202020204" pitchFamily="34" charset="0"/>
            </a:endParaRPr>
          </a:p>
        </p:txBody>
      </p:sp>
      <p:sp>
        <p:nvSpPr>
          <p:cNvPr id="82" name="箭头"/>
          <p:cNvSpPr/>
          <p:nvPr/>
        </p:nvSpPr>
        <p:spPr>
          <a:xfrm rot="10740000">
            <a:off x="17097608" y="11189575"/>
            <a:ext cx="900000" cy="432000"/>
          </a:xfrm>
          <a:prstGeom prst="rightArrow">
            <a:avLst>
              <a:gd name="adj1" fmla="val 50000"/>
              <a:gd name="adj2" fmla="val 136355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endParaRPr lang="zh-CN" altLang="zh-CN" sz="2800" dirty="0">
              <a:cs typeface="Arial" panose="020B0604020202020204" pitchFamily="34" charset="0"/>
            </a:endParaRPr>
          </a:p>
        </p:txBody>
      </p:sp>
      <p:sp>
        <p:nvSpPr>
          <p:cNvPr id="83" name="AutoShape 16"/>
          <p:cNvSpPr/>
          <p:nvPr/>
        </p:nvSpPr>
        <p:spPr>
          <a:xfrm>
            <a:off x="2256000" y="8442000"/>
            <a:ext cx="3627443" cy="1149717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r>
              <a:rPr lang="en-US" altLang="zh-CN" sz="2800" dirty="0">
                <a:cs typeface="Arial" panose="020B0604020202020204" pitchFamily="34" charset="0"/>
              </a:rPr>
              <a:t>3rd Profile Grinding</a:t>
            </a:r>
          </a:p>
        </p:txBody>
      </p:sp>
      <p:sp>
        <p:nvSpPr>
          <p:cNvPr id="84" name="箭头"/>
          <p:cNvSpPr/>
          <p:nvPr/>
        </p:nvSpPr>
        <p:spPr>
          <a:xfrm>
            <a:off x="6262556" y="8667748"/>
            <a:ext cx="900000" cy="432000"/>
          </a:xfrm>
          <a:prstGeom prst="rightArrow">
            <a:avLst>
              <a:gd name="adj1" fmla="val 50000"/>
              <a:gd name="adj2" fmla="val 136754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endParaRPr lang="zh-CN" altLang="zh-CN" sz="2800" dirty="0">
              <a:cs typeface="Arial" panose="020B0604020202020204" pitchFamily="34" charset="0"/>
            </a:endParaRPr>
          </a:p>
        </p:txBody>
      </p:sp>
      <p:sp>
        <p:nvSpPr>
          <p:cNvPr id="32" name="AutoShape 30"/>
          <p:cNvSpPr/>
          <p:nvPr/>
        </p:nvSpPr>
        <p:spPr>
          <a:xfrm>
            <a:off x="2277137" y="10834137"/>
            <a:ext cx="3452474" cy="1149717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r>
              <a:rPr lang="en-US" altLang="zh-CN" sz="2800" dirty="0">
                <a:cs typeface="Arial" panose="020B0604020202020204" pitchFamily="34" charset="0"/>
              </a:rPr>
              <a:t>Packaging</a:t>
            </a:r>
            <a:endParaRPr lang="en-US" sz="2800" dirty="0">
              <a:cs typeface="Arial" panose="020B0604020202020204" pitchFamily="34" charset="0"/>
            </a:endParaRPr>
          </a:p>
        </p:txBody>
      </p:sp>
      <p:sp>
        <p:nvSpPr>
          <p:cNvPr id="33" name="箭头"/>
          <p:cNvSpPr/>
          <p:nvPr/>
        </p:nvSpPr>
        <p:spPr>
          <a:xfrm rot="10740000">
            <a:off x="6202553" y="11179141"/>
            <a:ext cx="900000" cy="432000"/>
          </a:xfrm>
          <a:prstGeom prst="rightArrow">
            <a:avLst>
              <a:gd name="adj1" fmla="val 50000"/>
              <a:gd name="adj2" fmla="val 136355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20204" pitchFamily="34" charset="0"/>
              <a:buNone/>
            </a:pPr>
            <a:endParaRPr lang="zh-CN" altLang="zh-CN" sz="2800" dirty="0"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X1758 / Revision list："/>
          <p:cNvSpPr/>
          <p:nvPr/>
        </p:nvSpPr>
        <p:spPr>
          <a:xfrm>
            <a:off x="361950" y="908050"/>
            <a:ext cx="16362363" cy="920115"/>
          </a:xfrm>
          <a:prstGeom prst="rect">
            <a:avLst/>
          </a:prstGeom>
          <a:noFill/>
          <a:ln w="9525">
            <a:noFill/>
          </a:ln>
        </p:spPr>
        <p:txBody>
          <a:bodyPr lIns="91436" tIns="91436" rIns="91436" bIns="91436">
            <a:spAutoFit/>
          </a:bodyPr>
          <a:lstStyle/>
          <a:p>
            <a:pPr>
              <a:spcBef>
                <a:spcPts val="2800"/>
              </a:spcBef>
            </a:pPr>
            <a:r>
              <a:rPr lang="en-US" altLang="zh-CN" sz="4800" dirty="0">
                <a:solidFill>
                  <a:srgbClr val="004D8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sym typeface="Helvetica" charset="0"/>
              </a:rPr>
              <a:t>B747 </a:t>
            </a:r>
            <a:r>
              <a:rPr lang="en-US" altLang="zh-CN" sz="4800" dirty="0">
                <a:solidFill>
                  <a:schemeClr val="tx1"/>
                </a:solidFill>
                <a:latin typeface="Arial" panose="020B0604020202020204" pitchFamily="34" charset="0"/>
              </a:rPr>
              <a:t>|</a:t>
            </a:r>
            <a:r>
              <a:rPr lang="en-US" altLang="zh-CN" sz="4800" dirty="0">
                <a:latin typeface="Helvetica" charset="0"/>
                <a:sym typeface="Helvetica" charset="0"/>
              </a:rPr>
              <a:t> Process Description _ Block</a:t>
            </a:r>
            <a:endParaRPr lang="zh-CN" altLang="en-US" sz="4800" dirty="0">
              <a:latin typeface="Arial" panose="020B0604020202020204" pitchFamily="34" charset="0"/>
            </a:endParaRPr>
          </a:p>
        </p:txBody>
      </p:sp>
      <p:grpSp>
        <p:nvGrpSpPr>
          <p:cNvPr id="25" name="成组"/>
          <p:cNvGrpSpPr>
            <a:grpSpLocks noChangeAspect="1"/>
          </p:cNvGrpSpPr>
          <p:nvPr/>
        </p:nvGrpSpPr>
        <p:grpSpPr>
          <a:xfrm>
            <a:off x="365134" y="2250000"/>
            <a:ext cx="23562865" cy="5112718"/>
            <a:chOff x="0" y="0"/>
            <a:chExt cx="8575058" cy="1860633"/>
          </a:xfrm>
        </p:grpSpPr>
        <p:sp>
          <p:nvSpPr>
            <p:cNvPr id="26" name="矩形"/>
            <p:cNvSpPr/>
            <p:nvPr/>
          </p:nvSpPr>
          <p:spPr>
            <a:xfrm>
              <a:off x="6595" y="0"/>
              <a:ext cx="8556623" cy="1857600"/>
            </a:xfrm>
            <a:prstGeom prst="rect">
              <a:avLst/>
            </a:prstGeom>
            <a:solidFill>
              <a:srgbClr val="E7E6E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rgbClr val="FFFFFF"/>
                  </a:solidFill>
                  <a:latin typeface="Trebuchet MS" panose="020B0603020202020204"/>
                  <a:ea typeface="Trebuchet MS" panose="020B0603020202020204"/>
                  <a:cs typeface="Trebuchet MS" panose="020B0603020202020204"/>
                  <a:sym typeface="Trebuchet MS" panose="020B0603020202020204"/>
                </a:defRPr>
              </a:pPr>
              <a:endParaRPr kumimoji="0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Trebuchet MS" panose="020B0603020202020204"/>
                <a:cs typeface="Arial" panose="020B0604020202020204" pitchFamily="34" charset="0"/>
                <a:sym typeface="Trebuchet MS" panose="020B0603020202020204"/>
              </a:endParaRPr>
            </a:p>
          </p:txBody>
        </p:sp>
        <p:sp>
          <p:nvSpPr>
            <p:cNvPr id="27" name="Block magnet with proper properties and dimension"/>
            <p:cNvSpPr/>
            <p:nvPr/>
          </p:nvSpPr>
          <p:spPr>
            <a:xfrm>
              <a:off x="2256975" y="0"/>
              <a:ext cx="3779637" cy="2128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>
              <a:lvl1pPr algn="l">
                <a:spcBef>
                  <a:spcPts val="0"/>
                </a:spcBef>
                <a:defRPr sz="1200" b="1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sz="3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/>
                </a:rPr>
                <a:t>Block magnet with proper properties and dimension</a:t>
              </a:r>
            </a:p>
          </p:txBody>
        </p:sp>
        <p:sp>
          <p:nvSpPr>
            <p:cNvPr id="32" name="Control Point:…"/>
            <p:cNvSpPr/>
            <p:nvPr/>
          </p:nvSpPr>
          <p:spPr>
            <a:xfrm>
              <a:off x="2256975" y="534638"/>
              <a:ext cx="3779637" cy="12871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400" b="1">
                  <a:solidFill>
                    <a:srgbClr val="0070C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r>
                <a:rPr kumimoji="0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ea typeface="Arial" panose="020B0604020202020204"/>
                  <a:cs typeface="Arial" panose="020B0604020202020204" pitchFamily="34" charset="0"/>
                  <a:sym typeface="Arial" panose="020B0604020202020204"/>
                </a:rPr>
                <a:t>Control Point:</a:t>
              </a:r>
              <a:endParaRPr kumimoji="0" sz="32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Verdana" panose="020B0604030504040204"/>
                <a:cs typeface="Arial" panose="020B0604020202020204" pitchFamily="34" charset="0"/>
                <a:sym typeface="Verdana" panose="020B0604030504040204"/>
              </a:endParaRPr>
            </a:p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  <a:buSzPct val="100000"/>
                <a:buFontTx/>
                <a:buChar char="→"/>
                <a:defRPr sz="12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r>
                <a:rPr lang="en-US" sz="3200" kern="0" dirty="0">
                  <a:solidFill>
                    <a:sysClr val="windowText" lastClr="000000"/>
                  </a:solidFill>
                  <a:cs typeface="Arial" panose="020B0604020202020204" pitchFamily="34" charset="0"/>
                  <a:sym typeface="Arial" panose="020B0604020202020204"/>
                </a:rPr>
                <a:t> </a:t>
              </a:r>
              <a:r>
                <a:rPr lang="en-US" altLang="zh-CN" sz="3200" kern="0" dirty="0">
                  <a:solidFill>
                    <a:sysClr val="windowText" lastClr="000000"/>
                  </a:solidFill>
                  <a:cs typeface="Arial" panose="020B0604020202020204" pitchFamily="34" charset="0"/>
                  <a:sym typeface="Arial" panose="020B0604020202020204"/>
                </a:rPr>
                <a:t>Material Grade: </a:t>
              </a:r>
              <a:r>
                <a:rPr lang="en-US" altLang="zh-CN" sz="3200" kern="0" dirty="0">
                  <a:solidFill>
                    <a:sysClr val="windowText" lastClr="000000"/>
                  </a:solidFill>
                  <a:cs typeface="Arial" panose="020B0604020202020204" pitchFamily="34" charset="0"/>
                  <a:sym typeface="+mn-ea"/>
                </a:rPr>
                <a:t>N48SH-100RC(REE)</a:t>
              </a:r>
              <a:endParaRPr lang="en-US" altLang="zh-CN" sz="3200" kern="0" dirty="0">
                <a:solidFill>
                  <a:sysClr val="windowText" lastClr="000000"/>
                </a:solidFill>
                <a:latin typeface="Arial" panose="020B0604020202020204"/>
                <a:cs typeface="Arial" panose="020B0604020202020204" pitchFamily="34" charset="0"/>
                <a:sym typeface="Arial" panose="020B0604020202020204"/>
              </a:endParaRPr>
            </a:p>
            <a:p>
              <a:pPr algn="l">
                <a:spcBef>
                  <a:spcPts val="0"/>
                </a:spcBef>
                <a:buSzPct val="100000"/>
                <a:buChar char="→"/>
                <a:defRPr sz="10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r>
                <a:rPr lang="en-US" altLang="zh-CN" sz="3200" kern="0" dirty="0">
                  <a:solidFill>
                    <a:sysClr val="windowText" lastClr="000000"/>
                  </a:solidFill>
                  <a:cs typeface="Arial" panose="020B0604020202020204" pitchFamily="34" charset="0"/>
                  <a:sym typeface="+mn-ea"/>
                </a:rPr>
                <a:t>Br: 13.7-14.2kGs</a:t>
              </a:r>
              <a:endParaRPr lang="en-US" altLang="zh-CN" sz="3200" kern="0" dirty="0">
                <a:solidFill>
                  <a:sysClr val="windowText" lastClr="000000"/>
                </a:solidFill>
                <a:latin typeface="Arial" panose="020B0604020202020204"/>
                <a:cs typeface="Arial" panose="020B0604020202020204" pitchFamily="34" charset="0"/>
                <a:sym typeface="Verdana" panose="020B0604030504040204"/>
              </a:endParaRPr>
            </a:p>
            <a:p>
              <a:pPr algn="l">
                <a:spcBef>
                  <a:spcPts val="0"/>
                </a:spcBef>
                <a:buSzPct val="100000"/>
                <a:buChar char="→"/>
                <a:defRPr sz="10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r>
                <a:rPr lang="en-US" altLang="zh-CN" sz="3200" kern="0" dirty="0">
                  <a:solidFill>
                    <a:sysClr val="windowText" lastClr="000000"/>
                  </a:solidFill>
                  <a:cs typeface="Arial" panose="020B0604020202020204" pitchFamily="34" charset="0"/>
                  <a:sym typeface="+mn-ea"/>
                </a:rPr>
                <a:t> </a:t>
              </a:r>
              <a:r>
                <a:rPr lang="en-US" altLang="zh-CN" sz="3200" kern="0" dirty="0" err="1">
                  <a:solidFill>
                    <a:sysClr val="windowText" lastClr="000000"/>
                  </a:solidFill>
                  <a:cs typeface="Arial" panose="020B0604020202020204" pitchFamily="34" charset="0"/>
                  <a:sym typeface="+mn-ea"/>
                </a:rPr>
                <a:t>Hcb</a:t>
              </a:r>
              <a:r>
                <a:rPr lang="en-US" altLang="zh-CN" sz="3200" kern="0" dirty="0">
                  <a:solidFill>
                    <a:sysClr val="windowText" lastClr="000000"/>
                  </a:solidFill>
                  <a:cs typeface="Arial" panose="020B0604020202020204" pitchFamily="34" charset="0"/>
                  <a:sym typeface="+mn-ea"/>
                </a:rPr>
                <a:t>: ≥ 13.2 </a:t>
              </a:r>
              <a:r>
                <a:rPr lang="en-US" altLang="zh-CN" sz="3200" kern="0" dirty="0" err="1">
                  <a:solidFill>
                    <a:sysClr val="windowText" lastClr="000000"/>
                  </a:solidFill>
                  <a:cs typeface="Arial" panose="020B0604020202020204" pitchFamily="34" charset="0"/>
                  <a:sym typeface="+mn-ea"/>
                </a:rPr>
                <a:t>kOe</a:t>
              </a:r>
              <a:endParaRPr lang="en-US" altLang="zh-CN" sz="3200" kern="0" dirty="0">
                <a:solidFill>
                  <a:sysClr val="windowText" lastClr="000000"/>
                </a:solidFill>
                <a:latin typeface="Arial" panose="020B0604020202020204"/>
                <a:cs typeface="Arial" panose="020B0604020202020204" pitchFamily="34" charset="0"/>
              </a:endParaRPr>
            </a:p>
            <a:p>
              <a:pPr algn="l">
                <a:spcBef>
                  <a:spcPts val="0"/>
                </a:spcBef>
                <a:buSzPct val="100000"/>
                <a:buChar char="→"/>
                <a:defRPr sz="10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r>
                <a:rPr lang="en-US" altLang="zh-CN" sz="3200" kern="0" dirty="0">
                  <a:solidFill>
                    <a:sysClr val="windowText" lastClr="000000"/>
                  </a:solidFill>
                  <a:cs typeface="Arial" panose="020B0604020202020204" pitchFamily="34" charset="0"/>
                  <a:sym typeface="+mn-ea"/>
                </a:rPr>
                <a:t> </a:t>
              </a:r>
              <a:r>
                <a:rPr lang="en-US" altLang="zh-CN" sz="3200" kern="0" dirty="0" err="1">
                  <a:solidFill>
                    <a:sysClr val="windowText" lastClr="000000"/>
                  </a:solidFill>
                  <a:cs typeface="Arial" panose="020B0604020202020204" pitchFamily="34" charset="0"/>
                  <a:sym typeface="+mn-ea"/>
                </a:rPr>
                <a:t>Hcj</a:t>
              </a:r>
              <a:r>
                <a:rPr lang="en-US" altLang="zh-CN" sz="3200" kern="0" dirty="0">
                  <a:solidFill>
                    <a:sysClr val="windowText" lastClr="000000"/>
                  </a:solidFill>
                  <a:cs typeface="Arial" panose="020B0604020202020204" pitchFamily="34" charset="0"/>
                  <a:sym typeface="+mn-ea"/>
                </a:rPr>
                <a:t>: ≥ 19kOe</a:t>
              </a:r>
              <a:endParaRPr lang="en-US" altLang="zh-CN" sz="3200" kern="0" dirty="0">
                <a:solidFill>
                  <a:sysClr val="windowText" lastClr="000000"/>
                </a:solidFill>
                <a:latin typeface="Arial" panose="020B0604020202020204"/>
                <a:cs typeface="Arial" panose="020B0604020202020204" pitchFamily="34" charset="0"/>
              </a:endParaRPr>
            </a:p>
            <a:p>
              <a:pPr algn="l">
                <a:spcBef>
                  <a:spcPts val="0"/>
                </a:spcBef>
                <a:buSzPct val="100000"/>
                <a:buChar char="→"/>
                <a:defRPr sz="10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r>
                <a:rPr lang="en-US" altLang="zh-CN" sz="3200" kern="0" dirty="0">
                  <a:solidFill>
                    <a:sysClr val="windowText" lastClr="000000"/>
                  </a:solidFill>
                  <a:cs typeface="Arial" panose="020B0604020202020204" pitchFamily="34" charset="0"/>
                  <a:sym typeface="+mn-ea"/>
                </a:rPr>
                <a:t> (BH)max: 45-49MGOe</a:t>
              </a:r>
              <a:endParaRPr lang="en-US" altLang="zh-CN" sz="3200" kern="0" dirty="0">
                <a:solidFill>
                  <a:sysClr val="windowText" lastClr="000000"/>
                </a:solidFill>
                <a:latin typeface="Arial" panose="020B0604020202020204"/>
                <a:cs typeface="Arial" panose="020B0604020202020204" pitchFamily="34" charset="0"/>
              </a:endParaRPr>
            </a:p>
            <a:p>
              <a:pPr lvl="0" defTabSz="914400" eaLnBrk="1" fontAlgn="auto" hangingPunct="1">
                <a:spcBef>
                  <a:spcPts val="0"/>
                </a:spcBef>
                <a:spcAft>
                  <a:spcPts val="0"/>
                </a:spcAft>
                <a:buSzPct val="100000"/>
                <a:buFontTx/>
                <a:buChar char="→"/>
                <a:defRPr sz="12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r>
                <a:rPr lang="en-US" altLang="zh-CN" sz="3200" kern="0" dirty="0">
                  <a:solidFill>
                    <a:sysClr val="windowText" lastClr="000000"/>
                  </a:solidFill>
                  <a:ea typeface="Arial" panose="020B0604020202020204"/>
                  <a:cs typeface="Arial" panose="020B0604020202020204" pitchFamily="34" charset="0"/>
                  <a:sym typeface="Arial" panose="020B0604020202020204"/>
                </a:rPr>
                <a:t>Block magnet size: 57 × 43 × </a:t>
              </a:r>
              <a:r>
                <a:rPr lang="en-US" altLang="zh-CN" sz="3200" kern="0" dirty="0">
                  <a:solidFill>
                    <a:srgbClr val="0000FF"/>
                  </a:solidFill>
                  <a:ea typeface="Arial" panose="020B0604020202020204"/>
                  <a:cs typeface="Arial" panose="020B0604020202020204" pitchFamily="34" charset="0"/>
                  <a:sym typeface="Arial" panose="020B0604020202020204"/>
                </a:rPr>
                <a:t>35</a:t>
              </a:r>
            </a:p>
          </p:txBody>
        </p:sp>
        <p:pic>
          <p:nvPicPr>
            <p:cNvPr id="33" name="图像" descr="图像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2187731" cy="1857600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34" name="图像" descr="图像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6098258" y="3032"/>
              <a:ext cx="2476800" cy="1857601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p:grpSp>
        <p:nvGrpSpPr>
          <p:cNvPr id="37" name="组合 36"/>
          <p:cNvGrpSpPr>
            <a:grpSpLocks noChangeAspect="1"/>
          </p:cNvGrpSpPr>
          <p:nvPr/>
        </p:nvGrpSpPr>
        <p:grpSpPr>
          <a:xfrm>
            <a:off x="2475694" y="7650412"/>
            <a:ext cx="6620306" cy="5760000"/>
            <a:chOff x="1155271" y="3918073"/>
            <a:chExt cx="2561174" cy="2226960"/>
          </a:xfrm>
        </p:grpSpPr>
        <p:pic>
          <p:nvPicPr>
            <p:cNvPr id="38" name="图片 12" descr="图片 12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155271" y="3918073"/>
              <a:ext cx="2561174" cy="1920880"/>
            </a:xfrm>
            <a:prstGeom prst="rect">
              <a:avLst/>
            </a:prstGeom>
            <a:ln w="12700">
              <a:miter lim="400000"/>
              <a:headEnd/>
              <a:tailEnd/>
            </a:ln>
            <a:effectLst>
              <a:outerShdw blurRad="50800" dist="38100" dir="2700000" rotWithShape="0">
                <a:srgbClr val="000000">
                  <a:alpha val="40000"/>
                </a:srgbClr>
              </a:outerShdw>
            </a:effectLst>
          </p:spPr>
        </p:pic>
        <p:sp>
          <p:nvSpPr>
            <p:cNvPr id="39" name="矩形"/>
            <p:cNvSpPr/>
            <p:nvPr/>
          </p:nvSpPr>
          <p:spPr>
            <a:xfrm>
              <a:off x="1155271" y="5824593"/>
              <a:ext cx="2561174" cy="320440"/>
            </a:xfrm>
            <a:prstGeom prst="rect">
              <a:avLst/>
            </a:prstGeom>
            <a:gradFill>
              <a:gsLst>
                <a:gs pos="0">
                  <a:srgbClr val="70A6DB"/>
                </a:gs>
                <a:gs pos="50000">
                  <a:srgbClr val="559BDB"/>
                </a:gs>
                <a:gs pos="100000">
                  <a:srgbClr val="448AC9"/>
                </a:gs>
              </a:gsLst>
              <a:lin ang="5400000"/>
            </a:gradFill>
            <a:ln w="12700">
              <a:miter lim="400000"/>
            </a:ln>
            <a:effectLst>
              <a:outerShdw blurRad="50800" dist="38100" dir="2700000" rotWithShape="0">
                <a:srgbClr val="000000">
                  <a:alpha val="40000"/>
                </a:srgbClr>
              </a:outerShdw>
            </a:effectLst>
          </p:spPr>
          <p:txBody>
            <a:bodyPr lIns="45719" rIns="45719" anchor="ctr"/>
            <a:lstStyle/>
            <a:p>
              <a:pPr algn="ctr" defTabSz="914400" eaLnBrk="1" fontAlgn="auto" hangingPunct="1">
                <a:spcBef>
                  <a:spcPts val="1000"/>
                </a:spcBef>
                <a:spcAft>
                  <a:spcPts val="0"/>
                </a:spcAft>
                <a:defRPr sz="2000" b="1">
                  <a:solidFill>
                    <a:srgbClr val="FFFFFF"/>
                  </a:solidFill>
                  <a:effectLst>
                    <a:outerShdw blurRad="38100" dist="38100" dir="2700000" rotWithShape="0">
                      <a:srgbClr val="000000">
                        <a:alpha val="43137"/>
                      </a:srgbClr>
                    </a:outerShdw>
                  </a:effectLst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20204"/>
                  <a:cs typeface="Arial" panose="020B0604020202020204"/>
                  <a:sym typeface="Arial" panose="020B0604020202020204"/>
                </a:rPr>
                <a:t>Magnetic Properties Tester</a:t>
              </a:r>
            </a:p>
          </p:txBody>
        </p:sp>
      </p:grp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X1758 / Revision list：">
            <a:extLst>
              <a:ext uri="{FF2B5EF4-FFF2-40B4-BE49-F238E27FC236}">
                <a16:creationId xmlns:a16="http://schemas.microsoft.com/office/drawing/2014/main" id="{5462F66C-010F-458C-BD4B-3905745BBEF7}"/>
              </a:ext>
            </a:extLst>
          </p:cNvPr>
          <p:cNvSpPr/>
          <p:nvPr/>
        </p:nvSpPr>
        <p:spPr>
          <a:xfrm>
            <a:off x="361950" y="908050"/>
            <a:ext cx="18958050" cy="923322"/>
          </a:xfrm>
          <a:prstGeom prst="rect">
            <a:avLst/>
          </a:prstGeom>
          <a:noFill/>
          <a:ln w="9525">
            <a:noFill/>
          </a:ln>
        </p:spPr>
        <p:txBody>
          <a:bodyPr wrap="square" lIns="91436" tIns="91436" rIns="91436" bIns="91436">
            <a:spAutoFit/>
          </a:bodyPr>
          <a:lstStyle/>
          <a:p>
            <a:pPr>
              <a:spcBef>
                <a:spcPts val="2800"/>
              </a:spcBef>
            </a:pPr>
            <a:r>
              <a:rPr lang="en-US" altLang="zh-CN" sz="4800" dirty="0">
                <a:solidFill>
                  <a:srgbClr val="004D8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sym typeface="Helvetica" charset="0"/>
              </a:rPr>
              <a:t>B747 </a:t>
            </a:r>
            <a:r>
              <a:rPr lang="en-US" altLang="zh-CN" sz="4800" dirty="0">
                <a:solidFill>
                  <a:schemeClr val="tx1"/>
                </a:solidFill>
                <a:latin typeface="Arial" panose="020B0604020202020204" pitchFamily="34" charset="0"/>
              </a:rPr>
              <a:t>|</a:t>
            </a:r>
            <a:r>
              <a:rPr lang="en-US" altLang="zh-CN" sz="4800" dirty="0">
                <a:latin typeface="Helvetica" charset="0"/>
                <a:sym typeface="Helvetica" charset="0"/>
              </a:rPr>
              <a:t> Process Description _ </a:t>
            </a:r>
            <a:r>
              <a:rPr lang="en-US" altLang="zh-CN" sz="4800" dirty="0">
                <a:cs typeface="Arial" panose="020B0604020202020204" pitchFamily="34" charset="0"/>
              </a:rPr>
              <a:t>1st</a:t>
            </a:r>
            <a:r>
              <a:rPr lang="en-US" altLang="zh-CN" sz="4800" dirty="0">
                <a:latin typeface="Helvetica" charset="0"/>
                <a:sym typeface="Helvetica" charset="0"/>
              </a:rPr>
              <a:t> Wire Saw</a:t>
            </a:r>
          </a:p>
        </p:txBody>
      </p:sp>
      <p:graphicFrame>
        <p:nvGraphicFramePr>
          <p:cNvPr id="3" name="表格 25">
            <a:extLst>
              <a:ext uri="{FF2B5EF4-FFF2-40B4-BE49-F238E27FC236}">
                <a16:creationId xmlns:a16="http://schemas.microsoft.com/office/drawing/2014/main" id="{BB1B0F0A-94CF-4DE2-AF45-6F625472E861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355579" y="2322000"/>
          <a:ext cx="12484421" cy="8412921"/>
        </p:xfrm>
        <a:graphic>
          <a:graphicData uri="http://schemas.openxmlformats.org/drawingml/2006/table">
            <a:tbl>
              <a:tblPr/>
              <a:tblGrid>
                <a:gridCol w="3040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1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11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8462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595959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lang="en-US" altLang="zh-CN" sz="3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1st</a:t>
                      </a:r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3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Wire Saw P</a:t>
                      </a:r>
                      <a:r>
                        <a:rPr sz="3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arameter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6769">
                <a:tc row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Machine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i="0" u="none" strike="noStrike" cap="none" spc="0" baseline="0" dirty="0" err="1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型号</a:t>
                      </a:r>
                      <a:r>
                        <a:rPr lang="zh-CN" altLang="en-US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/Model</a:t>
                      </a:r>
                      <a:endParaRPr sz="2000" b="0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CX2121(CHT690)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676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i="0" u="none" strike="noStrike" cap="none" spc="0" baseline="0" dirty="0" err="1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滚轮转速</a:t>
                      </a:r>
                      <a:r>
                        <a:rPr lang="zh-CN" altLang="en-US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/Wheel</a:t>
                      </a:r>
                      <a:r>
                        <a:rPr lang="zh-CN" altLang="en-US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Speed</a:t>
                      </a:r>
                      <a:endParaRPr sz="2000" b="0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8</a:t>
                      </a:r>
                      <a:r>
                        <a:rPr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00-1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2</a:t>
                      </a:r>
                      <a:r>
                        <a:rPr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00m/min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676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i="0" u="none" strike="noStrike" cap="none" spc="0" baseline="0" dirty="0" err="1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线径</a:t>
                      </a:r>
                      <a:r>
                        <a:rPr lang="zh-CN" altLang="en-US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/Wire</a:t>
                      </a:r>
                      <a:r>
                        <a:rPr lang="zh-CN" altLang="en-US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Diameter</a:t>
                      </a:r>
                      <a:endParaRPr sz="2000" b="0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0.25</a:t>
                      </a:r>
                      <a:r>
                        <a:rPr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mm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676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zh-CN" altLang="en-US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主进给速度 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/Main Feeding Speed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0.3-0.5mm/min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7309958"/>
                  </a:ext>
                </a:extLst>
              </a:tr>
              <a:tr h="686769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Process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related</a:t>
                      </a:r>
                      <a:endParaRPr sz="20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料块摆放数量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/Block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Qty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2 × 3 × 4 × 2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676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切片尺寸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/Slicing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Dimension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altLang="zh-CN" sz="2000" b="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8.93±0.04 mm</a:t>
                      </a:r>
                      <a:endParaRPr sz="2000" b="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Arial" panose="020B0604020202020204"/>
                      </a:endParaRP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676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冷却液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/Coolant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12700" marR="12700" marT="12700" marB="12700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DX-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7A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Arial" panose="020B0604020202020204"/>
                      </a:endParaRP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86769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Fixture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marL="0" marR="0" lvl="0" indent="0" algn="l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L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直角靠块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</a:t>
                      </a:r>
                      <a:r>
                        <a:rPr lang="en-GB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Right-angle Block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专用夹具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/Customized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Made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8676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千分尺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/</a:t>
                      </a:r>
                      <a:r>
                        <a:rPr lang="en-GB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Micrometer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0-25mm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68676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marL="0" marR="0" indent="0" algn="l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大理石底板</a:t>
                      </a: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/Marble platform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"/>
                        </a:rPr>
                        <a:t>专用定制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"/>
                        </a:rPr>
                        <a:t>/</a:t>
                      </a:r>
                      <a:r>
                        <a:rPr lang="en-US" altLang="zh-CN"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"/>
                        </a:rPr>
                        <a:t>Custon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"/>
                        </a:rPr>
                        <a:t>Made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Times"/>
                      </a:endParaRP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6867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Material utilization ratio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0433FF"/>
                          </a:solidFill>
                          <a:sym typeface="Helvetica Neue"/>
                        </a:defRPr>
                      </a:pP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94%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" name="虚尾箭头 7">
            <a:extLst>
              <a:ext uri="{FF2B5EF4-FFF2-40B4-BE49-F238E27FC236}">
                <a16:creationId xmlns:a16="http://schemas.microsoft.com/office/drawing/2014/main" id="{71BBE9D0-12D9-400E-A78F-C3CC26B7675C}"/>
              </a:ext>
            </a:extLst>
          </p:cNvPr>
          <p:cNvSpPr/>
          <p:nvPr/>
        </p:nvSpPr>
        <p:spPr>
          <a:xfrm rot="5400000">
            <a:off x="15680172" y="6375585"/>
            <a:ext cx="1080000" cy="72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5400"/>
                </a:moveTo>
                <a:lnTo>
                  <a:pt x="675" y="5400"/>
                </a:lnTo>
                <a:lnTo>
                  <a:pt x="675" y="16200"/>
                </a:lnTo>
                <a:lnTo>
                  <a:pt x="0" y="16200"/>
                </a:lnTo>
                <a:close/>
                <a:moveTo>
                  <a:pt x="1350" y="5400"/>
                </a:moveTo>
                <a:lnTo>
                  <a:pt x="2700" y="5400"/>
                </a:lnTo>
                <a:lnTo>
                  <a:pt x="2700" y="16200"/>
                </a:lnTo>
                <a:lnTo>
                  <a:pt x="1350" y="16200"/>
                </a:lnTo>
                <a:close/>
                <a:moveTo>
                  <a:pt x="3375" y="5400"/>
                </a:moveTo>
                <a:lnTo>
                  <a:pt x="10800" y="5400"/>
                </a:ln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10800" y="16200"/>
                </a:lnTo>
                <a:lnTo>
                  <a:pt x="3375" y="16200"/>
                </a:lnTo>
                <a:close/>
              </a:path>
            </a:pathLst>
          </a:custGeom>
          <a:solidFill>
            <a:srgbClr val="FF3300">
              <a:alpha val="85098"/>
            </a:srgbClr>
          </a:solidFill>
          <a:ln w="9525"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lIns="45718" tIns="45718" rIns="45718" bIns="45718"/>
          <a:lstStyle/>
          <a:p>
            <a:pPr algn="l">
              <a:spcBef>
                <a:spcPts val="0"/>
              </a:spcBef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 panose="020B0604020202020204"/>
              </a:defRPr>
            </a:pPr>
            <a:endParaRPr/>
          </a:p>
        </p:txBody>
      </p:sp>
      <p:sp>
        <p:nvSpPr>
          <p:cNvPr id="9" name="虚尾箭头 7">
            <a:extLst>
              <a:ext uri="{FF2B5EF4-FFF2-40B4-BE49-F238E27FC236}">
                <a16:creationId xmlns:a16="http://schemas.microsoft.com/office/drawing/2014/main" id="{7146A52F-E251-4109-9FCB-3AA73F86345F}"/>
              </a:ext>
            </a:extLst>
          </p:cNvPr>
          <p:cNvSpPr/>
          <p:nvPr/>
        </p:nvSpPr>
        <p:spPr>
          <a:xfrm rot="2533571">
            <a:off x="18554292" y="10410210"/>
            <a:ext cx="1080000" cy="72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5400"/>
                </a:moveTo>
                <a:lnTo>
                  <a:pt x="675" y="5400"/>
                </a:lnTo>
                <a:lnTo>
                  <a:pt x="675" y="16200"/>
                </a:lnTo>
                <a:lnTo>
                  <a:pt x="0" y="16200"/>
                </a:lnTo>
                <a:close/>
                <a:moveTo>
                  <a:pt x="1350" y="5400"/>
                </a:moveTo>
                <a:lnTo>
                  <a:pt x="2700" y="5400"/>
                </a:lnTo>
                <a:lnTo>
                  <a:pt x="2700" y="16200"/>
                </a:lnTo>
                <a:lnTo>
                  <a:pt x="1350" y="16200"/>
                </a:lnTo>
                <a:close/>
                <a:moveTo>
                  <a:pt x="3375" y="5400"/>
                </a:moveTo>
                <a:lnTo>
                  <a:pt x="10800" y="5400"/>
                </a:ln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10800" y="16200"/>
                </a:lnTo>
                <a:lnTo>
                  <a:pt x="3375" y="16200"/>
                </a:lnTo>
                <a:close/>
              </a:path>
            </a:pathLst>
          </a:custGeom>
          <a:solidFill>
            <a:srgbClr val="FF3300">
              <a:alpha val="85098"/>
            </a:srgbClr>
          </a:solidFill>
          <a:ln w="9525"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lIns="45718" tIns="45718" rIns="45718" bIns="45718"/>
          <a:lstStyle/>
          <a:p>
            <a:pPr algn="l">
              <a:spcBef>
                <a:spcPts val="0"/>
              </a:spcBef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 panose="020B0604020202020204"/>
              </a:defRPr>
            </a:pPr>
            <a:endParaRPr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C7924DB-3B19-4908-88BE-F0A60A74984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274046" y="3176234"/>
            <a:ext cx="4104000" cy="476377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68F8FDF-EBCD-4D82-951C-9EDCF06F7D3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606303" y="7427685"/>
            <a:ext cx="4901439" cy="317779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B5CFF51-47C4-4A12-962F-FB59162ECE7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12475" y="2260715"/>
            <a:ext cx="4761077" cy="312165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EE23730-5BBB-42B2-A649-2E5907EC8A90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36102" y="8514277"/>
            <a:ext cx="3507712" cy="4195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04609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X1758 / Revision list：">
            <a:extLst>
              <a:ext uri="{FF2B5EF4-FFF2-40B4-BE49-F238E27FC236}">
                <a16:creationId xmlns:a16="http://schemas.microsoft.com/office/drawing/2014/main" id="{5462F66C-010F-458C-BD4B-3905745BBEF7}"/>
              </a:ext>
            </a:extLst>
          </p:cNvPr>
          <p:cNvSpPr/>
          <p:nvPr/>
        </p:nvSpPr>
        <p:spPr>
          <a:xfrm>
            <a:off x="361950" y="908050"/>
            <a:ext cx="19174050" cy="923322"/>
          </a:xfrm>
          <a:prstGeom prst="rect">
            <a:avLst/>
          </a:prstGeom>
          <a:noFill/>
          <a:ln w="9525">
            <a:noFill/>
          </a:ln>
        </p:spPr>
        <p:txBody>
          <a:bodyPr wrap="square" lIns="91436" tIns="91436" rIns="91436" bIns="91436">
            <a:spAutoFit/>
          </a:bodyPr>
          <a:lstStyle/>
          <a:p>
            <a:pPr>
              <a:spcBef>
                <a:spcPts val="2800"/>
              </a:spcBef>
            </a:pPr>
            <a:r>
              <a:rPr lang="en-US" altLang="zh-CN" sz="4800" dirty="0">
                <a:solidFill>
                  <a:srgbClr val="004D8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sym typeface="Helvetica" charset="0"/>
              </a:rPr>
              <a:t>B747 </a:t>
            </a:r>
            <a:r>
              <a:rPr lang="en-US" altLang="zh-CN" sz="4800" dirty="0">
                <a:solidFill>
                  <a:schemeClr val="tx1"/>
                </a:solidFill>
                <a:latin typeface="Arial" panose="020B0604020202020204" pitchFamily="34" charset="0"/>
              </a:rPr>
              <a:t>|</a:t>
            </a:r>
            <a:r>
              <a:rPr lang="en-US" altLang="zh-CN" sz="4800" dirty="0">
                <a:latin typeface="Helvetica" charset="0"/>
                <a:sym typeface="Helvetica" charset="0"/>
              </a:rPr>
              <a:t> Process Description _ 1st Double Side Grinding</a:t>
            </a:r>
          </a:p>
        </p:txBody>
      </p:sp>
      <p:graphicFrame>
        <p:nvGraphicFramePr>
          <p:cNvPr id="3" name="表格 25">
            <a:extLst>
              <a:ext uri="{FF2B5EF4-FFF2-40B4-BE49-F238E27FC236}">
                <a16:creationId xmlns:a16="http://schemas.microsoft.com/office/drawing/2014/main" id="{D65EC3C5-2BF6-445F-A778-C5A29F060579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355579" y="2322000"/>
          <a:ext cx="12196421" cy="8193307"/>
        </p:xfrm>
        <a:graphic>
          <a:graphicData uri="http://schemas.openxmlformats.org/drawingml/2006/table">
            <a:tbl>
              <a:tblPr/>
              <a:tblGrid>
                <a:gridCol w="3228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4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32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99184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595959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lang="en-US" sz="3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1st Double Side Grinding </a:t>
                      </a:r>
                      <a:r>
                        <a:rPr lang="en-US" altLang="zh-CN" sz="3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Parameter</a:t>
                      </a:r>
                      <a:endParaRPr sz="3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9347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Machine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8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en-US" altLang="zh-CN" sz="2000" b="0" i="0" u="none" strike="noStrike" cap="none" spc="0" baseline="0" dirty="0" err="1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型号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/Model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altLang="zh-CN" sz="20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M7625(M7635)</a:t>
                      </a:r>
                      <a:endParaRPr lang="en-US" altLang="zh-CN" sz="2000" b="0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934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8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en-US" altLang="zh-CN" sz="2000" b="0" i="0" u="none" strike="noStrike" cap="none" spc="0" baseline="0" dirty="0" err="1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砂轮材质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/Wheel</a:t>
                      </a:r>
                      <a:r>
                        <a:rPr lang="zh-CN" altLang="en-US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Material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altLang="zh-CN" sz="2000" b="0" i="0" u="none" strike="noStrike" cap="none" spc="0" baseline="0" dirty="0" err="1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树脂砂轮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 /Resin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93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8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en-US" altLang="zh-CN" sz="2000" b="0" i="0" u="none" strike="noStrike" cap="none" spc="0" baseline="0" dirty="0" err="1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砂轮规格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/Wheel</a:t>
                      </a:r>
                      <a:r>
                        <a:rPr lang="zh-CN" altLang="en-US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SPEC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250(350)x129x35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4278087"/>
                  </a:ext>
                </a:extLst>
              </a:tr>
              <a:tr h="799347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Process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8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研磨前尺寸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 Dimension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Before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Grinding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marL="0" lvl="4" indent="0" algn="l" defTabSz="457200">
                        <a:spcBef>
                          <a:spcPts val="0"/>
                        </a:spcBef>
                        <a:tabLst/>
                        <a:defRPr sz="900">
                          <a:solidFill>
                            <a:srgbClr val="0433FF"/>
                          </a:solidFill>
                          <a:sym typeface="Helvetica Neue"/>
                        </a:defRPr>
                      </a:pP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8.93 × 43 × 35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934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8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研磨后尺寸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 Dimension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After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Grinding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marL="0" marR="0" lvl="4" indent="0" algn="l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900">
                          <a:solidFill>
                            <a:srgbClr val="0433FF"/>
                          </a:solidFill>
                          <a:sym typeface="Helvetica Neue"/>
                        </a:defRPr>
                      </a:pPr>
                      <a:r>
                        <a:rPr lang="en-US" altLang="zh-CN" sz="2000" b="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8.809±0.02 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× 43 × 35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934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8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成型磨冷却液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 Coolant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ES232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99347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Fixture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8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固定导槽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 Fixed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Guide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导轨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 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/Slideway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79934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千分尺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/ Micrometer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0-25mm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993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Material utilization ratio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98.65%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0" name="虚尾箭头 7">
            <a:extLst>
              <a:ext uri="{FF2B5EF4-FFF2-40B4-BE49-F238E27FC236}">
                <a16:creationId xmlns:a16="http://schemas.microsoft.com/office/drawing/2014/main" id="{1958CE74-E4A5-4718-A0A7-71807B7FB49C}"/>
              </a:ext>
            </a:extLst>
          </p:cNvPr>
          <p:cNvSpPr/>
          <p:nvPr/>
        </p:nvSpPr>
        <p:spPr>
          <a:xfrm rot="20501578">
            <a:off x="17532148" y="5112612"/>
            <a:ext cx="1080000" cy="72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5400"/>
                </a:moveTo>
                <a:lnTo>
                  <a:pt x="675" y="5400"/>
                </a:lnTo>
                <a:lnTo>
                  <a:pt x="675" y="16200"/>
                </a:lnTo>
                <a:lnTo>
                  <a:pt x="0" y="16200"/>
                </a:lnTo>
                <a:close/>
                <a:moveTo>
                  <a:pt x="1350" y="5400"/>
                </a:moveTo>
                <a:lnTo>
                  <a:pt x="2700" y="5400"/>
                </a:lnTo>
                <a:lnTo>
                  <a:pt x="2700" y="16200"/>
                </a:lnTo>
                <a:lnTo>
                  <a:pt x="1350" y="16200"/>
                </a:lnTo>
                <a:close/>
                <a:moveTo>
                  <a:pt x="3375" y="5400"/>
                </a:moveTo>
                <a:lnTo>
                  <a:pt x="10800" y="5400"/>
                </a:ln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10800" y="16200"/>
                </a:lnTo>
                <a:lnTo>
                  <a:pt x="3375" y="16200"/>
                </a:lnTo>
                <a:close/>
              </a:path>
            </a:pathLst>
          </a:custGeom>
          <a:solidFill>
            <a:srgbClr val="FF3300">
              <a:alpha val="85098"/>
            </a:srgbClr>
          </a:solidFill>
          <a:ln w="9525"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lIns="45718" tIns="45718" rIns="45718" bIns="45718"/>
          <a:lstStyle/>
          <a:p>
            <a:pPr algn="l">
              <a:spcBef>
                <a:spcPts val="0"/>
              </a:spcBef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 panose="020B0604020202020204"/>
              </a:defRPr>
            </a:pPr>
            <a:endParaRPr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A8171F7-F585-4951-92DA-D526AE0BA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4418" y="4346229"/>
            <a:ext cx="3115110" cy="344853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AA28F31-B31E-4AA3-9969-01D36667C4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60000" y="3217894"/>
            <a:ext cx="3143689" cy="3486637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E583147A-4DAA-7A7E-6733-E2E5FFBB4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6478280" y="8001008"/>
            <a:ext cx="3857652" cy="4952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46205097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X1758 / Revision list：">
            <a:extLst>
              <a:ext uri="{FF2B5EF4-FFF2-40B4-BE49-F238E27FC236}">
                <a16:creationId xmlns:a16="http://schemas.microsoft.com/office/drawing/2014/main" id="{5462F66C-010F-458C-BD4B-3905745BBEF7}"/>
              </a:ext>
            </a:extLst>
          </p:cNvPr>
          <p:cNvSpPr/>
          <p:nvPr/>
        </p:nvSpPr>
        <p:spPr>
          <a:xfrm>
            <a:off x="361950" y="908050"/>
            <a:ext cx="16362363" cy="923322"/>
          </a:xfrm>
          <a:prstGeom prst="rect">
            <a:avLst/>
          </a:prstGeom>
          <a:noFill/>
          <a:ln w="9525">
            <a:noFill/>
          </a:ln>
        </p:spPr>
        <p:txBody>
          <a:bodyPr lIns="91436" tIns="91436" rIns="91436" bIns="91436">
            <a:spAutoFit/>
          </a:bodyPr>
          <a:lstStyle/>
          <a:p>
            <a:pPr>
              <a:spcBef>
                <a:spcPts val="2800"/>
              </a:spcBef>
            </a:pPr>
            <a:r>
              <a:rPr lang="en-US" altLang="zh-CN" sz="4800" dirty="0">
                <a:solidFill>
                  <a:srgbClr val="004D8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sym typeface="Helvetica" charset="0"/>
              </a:rPr>
              <a:t>B747 </a:t>
            </a:r>
            <a:r>
              <a:rPr lang="en-US" altLang="zh-CN" sz="4800" dirty="0">
                <a:solidFill>
                  <a:schemeClr val="tx1"/>
                </a:solidFill>
                <a:latin typeface="Arial" panose="020B0604020202020204" pitchFamily="34" charset="0"/>
              </a:rPr>
              <a:t>|</a:t>
            </a:r>
            <a:r>
              <a:rPr lang="en-US" altLang="zh-CN" sz="4800" dirty="0">
                <a:latin typeface="Helvetica" charset="0"/>
                <a:sym typeface="Helvetica" charset="0"/>
              </a:rPr>
              <a:t> Process Description _ </a:t>
            </a:r>
            <a:r>
              <a:rPr lang="en-US" altLang="zh-CN" sz="4800" dirty="0">
                <a:cs typeface="Arial" panose="020B0604020202020204" pitchFamily="34" charset="0"/>
              </a:rPr>
              <a:t>2nd</a:t>
            </a:r>
            <a:r>
              <a:rPr lang="en-US" altLang="zh-CN" sz="4800" dirty="0">
                <a:latin typeface="Helvetica" charset="0"/>
                <a:sym typeface="Helvetica" charset="0"/>
              </a:rPr>
              <a:t> Wire Saw</a:t>
            </a:r>
          </a:p>
        </p:txBody>
      </p:sp>
      <p:graphicFrame>
        <p:nvGraphicFramePr>
          <p:cNvPr id="3" name="表格 25">
            <a:extLst>
              <a:ext uri="{FF2B5EF4-FFF2-40B4-BE49-F238E27FC236}">
                <a16:creationId xmlns:a16="http://schemas.microsoft.com/office/drawing/2014/main" id="{476707F6-9181-494A-9B5E-169E13DD4950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355579" y="2322000"/>
          <a:ext cx="12240000" cy="8467200"/>
        </p:xfrm>
        <a:graphic>
          <a:graphicData uri="http://schemas.openxmlformats.org/drawingml/2006/table">
            <a:tbl>
              <a:tblPr/>
              <a:tblGrid>
                <a:gridCol w="32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64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35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400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595959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lang="en-US" altLang="zh-CN" sz="3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2nd</a:t>
                      </a:r>
                      <a:r>
                        <a:rPr lang="en-US" sz="3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 Wire Saw P</a:t>
                      </a:r>
                      <a:r>
                        <a:rPr sz="3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arameter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1200">
                <a:tc row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Machine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型号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/Model</a:t>
                      </a:r>
                      <a:endParaRPr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DX2240(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DX2260,CX680)</a:t>
                      </a:r>
                      <a:endParaRPr lang="en-US" sz="2000" b="0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Arial" panose="020B0604020202020204"/>
                      </a:endParaRP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12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滚轮转速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/Wheel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Speed</a:t>
                      </a:r>
                      <a:endParaRPr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800</a:t>
                      </a:r>
                      <a:r>
                        <a:rPr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-1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2</a:t>
                      </a:r>
                      <a:r>
                        <a:rPr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00m/min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12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线径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/Wire Diameter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0.</a:t>
                      </a:r>
                      <a:r>
                        <a:rPr lang="en-US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2</a:t>
                      </a:r>
                      <a:r>
                        <a:rPr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mm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1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主</a:t>
                      </a:r>
                      <a:r>
                        <a:rPr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进给速度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/Main Feeding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Speed</a:t>
                      </a:r>
                      <a:endParaRPr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0.3-0.5mm/min</a:t>
                      </a:r>
                      <a:endParaRPr lang="en-US" altLang="zh-CN" sz="2000" b="0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Arial" panose="020B0604020202020204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948614"/>
                  </a:ext>
                </a:extLst>
              </a:tr>
              <a:tr h="691200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Process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料块摆放数量</a:t>
                      </a: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Block Qty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6 × 8 × 5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12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切片尺寸</a:t>
                      </a: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Slicing Dimension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marL="1828800" lvl="4" indent="-1828800" algn="l" defTabSz="457200">
                        <a:spcBef>
                          <a:spcPts val="0"/>
                        </a:spcBef>
                        <a:tabLst/>
                        <a:defRPr sz="900">
                          <a:solidFill>
                            <a:srgbClr val="0433FF"/>
                          </a:solidFill>
                          <a:sym typeface="Helvetica Neue"/>
                        </a:defRPr>
                      </a:pPr>
                      <a:r>
                        <a:rPr lang="en-US" altLang="zh-CN" sz="2000" b="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3.93±0.04 mm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912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冷却液</a:t>
                      </a: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Coolant</a:t>
                      </a:r>
                    </a:p>
                  </a:txBody>
                  <a:tcPr marL="6350" marR="6350" marT="6350" marB="6350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DX-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7A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91200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Fixture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marL="0" marR="0" lvl="0" indent="0" algn="l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L</a:t>
                      </a: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直角靠块</a:t>
                      </a: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Right-angle Block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专用夹具 Custom Made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912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千分尺</a:t>
                      </a:r>
                      <a:r>
                        <a:rPr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/</a:t>
                      </a:r>
                      <a:r>
                        <a:rPr lang="en-US"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Micrometer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0-25mm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6912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marL="0" marR="0" indent="0" algn="l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大理石底板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/Marble platform</a:t>
                      </a:r>
                      <a:endParaRPr sz="2000" dirty="0"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"/>
                        </a:rPr>
                        <a:t>专用定制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"/>
                        </a:rPr>
                        <a:t> </a:t>
                      </a:r>
                      <a:r>
                        <a:rPr lang="en-US" altLang="zh-CN"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"/>
                        </a:rPr>
                        <a:t>Custon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"/>
                        </a:rPr>
                        <a:t>Made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Times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6912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Material utilization ratio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91.4%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虚尾箭头 7">
            <a:extLst>
              <a:ext uri="{FF2B5EF4-FFF2-40B4-BE49-F238E27FC236}">
                <a16:creationId xmlns:a16="http://schemas.microsoft.com/office/drawing/2014/main" id="{47A10D94-CC51-466F-BDCD-5A79B017002A}"/>
              </a:ext>
            </a:extLst>
          </p:cNvPr>
          <p:cNvSpPr/>
          <p:nvPr/>
        </p:nvSpPr>
        <p:spPr>
          <a:xfrm rot="5400000">
            <a:off x="15311251" y="7068168"/>
            <a:ext cx="1080000" cy="72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5400"/>
                </a:moveTo>
                <a:lnTo>
                  <a:pt x="675" y="5400"/>
                </a:lnTo>
                <a:lnTo>
                  <a:pt x="675" y="16200"/>
                </a:lnTo>
                <a:lnTo>
                  <a:pt x="0" y="16200"/>
                </a:lnTo>
                <a:close/>
                <a:moveTo>
                  <a:pt x="1350" y="5400"/>
                </a:moveTo>
                <a:lnTo>
                  <a:pt x="2700" y="5400"/>
                </a:lnTo>
                <a:lnTo>
                  <a:pt x="2700" y="16200"/>
                </a:lnTo>
                <a:lnTo>
                  <a:pt x="1350" y="16200"/>
                </a:lnTo>
                <a:close/>
                <a:moveTo>
                  <a:pt x="3375" y="5400"/>
                </a:moveTo>
                <a:lnTo>
                  <a:pt x="10800" y="5400"/>
                </a:ln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10800" y="16200"/>
                </a:lnTo>
                <a:lnTo>
                  <a:pt x="3375" y="16200"/>
                </a:lnTo>
                <a:close/>
              </a:path>
            </a:pathLst>
          </a:custGeom>
          <a:solidFill>
            <a:srgbClr val="FF3300">
              <a:alpha val="85098"/>
            </a:srgbClr>
          </a:solidFill>
          <a:ln w="9525"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lIns="45718" tIns="45718" rIns="45718" bIns="45718"/>
          <a:lstStyle/>
          <a:p>
            <a:pPr algn="l">
              <a:spcBef>
                <a:spcPts val="0"/>
              </a:spcBef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 panose="020B0604020202020204"/>
              </a:defRPr>
            </a:pPr>
            <a:endParaRPr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62096A7-3821-4F17-A3CE-CC58A2C627F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60" b="-589"/>
          <a:stretch>
            <a:fillRect/>
          </a:stretch>
        </p:blipFill>
        <p:spPr>
          <a:xfrm>
            <a:off x="19320000" y="6498000"/>
            <a:ext cx="3760609" cy="466596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794ACAA-7FBC-4117-8E17-8AA77AE6640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272000" y="2552032"/>
            <a:ext cx="8971952" cy="393776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9191DA2-C29E-4637-9E67-DD4D46A2427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445016" y="8131487"/>
            <a:ext cx="3456000" cy="404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55281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X1758 / Revision list：">
            <a:extLst>
              <a:ext uri="{FF2B5EF4-FFF2-40B4-BE49-F238E27FC236}">
                <a16:creationId xmlns:a16="http://schemas.microsoft.com/office/drawing/2014/main" id="{5462F66C-010F-458C-BD4B-3905745BBEF7}"/>
              </a:ext>
            </a:extLst>
          </p:cNvPr>
          <p:cNvSpPr/>
          <p:nvPr/>
        </p:nvSpPr>
        <p:spPr>
          <a:xfrm>
            <a:off x="361950" y="908050"/>
            <a:ext cx="18958050" cy="923322"/>
          </a:xfrm>
          <a:prstGeom prst="rect">
            <a:avLst/>
          </a:prstGeom>
          <a:noFill/>
          <a:ln w="9525">
            <a:noFill/>
          </a:ln>
        </p:spPr>
        <p:txBody>
          <a:bodyPr wrap="square" lIns="91436" tIns="91436" rIns="91436" bIns="91436">
            <a:spAutoFit/>
          </a:bodyPr>
          <a:lstStyle/>
          <a:p>
            <a:pPr>
              <a:spcBef>
                <a:spcPts val="2800"/>
              </a:spcBef>
            </a:pPr>
            <a:r>
              <a:rPr lang="en-US" altLang="zh-CN" sz="4800" dirty="0">
                <a:solidFill>
                  <a:srgbClr val="004D8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sym typeface="Helvetica" charset="0"/>
              </a:rPr>
              <a:t>B747 </a:t>
            </a:r>
            <a:r>
              <a:rPr lang="en-US" altLang="zh-CN" sz="4800" dirty="0">
                <a:solidFill>
                  <a:schemeClr val="tx1"/>
                </a:solidFill>
                <a:latin typeface="Arial" panose="020B0604020202020204" pitchFamily="34" charset="0"/>
              </a:rPr>
              <a:t>|</a:t>
            </a:r>
            <a:r>
              <a:rPr lang="en-US" altLang="zh-CN" sz="4800" dirty="0">
                <a:latin typeface="Helvetica" charset="0"/>
                <a:sym typeface="Helvetica" charset="0"/>
              </a:rPr>
              <a:t> Process Description _ 2nd Double Side Grinding</a:t>
            </a:r>
          </a:p>
        </p:txBody>
      </p:sp>
      <p:sp>
        <p:nvSpPr>
          <p:cNvPr id="8" name="虚尾箭头 7">
            <a:extLst>
              <a:ext uri="{FF2B5EF4-FFF2-40B4-BE49-F238E27FC236}">
                <a16:creationId xmlns:a16="http://schemas.microsoft.com/office/drawing/2014/main" id="{5122D328-DDB5-48BF-9507-D3C561099CD3}"/>
              </a:ext>
            </a:extLst>
          </p:cNvPr>
          <p:cNvSpPr/>
          <p:nvPr/>
        </p:nvSpPr>
        <p:spPr>
          <a:xfrm rot="20328444">
            <a:off x="17587403" y="4940866"/>
            <a:ext cx="1080000" cy="72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5400"/>
                </a:moveTo>
                <a:lnTo>
                  <a:pt x="675" y="5400"/>
                </a:lnTo>
                <a:lnTo>
                  <a:pt x="675" y="16200"/>
                </a:lnTo>
                <a:lnTo>
                  <a:pt x="0" y="16200"/>
                </a:lnTo>
                <a:close/>
                <a:moveTo>
                  <a:pt x="1350" y="5400"/>
                </a:moveTo>
                <a:lnTo>
                  <a:pt x="2700" y="5400"/>
                </a:lnTo>
                <a:lnTo>
                  <a:pt x="2700" y="16200"/>
                </a:lnTo>
                <a:lnTo>
                  <a:pt x="1350" y="16200"/>
                </a:lnTo>
                <a:close/>
                <a:moveTo>
                  <a:pt x="3375" y="5400"/>
                </a:moveTo>
                <a:lnTo>
                  <a:pt x="10800" y="5400"/>
                </a:ln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10800" y="16200"/>
                </a:lnTo>
                <a:lnTo>
                  <a:pt x="3375" y="16200"/>
                </a:lnTo>
                <a:close/>
              </a:path>
            </a:pathLst>
          </a:custGeom>
          <a:solidFill>
            <a:srgbClr val="FF3300">
              <a:alpha val="85098"/>
            </a:srgbClr>
          </a:solidFill>
          <a:ln w="9525"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lIns="45718" tIns="45718" rIns="45718" bIns="45718"/>
          <a:lstStyle/>
          <a:p>
            <a:pPr algn="l">
              <a:spcBef>
                <a:spcPts val="0"/>
              </a:spcBef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 panose="020B0604020202020204"/>
              </a:defRPr>
            </a:pPr>
            <a:endParaRPr/>
          </a:p>
        </p:txBody>
      </p:sp>
      <p:graphicFrame>
        <p:nvGraphicFramePr>
          <p:cNvPr id="14" name="表格 25">
            <a:extLst>
              <a:ext uri="{FF2B5EF4-FFF2-40B4-BE49-F238E27FC236}">
                <a16:creationId xmlns:a16="http://schemas.microsoft.com/office/drawing/2014/main" id="{70F924B3-763F-481A-AAA9-65ED6E99EADE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355579" y="2322000"/>
          <a:ext cx="12196421" cy="8193307"/>
        </p:xfrm>
        <a:graphic>
          <a:graphicData uri="http://schemas.openxmlformats.org/drawingml/2006/table">
            <a:tbl>
              <a:tblPr/>
              <a:tblGrid>
                <a:gridCol w="3228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4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32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99184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595959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lang="en-US" altLang="zh-CN" sz="3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" charset="0"/>
                        </a:rPr>
                        <a:t>2nd</a:t>
                      </a:r>
                      <a:r>
                        <a:rPr lang="en-US" altLang="zh-CN" sz="3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 D</a:t>
                      </a:r>
                      <a:r>
                        <a:rPr lang="en-US" altLang="zh-CN" sz="3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ouble Side Grinding Parameter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9347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Machine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8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en-US" altLang="zh-CN" sz="2000" b="0" i="0" u="none" strike="noStrike" cap="none" spc="0" baseline="0" dirty="0" err="1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型号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/Model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M7625(M7635)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934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8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en-US" altLang="zh-CN" sz="2000" b="0" i="0" u="none" strike="noStrike" cap="none" spc="0" baseline="0" dirty="0" err="1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砂轮材质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/Wheel</a:t>
                      </a:r>
                      <a:r>
                        <a:rPr lang="zh-CN" altLang="en-US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Material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altLang="zh-CN" sz="2000" b="0" i="0" u="none" strike="noStrike" cap="none" spc="0" baseline="0" dirty="0" err="1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树脂砂轮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 /Resin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93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8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en-US" altLang="zh-CN" sz="2000" b="0" i="0" u="none" strike="noStrike" cap="none" spc="0" baseline="0" dirty="0" err="1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砂轮规格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/Wheel</a:t>
                      </a:r>
                      <a:r>
                        <a:rPr lang="zh-CN" altLang="en-US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SPEC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250(350)x129x35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4278087"/>
                  </a:ext>
                </a:extLst>
              </a:tr>
              <a:tr h="799347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Process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8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研磨前尺寸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 Dimension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Before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Grinding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marL="0" lvl="4" indent="0" algn="l" defTabSz="457200">
                        <a:spcBef>
                          <a:spcPts val="0"/>
                        </a:spcBef>
                        <a:tabLst/>
                        <a:defRPr sz="900">
                          <a:solidFill>
                            <a:srgbClr val="0433FF"/>
                          </a:solidFill>
                          <a:sym typeface="Helvetica Neue"/>
                        </a:defRPr>
                      </a:pP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8.809 × 3.93 × 35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934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8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研磨后尺寸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 Dimension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After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Grinding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marL="0" marR="0" lvl="4" indent="0" algn="l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900">
                          <a:solidFill>
                            <a:srgbClr val="0433FF"/>
                          </a:solidFill>
                          <a:sym typeface="Helvetica Neue"/>
                        </a:defRPr>
                      </a:pP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8.809 × </a:t>
                      </a:r>
                      <a:r>
                        <a:rPr lang="en-US" altLang="zh-CN" sz="2000" b="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3.825±0.02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 × 35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934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8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成型磨冷却液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 Coolant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ES232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99347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Fixture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8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固定导槽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 Fixed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Guide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导轨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 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/Slideway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79934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千分尺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/ Micrometer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0-25mm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993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Material utilization ratio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97.33%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82A94E3A-112B-4B43-BF50-20A68FB1329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216465" y="3065375"/>
            <a:ext cx="3362547" cy="340924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7D32BF3-7335-4B4B-ABD8-D89DC9260B1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75605" y="4132846"/>
            <a:ext cx="3261359" cy="3401465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683312BD-F545-09BD-3389-9444AB3BB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6478280" y="8001008"/>
            <a:ext cx="3857652" cy="4952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11707510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25">
            <a:extLst>
              <a:ext uri="{FF2B5EF4-FFF2-40B4-BE49-F238E27FC236}">
                <a16:creationId xmlns:a16="http://schemas.microsoft.com/office/drawing/2014/main" id="{96BA4BD5-5D9E-4424-93ED-5334EFD6CE09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557334" y="2250000"/>
          <a:ext cx="13434666" cy="8902400"/>
        </p:xfrm>
        <a:graphic>
          <a:graphicData uri="http://schemas.openxmlformats.org/drawingml/2006/table">
            <a:tbl>
              <a:tblPr/>
              <a:tblGrid>
                <a:gridCol w="32421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4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18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7200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595959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lang="en-US" altLang="zh-CN" sz="3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" charset="0"/>
                        </a:rPr>
                        <a:t> </a:t>
                      </a:r>
                      <a:r>
                        <a:rPr lang="en-US" altLang="zh-CN" sz="3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1st </a:t>
                      </a:r>
                      <a:r>
                        <a:rPr lang="en-US" altLang="zh-CN" sz="3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" charset="0"/>
                        </a:rPr>
                        <a:t>Profile Grinding </a:t>
                      </a:r>
                      <a:r>
                        <a:rPr lang="en-US" altLang="zh-CN" sz="3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Parameter</a:t>
                      </a:r>
                      <a:endParaRPr sz="3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600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Machine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型号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/Model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PG160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砂轮材质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/Wheel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Material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金刚砂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 /</a:t>
                      </a:r>
                      <a:r>
                        <a:rPr lang="en-US" altLang="zh-CN"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SiC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76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8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砂轮规格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/Wheel SPEC</a:t>
                      </a:r>
                      <a:endParaRPr lang="en-US"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D160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523762"/>
                  </a:ext>
                </a:extLst>
              </a:tr>
              <a:tr h="857600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Process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8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研磨前尺寸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/Dimension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Before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Grinding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0433FF"/>
                          </a:solidFill>
                          <a:sym typeface="Helvetica Neue"/>
                        </a:defRPr>
                      </a:pP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 New Roman" panose="02020603050405020304"/>
                        </a:rPr>
                        <a:t>8.809 × 3.825 × 35</a:t>
                      </a:r>
                      <a:endParaRPr lang="en-US" altLang="zh-CN"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69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8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研磨后尺寸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/Dimension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After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Grinding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900" b="0">
                          <a:solidFill>
                            <a:srgbClr val="0433FF"/>
                          </a:solidFill>
                          <a:sym typeface="Helvetica Neue"/>
                        </a:defRPr>
                      </a:pP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 New Roman" panose="02020603050405020304"/>
                        </a:rPr>
                        <a:t>8.809 × 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rgbClr val="0000FF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 New Roman" panose="02020603050405020304"/>
                        </a:rPr>
                        <a:t>(R21.5 / R24.5 </a:t>
                      </a:r>
                      <a:r>
                        <a:rPr lang="en-US" altLang="zh-CN" sz="2000" b="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 3) </a:t>
                      </a: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 New Roman" panose="02020603050405020304"/>
                        </a:rPr>
                        <a:t>× 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35</a:t>
                      </a:r>
                      <a:endParaRPr lang="en-US" altLang="zh-CN" sz="2000" b="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57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8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成型磨冷却液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/Coolant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ES232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57600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Fixture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固定导槽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/Fixed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Guide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专用导轨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 /Customized Slideway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857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影像测试仪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/Image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charset="-122"/>
                        </a:rPr>
                        <a:t>Tester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O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MM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8576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Material utilization ratio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78.38%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" name="虚尾箭头 7">
            <a:extLst>
              <a:ext uri="{FF2B5EF4-FFF2-40B4-BE49-F238E27FC236}">
                <a16:creationId xmlns:a16="http://schemas.microsoft.com/office/drawing/2014/main" id="{0604C638-9A36-405D-AEC9-6BDF774D99A8}"/>
              </a:ext>
            </a:extLst>
          </p:cNvPr>
          <p:cNvSpPr/>
          <p:nvPr/>
        </p:nvSpPr>
        <p:spPr>
          <a:xfrm rot="20567709">
            <a:off x="18516213" y="5452942"/>
            <a:ext cx="1080000" cy="72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5400"/>
                </a:moveTo>
                <a:lnTo>
                  <a:pt x="675" y="5400"/>
                </a:lnTo>
                <a:lnTo>
                  <a:pt x="675" y="16200"/>
                </a:lnTo>
                <a:lnTo>
                  <a:pt x="0" y="16200"/>
                </a:lnTo>
                <a:close/>
                <a:moveTo>
                  <a:pt x="1350" y="5400"/>
                </a:moveTo>
                <a:lnTo>
                  <a:pt x="2700" y="5400"/>
                </a:lnTo>
                <a:lnTo>
                  <a:pt x="2700" y="16200"/>
                </a:lnTo>
                <a:lnTo>
                  <a:pt x="1350" y="16200"/>
                </a:lnTo>
                <a:close/>
                <a:moveTo>
                  <a:pt x="3375" y="5400"/>
                </a:moveTo>
                <a:lnTo>
                  <a:pt x="10800" y="5400"/>
                </a:ln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10800" y="16200"/>
                </a:lnTo>
                <a:lnTo>
                  <a:pt x="3375" y="16200"/>
                </a:lnTo>
                <a:close/>
              </a:path>
            </a:pathLst>
          </a:custGeom>
          <a:solidFill>
            <a:srgbClr val="FF3300">
              <a:alpha val="85098"/>
            </a:srgbClr>
          </a:solidFill>
          <a:ln w="9525"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lIns="45718" tIns="45718" rIns="45718" bIns="45718"/>
          <a:lstStyle/>
          <a:p>
            <a:pPr algn="l">
              <a:spcBef>
                <a:spcPts val="0"/>
              </a:spcBef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 panose="020B0604020202020204"/>
              </a:defRPr>
            </a:pPr>
            <a:endParaRPr/>
          </a:p>
        </p:txBody>
      </p:sp>
      <p:sp>
        <p:nvSpPr>
          <p:cNvPr id="9" name="X1758 / Revision list：">
            <a:extLst>
              <a:ext uri="{FF2B5EF4-FFF2-40B4-BE49-F238E27FC236}">
                <a16:creationId xmlns:a16="http://schemas.microsoft.com/office/drawing/2014/main" id="{ED2E2AF9-87F8-400E-9729-ECEE7B7B4500}"/>
              </a:ext>
            </a:extLst>
          </p:cNvPr>
          <p:cNvSpPr/>
          <p:nvPr/>
        </p:nvSpPr>
        <p:spPr>
          <a:xfrm>
            <a:off x="361950" y="908050"/>
            <a:ext cx="17950050" cy="2021058"/>
          </a:xfrm>
          <a:prstGeom prst="rect">
            <a:avLst/>
          </a:prstGeom>
          <a:noFill/>
          <a:ln w="9525">
            <a:noFill/>
          </a:ln>
        </p:spPr>
        <p:txBody>
          <a:bodyPr wrap="square" lIns="91436" tIns="91436" rIns="91436" bIns="91436">
            <a:spAutoFit/>
          </a:bodyPr>
          <a:lstStyle/>
          <a:p>
            <a:pPr>
              <a:spcBef>
                <a:spcPts val="2800"/>
              </a:spcBef>
            </a:pPr>
            <a:r>
              <a:rPr lang="en-US" altLang="zh-CN" sz="4800" dirty="0">
                <a:solidFill>
                  <a:srgbClr val="004D8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sym typeface="Helvetica" charset="0"/>
              </a:rPr>
              <a:t>B747 </a:t>
            </a:r>
            <a:r>
              <a:rPr lang="en-US" altLang="zh-CN" sz="4800" dirty="0">
                <a:solidFill>
                  <a:schemeClr val="tx1"/>
                </a:solidFill>
                <a:latin typeface="Arial" panose="020B0604020202020204" pitchFamily="34" charset="0"/>
              </a:rPr>
              <a:t>|</a:t>
            </a:r>
            <a:r>
              <a:rPr lang="en-US" altLang="zh-CN" sz="4800" dirty="0">
                <a:latin typeface="Helvetica" charset="0"/>
                <a:sym typeface="Helvetica" charset="0"/>
              </a:rPr>
              <a:t> Process Description _ </a:t>
            </a:r>
            <a:r>
              <a:rPr lang="en-US" altLang="zh-CN" sz="4800" dirty="0">
                <a:latin typeface="Helvetica" charset="0"/>
              </a:rPr>
              <a:t>1st </a:t>
            </a:r>
            <a:r>
              <a:rPr lang="en-US" altLang="zh-CN" sz="4800" dirty="0">
                <a:cs typeface="Arial" panose="020B0604020202020204" pitchFamily="34" charset="0"/>
              </a:rPr>
              <a:t>Profile Grinding</a:t>
            </a:r>
          </a:p>
          <a:p>
            <a:pPr>
              <a:spcBef>
                <a:spcPts val="2800"/>
              </a:spcBef>
            </a:pPr>
            <a:endParaRPr lang="en-US" altLang="zh-CN" sz="4800" dirty="0">
              <a:latin typeface="Helvetica" charset="0"/>
              <a:sym typeface="Helvetica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14CBC48-ADCA-4EDC-B6A9-5E3E818CB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01765" y="4194000"/>
            <a:ext cx="4124901" cy="191479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F747E27-1FA7-47BA-80CB-7750AE7EE9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84813" y="5683902"/>
            <a:ext cx="3934374" cy="1981477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99304F33-FB2B-9703-9D8A-91CA32202707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8192792" y="8072446"/>
            <a:ext cx="3643338" cy="501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7641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X1758 / Revision list："/>
          <p:cNvSpPr/>
          <p:nvPr/>
        </p:nvSpPr>
        <p:spPr>
          <a:xfrm>
            <a:off x="361950" y="908050"/>
            <a:ext cx="16362363" cy="923322"/>
          </a:xfrm>
          <a:prstGeom prst="rect">
            <a:avLst/>
          </a:prstGeom>
          <a:noFill/>
          <a:ln w="9525">
            <a:noFill/>
          </a:ln>
        </p:spPr>
        <p:txBody>
          <a:bodyPr lIns="91436" tIns="91436" rIns="91436" bIns="91436">
            <a:spAutoFit/>
          </a:bodyPr>
          <a:lstStyle/>
          <a:p>
            <a:pPr>
              <a:spcBef>
                <a:spcPts val="2800"/>
              </a:spcBef>
            </a:pPr>
            <a:r>
              <a:rPr lang="en-US" altLang="zh-CN" sz="4800" dirty="0">
                <a:solidFill>
                  <a:srgbClr val="004D8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sym typeface="Helvetica" charset="0"/>
              </a:rPr>
              <a:t>B747 </a:t>
            </a:r>
            <a:r>
              <a:rPr lang="en-US" altLang="zh-CN" sz="4800" dirty="0">
                <a:solidFill>
                  <a:schemeClr val="tx1"/>
                </a:solidFill>
                <a:latin typeface="Arial" panose="020B0604020202020204" pitchFamily="34" charset="0"/>
              </a:rPr>
              <a:t>|</a:t>
            </a:r>
            <a:r>
              <a:rPr lang="en-US" altLang="zh-CN" sz="4800" dirty="0">
                <a:latin typeface="Helvetica" charset="0"/>
                <a:sym typeface="Helvetica" charset="0"/>
              </a:rPr>
              <a:t> Process Description _ 3rd Wire Saw</a:t>
            </a:r>
          </a:p>
        </p:txBody>
      </p:sp>
      <p:graphicFrame>
        <p:nvGraphicFramePr>
          <p:cNvPr id="10" name="表格 25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9582133"/>
              </p:ext>
            </p:extLst>
          </p:nvPr>
        </p:nvGraphicFramePr>
        <p:xfrm>
          <a:off x="355579" y="2322000"/>
          <a:ext cx="12240000" cy="8467200"/>
        </p:xfrm>
        <a:graphic>
          <a:graphicData uri="http://schemas.openxmlformats.org/drawingml/2006/table">
            <a:tbl>
              <a:tblPr/>
              <a:tblGrid>
                <a:gridCol w="32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64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35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400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595959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lang="en-US" altLang="zh-CN" sz="3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" charset="0"/>
                        </a:rPr>
                        <a:t>3rd</a:t>
                      </a:r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3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Wire Saw P</a:t>
                      </a:r>
                      <a:r>
                        <a:rPr sz="3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arameter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1200">
                <a:tc row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Machine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型号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/Model</a:t>
                      </a:r>
                      <a:endParaRPr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SDX1160MHR</a:t>
                      </a:r>
                      <a:endParaRPr lang="en-US" sz="2000" b="0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Arial" panose="020B0604020202020204"/>
                      </a:endParaRP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12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滚轮转速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/Wheel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Speed</a:t>
                      </a:r>
                      <a:endParaRPr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1000-1600m/min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12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线径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/Wire Diameter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0.</a:t>
                      </a:r>
                      <a:r>
                        <a:rPr lang="en-US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18</a:t>
                      </a:r>
                      <a:r>
                        <a:rPr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mm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12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主</a:t>
                      </a:r>
                      <a:r>
                        <a:rPr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进给速度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/Main Feeding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Speed</a:t>
                      </a:r>
                      <a:endParaRPr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altLang="zh-CN" sz="20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0.3-0.5mm/min</a:t>
                      </a:r>
                      <a:endParaRPr lang="en-US" altLang="zh-CN" sz="2000" b="0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Arial" panose="020B0604020202020204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1200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Process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料块摆放数量/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 </a:t>
                      </a: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Block Qty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(1 × 10) × 8 ×4</a:t>
                      </a:r>
                      <a:endParaRPr lang="en-US"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12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切片尺寸</a:t>
                      </a: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 </a:t>
                      </a: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Slicing Dimension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marL="1828800" lvl="4" indent="-1828800" algn="l" defTabSz="457200">
                        <a:spcBef>
                          <a:spcPts val="0"/>
                        </a:spcBef>
                        <a:defRPr sz="900">
                          <a:solidFill>
                            <a:srgbClr val="0433FF"/>
                          </a:solidFill>
                          <a:sym typeface="Helvetica Neue"/>
                        </a:defRPr>
                      </a:pPr>
                      <a:r>
                        <a:rPr lang="en-US" altLang="zh-CN" sz="2000" b="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1.60±0.04 mm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91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冷却液</a:t>
                      </a: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 </a:t>
                      </a: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Coolant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GD260-A</a:t>
                      </a:r>
                      <a:endParaRPr lang="en-US" sz="2000" dirty="0" err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Arial" panose="020B0604020202020204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3983942"/>
                  </a:ext>
                </a:extLst>
              </a:tr>
              <a:tr h="691200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Fixture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marL="0" marR="0" lvl="0" indent="0" algn="l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L</a:t>
                      </a: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直角靠块</a:t>
                      </a: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 </a:t>
                      </a: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Right-angle Block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专用夹具 Custom Made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912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千分尺</a:t>
                      </a:r>
                      <a:r>
                        <a:rPr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/</a:t>
                      </a:r>
                      <a:r>
                        <a:rPr lang="en-US"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 </a:t>
                      </a:r>
                      <a:r>
                        <a:rPr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Micrometer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0-25mm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912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marL="0" marR="0" indent="0" algn="l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大理石底板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/Marble platform</a:t>
                      </a:r>
                      <a:endParaRPr sz="2000" dirty="0"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"/>
                        </a:rPr>
                        <a:t>专用定制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"/>
                        </a:rPr>
                        <a:t> </a:t>
                      </a:r>
                      <a:r>
                        <a:rPr lang="en-US" altLang="zh-CN"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"/>
                        </a:rPr>
                        <a:t>Custon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"/>
                        </a:rPr>
                        <a:t>Made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Times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912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Material utilization ratio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88.18%</a:t>
                      </a:r>
                      <a:endParaRPr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2" name="虚尾箭头 7"/>
          <p:cNvSpPr/>
          <p:nvPr/>
        </p:nvSpPr>
        <p:spPr>
          <a:xfrm rot="5400000">
            <a:off x="15539999" y="7355413"/>
            <a:ext cx="1080000" cy="72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5400"/>
                </a:moveTo>
                <a:lnTo>
                  <a:pt x="675" y="5400"/>
                </a:lnTo>
                <a:lnTo>
                  <a:pt x="675" y="16200"/>
                </a:lnTo>
                <a:lnTo>
                  <a:pt x="0" y="16200"/>
                </a:lnTo>
                <a:close/>
                <a:moveTo>
                  <a:pt x="1350" y="5400"/>
                </a:moveTo>
                <a:lnTo>
                  <a:pt x="2700" y="5400"/>
                </a:lnTo>
                <a:lnTo>
                  <a:pt x="2700" y="16200"/>
                </a:lnTo>
                <a:lnTo>
                  <a:pt x="1350" y="16200"/>
                </a:lnTo>
                <a:close/>
                <a:moveTo>
                  <a:pt x="3375" y="5400"/>
                </a:moveTo>
                <a:lnTo>
                  <a:pt x="10800" y="5400"/>
                </a:ln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10800" y="16200"/>
                </a:lnTo>
                <a:lnTo>
                  <a:pt x="3375" y="16200"/>
                </a:lnTo>
                <a:close/>
              </a:path>
            </a:pathLst>
          </a:custGeom>
          <a:solidFill>
            <a:srgbClr val="FF3300">
              <a:alpha val="85098"/>
            </a:srgbClr>
          </a:solidFill>
          <a:ln w="9525"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lIns="45718" tIns="45718" rIns="45718" bIns="45718"/>
          <a:lstStyle/>
          <a:p>
            <a:pPr algn="l">
              <a:spcBef>
                <a:spcPts val="0"/>
              </a:spcBef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 panose="020B0604020202020204"/>
              </a:defRPr>
            </a:pPr>
            <a:endParaRPr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192132" y="3286100"/>
            <a:ext cx="8150135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692330" y="9358330"/>
            <a:ext cx="3357586" cy="1809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9764428" y="6643686"/>
            <a:ext cx="3588771" cy="478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虚尾箭头 7"/>
          <p:cNvSpPr/>
          <p:nvPr/>
        </p:nvSpPr>
        <p:spPr>
          <a:xfrm rot="19096324">
            <a:off x="18652606" y="4554326"/>
            <a:ext cx="1080000" cy="72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5400"/>
                </a:moveTo>
                <a:lnTo>
                  <a:pt x="675" y="5400"/>
                </a:lnTo>
                <a:lnTo>
                  <a:pt x="675" y="16200"/>
                </a:lnTo>
                <a:lnTo>
                  <a:pt x="0" y="16200"/>
                </a:lnTo>
                <a:close/>
                <a:moveTo>
                  <a:pt x="1350" y="5400"/>
                </a:moveTo>
                <a:lnTo>
                  <a:pt x="2700" y="5400"/>
                </a:lnTo>
                <a:lnTo>
                  <a:pt x="2700" y="16200"/>
                </a:lnTo>
                <a:lnTo>
                  <a:pt x="1350" y="16200"/>
                </a:lnTo>
                <a:close/>
                <a:moveTo>
                  <a:pt x="3375" y="5400"/>
                </a:moveTo>
                <a:lnTo>
                  <a:pt x="10800" y="5400"/>
                </a:ln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10800" y="16200"/>
                </a:lnTo>
                <a:lnTo>
                  <a:pt x="3375" y="16200"/>
                </a:lnTo>
                <a:close/>
              </a:path>
            </a:pathLst>
          </a:custGeom>
          <a:solidFill>
            <a:srgbClr val="FF3300">
              <a:alpha val="85098"/>
            </a:srgbClr>
          </a:solidFill>
          <a:ln w="9525"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lIns="45718" tIns="45718" rIns="45718" bIns="45718"/>
          <a:lstStyle/>
          <a:p>
            <a:pPr algn="l">
              <a:spcBef>
                <a:spcPts val="0"/>
              </a:spcBef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 panose="020B0604020202020204"/>
              </a:defRPr>
            </a:pPr>
            <a:endParaRPr/>
          </a:p>
        </p:txBody>
      </p:sp>
      <p:sp>
        <p:nvSpPr>
          <p:cNvPr id="9" name="X1758 / Revision list："/>
          <p:cNvSpPr/>
          <p:nvPr/>
        </p:nvSpPr>
        <p:spPr>
          <a:xfrm>
            <a:off x="361950" y="908050"/>
            <a:ext cx="17950050" cy="2021058"/>
          </a:xfrm>
          <a:prstGeom prst="rect">
            <a:avLst/>
          </a:prstGeom>
          <a:noFill/>
          <a:ln w="9525">
            <a:noFill/>
          </a:ln>
        </p:spPr>
        <p:txBody>
          <a:bodyPr wrap="square" lIns="91436" tIns="91436" rIns="91436" bIns="91436">
            <a:spAutoFit/>
          </a:bodyPr>
          <a:lstStyle/>
          <a:p>
            <a:pPr>
              <a:spcBef>
                <a:spcPts val="2800"/>
              </a:spcBef>
            </a:pPr>
            <a:r>
              <a:rPr lang="en-US" altLang="zh-CN" sz="4800" dirty="0">
                <a:solidFill>
                  <a:srgbClr val="004D8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sym typeface="Helvetica" charset="0"/>
              </a:rPr>
              <a:t>B747 </a:t>
            </a:r>
            <a:r>
              <a:rPr lang="en-US" altLang="zh-CN" sz="4800" dirty="0">
                <a:solidFill>
                  <a:schemeClr val="tx1"/>
                </a:solidFill>
                <a:latin typeface="Arial" panose="020B0604020202020204" pitchFamily="34" charset="0"/>
              </a:rPr>
              <a:t>|</a:t>
            </a:r>
            <a:r>
              <a:rPr lang="en-US" altLang="zh-CN" sz="4800" dirty="0">
                <a:latin typeface="Helvetica" charset="0"/>
                <a:sym typeface="Helvetica" charset="0"/>
              </a:rPr>
              <a:t> Process Description _ 2nd </a:t>
            </a:r>
            <a:r>
              <a:rPr lang="en-US" altLang="zh-CN" sz="4800" dirty="0">
                <a:cs typeface="Arial" panose="020B0604020202020204" pitchFamily="34" charset="0"/>
              </a:rPr>
              <a:t>Profile Grinding</a:t>
            </a:r>
          </a:p>
          <a:p>
            <a:pPr>
              <a:spcBef>
                <a:spcPts val="2800"/>
              </a:spcBef>
            </a:pPr>
            <a:endParaRPr lang="en-US" altLang="zh-CN" sz="4800" dirty="0">
              <a:latin typeface="Helvetica" charset="0"/>
              <a:sym typeface="Helvetica" charset="0"/>
            </a:endParaRPr>
          </a:p>
        </p:txBody>
      </p:sp>
      <p:graphicFrame>
        <p:nvGraphicFramePr>
          <p:cNvPr id="13" name="表格 19"/>
          <p:cNvGraphicFramePr/>
          <p:nvPr>
            <p:custDataLst>
              <p:tags r:id="rId1"/>
            </p:custDataLst>
          </p:nvPr>
        </p:nvGraphicFramePr>
        <p:xfrm>
          <a:off x="1437176" y="2466000"/>
          <a:ext cx="12986824" cy="6947860"/>
        </p:xfrm>
        <a:graphic>
          <a:graphicData uri="http://schemas.openxmlformats.org/drawingml/2006/table">
            <a:tbl>
              <a:tblPr/>
              <a:tblGrid>
                <a:gridCol w="2912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0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38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1839">
                <a:tc gridSpan="3">
                  <a:txBody>
                    <a:bodyPr/>
                    <a:lstStyle/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en-US" altLang="zh-CN" sz="3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" charset="0"/>
                        </a:rPr>
                        <a:t>2nd </a:t>
                      </a:r>
                      <a:r>
                        <a:rPr sz="3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Grinding</a:t>
                      </a:r>
                      <a:r>
                        <a:rPr sz="3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宋体" panose="02010600030101010101" pitchFamily="2" charset="-122"/>
                        </a:rPr>
                        <a:t> </a:t>
                      </a:r>
                      <a:r>
                        <a:rPr sz="3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parameter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124">
                <a:tc rowSpan="3">
                  <a:txBody>
                    <a:bodyPr/>
                    <a:lstStyle/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Machine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型号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/Type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Grinding Machine With Two Grinding Wheels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86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砂轮材质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/Grinding Wheel Material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金刚砂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/Emery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86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砂轮规格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/Grinding Wheel Specification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D160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6224">
                <a:tc rowSpan="3">
                  <a:txBody>
                    <a:bodyPr/>
                    <a:lstStyle/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Process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研磨前尺寸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/Dimension before Grinding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R24.5 x R21.5 x 3 x 8.81 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 New Roman" panose="02020603050405020304"/>
                        </a:rPr>
                        <a:t>x 1.60</a:t>
                      </a:r>
                      <a:endParaRPr lang="en-US" altLang="zh-CN"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851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研磨后尺寸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/Dimension after Grinding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R24.5 x R21.5 x 3 x 8.81  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 New Roman" panose="02020603050405020304"/>
                        </a:rPr>
                        <a:t>x  </a:t>
                      </a:r>
                      <a:r>
                        <a:rPr lang="en-US" altLang="zh-CN" sz="2000" b="0" kern="12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 New Roman" panose="02020603050405020304"/>
                        </a:rPr>
                        <a:t>Inner Arc</a:t>
                      </a:r>
                      <a:endParaRPr lang="en-US" altLang="zh-CN" sz="2000" b="0" kern="12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622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成型磨冷却液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/Coolant for Profile Grinding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M6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6224">
                <a:tc rowSpan="2">
                  <a:txBody>
                    <a:bodyPr/>
                    <a:lstStyle/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Fixture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固定导槽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/Fixed Guide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专用导轨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/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Customized </a:t>
                      </a:r>
                      <a:r>
                        <a:rPr lang="en-US" altLang="zh-CN"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Slideway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0256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影像测试仪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/Image Measurement Instrument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en-US" altLang="zh-CN" sz="2000" b="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OMM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80409">
                <a:tc>
                  <a:txBody>
                    <a:bodyPr/>
                    <a:lstStyle/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Material utilization ratio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algn="ctr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74.05%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192792" y="8143884"/>
            <a:ext cx="3429024" cy="4719592"/>
          </a:xfrm>
          <a:prstGeom prst="rect">
            <a:avLst/>
          </a:prstGeo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63834" y="5214926"/>
            <a:ext cx="3357586" cy="221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9692990" y="2571720"/>
            <a:ext cx="3143272" cy="2022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虚尾箭头 7"/>
          <p:cNvSpPr/>
          <p:nvPr/>
        </p:nvSpPr>
        <p:spPr>
          <a:xfrm rot="20127931">
            <a:off x="19436531" y="4549397"/>
            <a:ext cx="1080000" cy="72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5400"/>
                </a:moveTo>
                <a:lnTo>
                  <a:pt x="675" y="5400"/>
                </a:lnTo>
                <a:lnTo>
                  <a:pt x="675" y="16200"/>
                </a:lnTo>
                <a:lnTo>
                  <a:pt x="0" y="16200"/>
                </a:lnTo>
                <a:close/>
                <a:moveTo>
                  <a:pt x="1350" y="5400"/>
                </a:moveTo>
                <a:lnTo>
                  <a:pt x="2700" y="5400"/>
                </a:lnTo>
                <a:lnTo>
                  <a:pt x="2700" y="16200"/>
                </a:lnTo>
                <a:lnTo>
                  <a:pt x="1350" y="16200"/>
                </a:lnTo>
                <a:close/>
                <a:moveTo>
                  <a:pt x="3375" y="5400"/>
                </a:moveTo>
                <a:lnTo>
                  <a:pt x="10800" y="5400"/>
                </a:ln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10800" y="16200"/>
                </a:lnTo>
                <a:lnTo>
                  <a:pt x="3375" y="16200"/>
                </a:lnTo>
                <a:close/>
              </a:path>
            </a:pathLst>
          </a:custGeom>
          <a:solidFill>
            <a:srgbClr val="FF3300">
              <a:alpha val="85098"/>
            </a:srgbClr>
          </a:solidFill>
          <a:ln w="9525"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lIns="45718" tIns="45718" rIns="45718" bIns="45718"/>
          <a:lstStyle/>
          <a:p>
            <a:pPr algn="l">
              <a:spcBef>
                <a:spcPts val="0"/>
              </a:spcBef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 panose="020B0604020202020204"/>
              </a:defRPr>
            </a:pPr>
            <a:endParaRPr/>
          </a:p>
        </p:txBody>
      </p:sp>
      <p:sp>
        <p:nvSpPr>
          <p:cNvPr id="9" name="X1758 / Revision list："/>
          <p:cNvSpPr/>
          <p:nvPr/>
        </p:nvSpPr>
        <p:spPr>
          <a:xfrm>
            <a:off x="361950" y="908050"/>
            <a:ext cx="17950050" cy="2021058"/>
          </a:xfrm>
          <a:prstGeom prst="rect">
            <a:avLst/>
          </a:prstGeom>
          <a:noFill/>
          <a:ln w="9525">
            <a:noFill/>
          </a:ln>
        </p:spPr>
        <p:txBody>
          <a:bodyPr wrap="square" lIns="91436" tIns="91436" rIns="91436" bIns="91436">
            <a:spAutoFit/>
          </a:bodyPr>
          <a:lstStyle/>
          <a:p>
            <a:pPr>
              <a:spcBef>
                <a:spcPts val="2800"/>
              </a:spcBef>
            </a:pPr>
            <a:r>
              <a:rPr lang="en-US" altLang="zh-CN" sz="4800" dirty="0">
                <a:solidFill>
                  <a:srgbClr val="004D8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sym typeface="Helvetica" charset="0"/>
              </a:rPr>
              <a:t>B747 </a:t>
            </a:r>
            <a:r>
              <a:rPr lang="en-US" altLang="zh-CN" sz="4800" dirty="0">
                <a:solidFill>
                  <a:schemeClr val="tx1"/>
                </a:solidFill>
                <a:latin typeface="Arial" panose="020B0604020202020204" pitchFamily="34" charset="0"/>
              </a:rPr>
              <a:t>|</a:t>
            </a:r>
            <a:r>
              <a:rPr lang="en-US" altLang="zh-CN" sz="4800" dirty="0">
                <a:latin typeface="Helvetica" charset="0"/>
                <a:sym typeface="Helvetica" charset="0"/>
              </a:rPr>
              <a:t> Process Description _ 3rd </a:t>
            </a:r>
            <a:r>
              <a:rPr lang="en-US" altLang="zh-CN" sz="4800" dirty="0">
                <a:cs typeface="Arial" panose="020B0604020202020204" pitchFamily="34" charset="0"/>
              </a:rPr>
              <a:t>Profile Grinding</a:t>
            </a:r>
          </a:p>
          <a:p>
            <a:pPr>
              <a:spcBef>
                <a:spcPts val="2800"/>
              </a:spcBef>
            </a:pPr>
            <a:endParaRPr lang="en-US" altLang="zh-CN" sz="4800" dirty="0">
              <a:latin typeface="Helvetica" charset="0"/>
              <a:sym typeface="Helvetica" charset="0"/>
            </a:endParaRPr>
          </a:p>
        </p:txBody>
      </p:sp>
      <p:graphicFrame>
        <p:nvGraphicFramePr>
          <p:cNvPr id="13" name="表格 19"/>
          <p:cNvGraphicFramePr/>
          <p:nvPr>
            <p:custDataLst>
              <p:tags r:id="rId1"/>
            </p:custDataLst>
          </p:nvPr>
        </p:nvGraphicFramePr>
        <p:xfrm>
          <a:off x="1437176" y="2466000"/>
          <a:ext cx="13562824" cy="6947860"/>
        </p:xfrm>
        <a:graphic>
          <a:graphicData uri="http://schemas.openxmlformats.org/drawingml/2006/table">
            <a:tbl>
              <a:tblPr/>
              <a:tblGrid>
                <a:gridCol w="2912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0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98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1839">
                <a:tc gridSpan="3">
                  <a:txBody>
                    <a:bodyPr/>
                    <a:lstStyle/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en-US" altLang="zh-CN" sz="3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" charset="0"/>
                        </a:rPr>
                        <a:t>3rd </a:t>
                      </a:r>
                      <a:r>
                        <a:rPr sz="3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Grinding</a:t>
                      </a:r>
                      <a:r>
                        <a:rPr sz="3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宋体" panose="02010600030101010101" pitchFamily="2" charset="-122"/>
                        </a:rPr>
                        <a:t> </a:t>
                      </a:r>
                      <a:r>
                        <a:rPr sz="3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parameter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124">
                <a:tc rowSpan="3">
                  <a:txBody>
                    <a:bodyPr/>
                    <a:lstStyle/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Machine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型号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/Type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Grinding Machine With Two Grinding Wheels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86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砂轮材质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/Grinding Wheel Material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金刚砂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/Emery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86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砂轮规格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/Grinding Wheel Specification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D160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6224">
                <a:tc rowSpan="3">
                  <a:txBody>
                    <a:bodyPr/>
                    <a:lstStyle/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Process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研磨前尺寸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/Dimension before Grinding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R24.5 x R21.5 x 3 x 8.81 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 New Roman" panose="02020603050405020304"/>
                        </a:rPr>
                        <a:t>x Inner Arc</a:t>
                      </a:r>
                      <a:endParaRPr lang="en-US" altLang="zh-CN"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851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研磨后尺寸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/Dimension after Grinding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R24.5 x R21.5 x 3 x 8.81  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 New Roman" panose="02020603050405020304"/>
                        </a:rPr>
                        <a:t>x  Inner Arc </a:t>
                      </a:r>
                      <a:r>
                        <a:rPr lang="en-US" altLang="zh-CN" sz="2000" b="0" kern="12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Times New Roman" panose="02020603050405020304"/>
                        </a:rPr>
                        <a:t>/ Outer Arc</a:t>
                      </a:r>
                      <a:endParaRPr lang="en-US" altLang="zh-CN" sz="2000" b="0" kern="12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622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成型磨冷却液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/Coolant for Profile Grinding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M6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6224">
                <a:tc rowSpan="2">
                  <a:txBody>
                    <a:bodyPr/>
                    <a:lstStyle/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Fixture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固定导槽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/Fixed Guide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专用导轨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/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Customized </a:t>
                      </a:r>
                      <a:r>
                        <a:rPr lang="en-US" altLang="zh-CN"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Slideway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0256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影像测试仪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/Image Measurement Instrument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en-US" altLang="zh-CN" sz="2000" b="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OMM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80409">
                <a:tc>
                  <a:txBody>
                    <a:bodyPr/>
                    <a:lstStyle/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elvetica Neue"/>
                        </a:rPr>
                        <a:t>Material utilization ratio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algn="ctr" defTabSz="457200" rtl="0" eaLnBrk="1" latinLnBrk="0" hangingPunct="1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sym typeface="Helvetica Neue"/>
                        </a:defRPr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81.26%</a:t>
                      </a:r>
                      <a:endParaRPr sz="2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192792" y="8072446"/>
            <a:ext cx="3643338" cy="5014567"/>
          </a:xfrm>
          <a:prstGeom prst="rect">
            <a:avLst/>
          </a:prstGeom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rot="20692923">
            <a:off x="16406842" y="3989408"/>
            <a:ext cx="2019606" cy="2797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 rot="1028377">
            <a:off x="20594929" y="3261066"/>
            <a:ext cx="2924175" cy="122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360" y="2394000"/>
            <a:ext cx="8131766" cy="5760000"/>
          </a:xfrm>
          <a:prstGeom prst="rect">
            <a:avLst/>
          </a:prstGeom>
        </p:spPr>
      </p:pic>
      <p:grpSp>
        <p:nvGrpSpPr>
          <p:cNvPr id="2" name="组合 1"/>
          <p:cNvGrpSpPr>
            <a:grpSpLocks noChangeAspect="1"/>
          </p:cNvGrpSpPr>
          <p:nvPr/>
        </p:nvGrpSpPr>
        <p:grpSpPr>
          <a:xfrm>
            <a:off x="14640000" y="8706875"/>
            <a:ext cx="7348893" cy="3280059"/>
            <a:chOff x="15547632" y="8442000"/>
            <a:chExt cx="4328588" cy="1931995"/>
          </a:xfrm>
        </p:grpSpPr>
        <p:sp>
          <p:nvSpPr>
            <p:cNvPr id="135" name="Remove the sharp edge of magnet"/>
            <p:cNvSpPr txBox="1"/>
            <p:nvPr/>
          </p:nvSpPr>
          <p:spPr>
            <a:xfrm>
              <a:off x="15547632" y="10102069"/>
              <a:ext cx="3986435" cy="271926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91438" rIns="91438">
              <a:spAutoFit/>
            </a:bodyPr>
            <a:lstStyle>
              <a:lvl1pPr algn="l">
                <a:spcBef>
                  <a:spcPts val="0"/>
                </a:spcBef>
                <a:defRPr sz="1200" b="1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</a:lstStyle>
            <a:p>
              <a:r>
                <a:rPr sz="2400" dirty="0">
                  <a:latin typeface="Arial" panose="020B0604020202020204" pitchFamily="34" charset="0"/>
                  <a:cs typeface="Arial" panose="020B0604020202020204" pitchFamily="34" charset="0"/>
                </a:rPr>
                <a:t>Remove the sharp edge of magnet</a:t>
              </a: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576000" y="8442000"/>
              <a:ext cx="2129790" cy="1577340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808660" y="8442000"/>
              <a:ext cx="2067560" cy="1567180"/>
            </a:xfrm>
            <a:prstGeom prst="rect">
              <a:avLst/>
            </a:prstGeom>
          </p:spPr>
        </p:pic>
      </p:grpSp>
      <p:sp>
        <p:nvSpPr>
          <p:cNvPr id="3" name="X1758 / Revision list："/>
          <p:cNvSpPr/>
          <p:nvPr/>
        </p:nvSpPr>
        <p:spPr>
          <a:xfrm>
            <a:off x="361950" y="908050"/>
            <a:ext cx="21740176" cy="923322"/>
          </a:xfrm>
          <a:prstGeom prst="rect">
            <a:avLst/>
          </a:prstGeom>
          <a:noFill/>
          <a:ln w="9525">
            <a:noFill/>
          </a:ln>
        </p:spPr>
        <p:txBody>
          <a:bodyPr wrap="square" lIns="91436" tIns="91436" rIns="91436" bIns="91436">
            <a:spAutoFit/>
          </a:bodyPr>
          <a:lstStyle/>
          <a:p>
            <a:pPr>
              <a:spcBef>
                <a:spcPts val="2800"/>
              </a:spcBef>
            </a:pPr>
            <a:r>
              <a:rPr lang="en-US" altLang="zh-CN" sz="4800" dirty="0">
                <a:solidFill>
                  <a:srgbClr val="004D8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sym typeface="Helvetica" charset="0"/>
              </a:rPr>
              <a:t>B747</a:t>
            </a:r>
            <a:r>
              <a:rPr lang="en-US" altLang="zh-CN" sz="4800" dirty="0">
                <a:solidFill>
                  <a:srgbClr val="004D80"/>
                </a:solidFill>
                <a:ea typeface="Arial Unicode MS" panose="020B0604020202020204" pitchFamily="34" charset="-122"/>
                <a:cs typeface="Arial" panose="020B0604020202020204" pitchFamily="34" charset="0"/>
                <a:sym typeface="Helvetica" charset="0"/>
              </a:rPr>
              <a:t> </a:t>
            </a:r>
            <a:r>
              <a:rPr lang="en-US" altLang="zh-CN" sz="4800" dirty="0">
                <a:solidFill>
                  <a:schemeClr val="tx1"/>
                </a:solidFill>
                <a:cs typeface="Arial" panose="020B0604020202020204" pitchFamily="34" charset="0"/>
              </a:rPr>
              <a:t>|</a:t>
            </a:r>
            <a:r>
              <a:rPr lang="en-US" altLang="zh-CN" sz="4800" dirty="0">
                <a:cs typeface="Arial" panose="020B0604020202020204" pitchFamily="34" charset="0"/>
                <a:sym typeface="Helvetica" charset="0"/>
              </a:rPr>
              <a:t> Process Description _ Tumbling</a:t>
            </a:r>
          </a:p>
        </p:txBody>
      </p:sp>
      <p:graphicFrame>
        <p:nvGraphicFramePr>
          <p:cNvPr id="5" name="表格 25"/>
          <p:cNvGraphicFramePr/>
          <p:nvPr>
            <p:custDataLst>
              <p:tags r:id="rId1"/>
            </p:custDataLst>
          </p:nvPr>
        </p:nvGraphicFramePr>
        <p:xfrm>
          <a:off x="355579" y="2214000"/>
          <a:ext cx="12240000" cy="9792000"/>
        </p:xfrm>
        <a:graphic>
          <a:graphicData uri="http://schemas.openxmlformats.org/drawingml/2006/table">
            <a:tbl>
              <a:tblPr/>
              <a:tblGrid>
                <a:gridCol w="32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8000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595959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lang="en-US" sz="3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Tumbling </a:t>
                      </a:r>
                      <a:r>
                        <a:rPr lang="en-US" altLang="zh-CN" sz="3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Parameter</a:t>
                      </a:r>
                      <a:endParaRPr sz="3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000">
                <a:tc row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Machine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微软雅黑" panose="020B0503020204020204" pitchFamily="34" charset="-122"/>
                        </a:defRPr>
                      </a:pPr>
                      <a:r>
                        <a:rPr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型号</a:t>
                      </a:r>
                      <a:r>
                        <a:rPr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/Model</a:t>
                      </a:r>
                    </a:p>
                  </a:txBody>
                  <a:tcPr marL="4762" marR="4762" marT="4762" marB="476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LZG200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微软雅黑" panose="020B0503020204020204" pitchFamily="34" charset="-122"/>
                        </a:defRPr>
                      </a:pPr>
                      <a:r>
                        <a:rPr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类型</a:t>
                      </a:r>
                      <a:r>
                        <a:rPr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/Type</a:t>
                      </a:r>
                    </a:p>
                  </a:txBody>
                  <a:tcPr marL="4762" marR="4762" marT="4762" marB="476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800" b="0"/>
                      </a:pP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Vibrator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微软雅黑" panose="020B0503020204020204" pitchFamily="34" charset="-122"/>
                        </a:defRPr>
                      </a:pPr>
                      <a:r>
                        <a:rPr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容量</a:t>
                      </a:r>
                      <a:r>
                        <a:rPr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/Volume</a:t>
                      </a:r>
                    </a:p>
                  </a:txBody>
                  <a:tcPr marL="4762" marR="4762" marT="4762" marB="476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20</a:t>
                      </a:r>
                      <a:r>
                        <a:rPr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0L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微软雅黑" panose="020B0503020204020204" pitchFamily="34" charset="-122"/>
                        </a:defRPr>
                      </a:pPr>
                      <a:r>
                        <a:rPr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转速（电压</a:t>
                      </a:r>
                      <a:r>
                        <a:rPr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/</a:t>
                      </a:r>
                      <a:r>
                        <a:rPr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频率</a:t>
                      </a:r>
                      <a:r>
                        <a:rPr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)/speed</a:t>
                      </a:r>
                    </a:p>
                  </a:txBody>
                  <a:tcPr marL="4762" marR="4762" marT="4762" marB="476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800" b="0"/>
                      </a:pP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45-50Hz 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微软雅黑" panose="020B0503020204020204" pitchFamily="34" charset="-122"/>
                        </a:defRPr>
                      </a:pPr>
                      <a:r>
                        <a:rPr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振幅</a:t>
                      </a:r>
                      <a:r>
                        <a:rPr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/Amplitude</a:t>
                      </a:r>
                    </a:p>
                  </a:txBody>
                  <a:tcPr marL="4762" marR="4762" marT="4762" marB="476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-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2000">
                <a:tc row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Process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微软雅黑" panose="020B0503020204020204" pitchFamily="34" charset="-122"/>
                        </a:rPr>
                        <a:t>related</a:t>
                      </a:r>
                      <a:endParaRPr sz="20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微软雅黑" panose="020B0503020204020204" pitchFamily="34" charset="-122"/>
                        </a:defRPr>
                      </a:pPr>
                      <a:r>
                        <a:rPr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磨石</a:t>
                      </a:r>
                      <a:r>
                        <a:rPr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VS</a:t>
                      </a:r>
                      <a:r>
                        <a:rPr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磁钢配比</a:t>
                      </a:r>
                      <a:endParaRPr sz="2000" dirty="0"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4762" marR="4762" marT="4762" marB="476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75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±5 </a:t>
                      </a: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: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 35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±5</a:t>
                      </a:r>
                      <a:endParaRPr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Arial" panose="020B0604020202020204"/>
                      </a:endParaRP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2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微软雅黑" panose="020B0503020204020204" pitchFamily="34" charset="-122"/>
                        </a:defRPr>
                      </a:pPr>
                      <a:r>
                        <a:rPr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装载量（容量</a:t>
                      </a:r>
                      <a:r>
                        <a:rPr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L</a:t>
                      </a:r>
                      <a:r>
                        <a:rPr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/</a:t>
                      </a:r>
                      <a:r>
                        <a:rPr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Loadage</a:t>
                      </a:r>
                      <a:endParaRPr sz="2000" dirty="0"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Arial" panose="020B0604020202020204"/>
                      </a:endParaRPr>
                    </a:p>
                  </a:txBody>
                  <a:tcPr marL="4762" marR="4762" marT="4762" marB="476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35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±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5kg</a:t>
                      </a:r>
                      <a:endParaRPr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Arial" panose="020B0604020202020204"/>
                      </a:endParaRP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92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微软雅黑" panose="020B0503020204020204" pitchFamily="34" charset="-122"/>
                        </a:defRPr>
                      </a:pPr>
                      <a:r>
                        <a:rPr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振磨时间</a:t>
                      </a:r>
                      <a:r>
                        <a:rPr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/Time</a:t>
                      </a:r>
                    </a:p>
                  </a:txBody>
                  <a:tcPr marL="4762" marR="4762" marT="4762" marB="476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10~12</a:t>
                      </a:r>
                      <a:r>
                        <a:rPr lang="en-US" altLang="zh-CN" sz="20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 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hrs</a:t>
                      </a:r>
                      <a:endParaRPr lang="en-US" altLang="zh-CN"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Arial" panose="020B0604020202020204"/>
                      </a:endParaRP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92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微软雅黑" panose="020B0503020204020204" pitchFamily="34" charset="-122"/>
                        </a:defRPr>
                      </a:pPr>
                      <a:r>
                        <a:rPr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磨石规格</a:t>
                      </a:r>
                      <a:r>
                        <a:rPr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/size</a:t>
                      </a:r>
                    </a:p>
                  </a:txBody>
                  <a:tcPr marL="4762" marR="4762" marT="4762" marB="476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900" b="0">
                          <a:solidFill>
                            <a:srgbClr val="4C4C4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pPr>
                      <a:r>
                        <a:rPr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Φ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16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圆球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 &amp; 18*18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斜三角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92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微软雅黑" panose="020B0503020204020204" pitchFamily="34" charset="-122"/>
                        </a:defRPr>
                      </a:pPr>
                      <a:r>
                        <a:rPr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磨石材质</a:t>
                      </a:r>
                      <a:r>
                        <a:rPr sz="2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/Material</a:t>
                      </a:r>
                    </a:p>
                  </a:txBody>
                  <a:tcPr marL="4762" marR="4762" marT="4762" marB="476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SiC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79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ctr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Fixture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Times"/>
                          <a:cs typeface="Times"/>
                        </a:defRPr>
                      </a:lvl9pPr>
                    </a:lstStyle>
                    <a:p>
                      <a:pPr algn="l" defTabSz="457200">
                        <a:spcBef>
                          <a:spcPts val="0"/>
                        </a:spcBef>
                        <a:defRPr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微软雅黑" panose="020B0503020204020204" pitchFamily="34" charset="-122"/>
                        </a:defRPr>
                      </a:pPr>
                      <a:r>
                        <a:rPr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过滤网</a:t>
                      </a:r>
                      <a:r>
                        <a:rPr sz="2000" dirty="0">
                          <a:latin typeface="Arial" panose="020B0604020202020204" pitchFamily="34" charset="0"/>
                          <a:ea typeface="Arial" panose="020B0604020202020204"/>
                          <a:cs typeface="Arial" panose="020B0604020202020204" pitchFamily="34" charset="0"/>
                          <a:sym typeface="Arial" panose="020B0604020202020204"/>
                        </a:rPr>
                        <a:t>/Filter screen</a:t>
                      </a:r>
                    </a:p>
                  </a:txBody>
                  <a:tcPr marL="4762" marR="4762" marT="4762" marB="476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 b="0"/>
                      </a:pPr>
                      <a:r>
                        <a:rPr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/>
                        </a:rPr>
                        <a:t>-</a:t>
                      </a:r>
                    </a:p>
                  </a:txBody>
                  <a:tcPr marL="12700" marR="12700" marT="12700" marB="127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X1758 / Revision list："/>
          <p:cNvSpPr/>
          <p:nvPr/>
        </p:nvSpPr>
        <p:spPr>
          <a:xfrm>
            <a:off x="361950" y="908050"/>
            <a:ext cx="21740176" cy="923322"/>
          </a:xfrm>
          <a:prstGeom prst="rect">
            <a:avLst/>
          </a:prstGeom>
          <a:noFill/>
          <a:ln w="9525">
            <a:noFill/>
          </a:ln>
        </p:spPr>
        <p:txBody>
          <a:bodyPr wrap="square" lIns="91436" tIns="91436" rIns="91436" bIns="91436">
            <a:spAutoFit/>
          </a:bodyPr>
          <a:lstStyle/>
          <a:p>
            <a:pPr>
              <a:spcBef>
                <a:spcPts val="2800"/>
              </a:spcBef>
            </a:pPr>
            <a:r>
              <a:rPr lang="en-US" altLang="zh-CN" sz="4800" dirty="0">
                <a:solidFill>
                  <a:srgbClr val="004D80"/>
                </a:solidFill>
                <a:ea typeface="Arial Unicode MS" panose="020B0604020202020204" pitchFamily="34" charset="-122"/>
                <a:cs typeface="Arial" panose="020B0604020202090204" pitchFamily="34" charset="0"/>
                <a:sym typeface="Helvetica" charset="0"/>
              </a:rPr>
              <a:t>B747 </a:t>
            </a:r>
            <a:r>
              <a:rPr lang="en-US" altLang="zh-CN" sz="4800" dirty="0">
                <a:solidFill>
                  <a:schemeClr val="tx1"/>
                </a:solidFill>
                <a:cs typeface="Arial" panose="020B0604020202090204" pitchFamily="34" charset="0"/>
              </a:rPr>
              <a:t>|</a:t>
            </a:r>
            <a:r>
              <a:rPr lang="en-US" altLang="zh-CN" sz="4800" dirty="0">
                <a:cs typeface="Arial" panose="020B0604020202090204" pitchFamily="34" charset="0"/>
                <a:sym typeface="Helvetica" charset="0"/>
              </a:rPr>
              <a:t> Process Description _ Plating</a:t>
            </a:r>
            <a:r>
              <a:rPr lang="zh-CN" altLang="en-US" sz="4800" dirty="0">
                <a:cs typeface="Arial" panose="020B0604020202090204" pitchFamily="34" charset="0"/>
                <a:sym typeface="Helvetica" charset="0"/>
              </a:rPr>
              <a:t> </a:t>
            </a:r>
            <a:r>
              <a:rPr lang="en-US" altLang="zh-CN" sz="4800" dirty="0">
                <a:cs typeface="Arial" panose="020B0604020202090204" pitchFamily="34" charset="0"/>
                <a:sym typeface="Helvetica" charset="0"/>
              </a:rPr>
              <a:t>(CU+EN Plating) </a:t>
            </a:r>
            <a:r>
              <a:rPr lang="zh-CN" altLang="en-US" sz="4800" dirty="0">
                <a:cs typeface="Arial" panose="020B0604020202090204" pitchFamily="34" charset="0"/>
                <a:sym typeface="Helvetica" charset="0"/>
              </a:rPr>
              <a:t> </a:t>
            </a:r>
            <a:endParaRPr lang="en-US" altLang="zh-CN" sz="4800" dirty="0">
              <a:cs typeface="Arial" panose="020B0604020202090204" pitchFamily="34" charset="0"/>
              <a:sym typeface="Helvetica" charset="0"/>
            </a:endParaRPr>
          </a:p>
        </p:txBody>
      </p:sp>
      <p:sp>
        <p:nvSpPr>
          <p:cNvPr id="2" name="Coating and protecting the magnet"/>
          <p:cNvSpPr txBox="1"/>
          <p:nvPr/>
        </p:nvSpPr>
        <p:spPr>
          <a:xfrm>
            <a:off x="600000" y="2185272"/>
            <a:ext cx="16489045" cy="6847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34288" tIns="34288" rIns="34288" bIns="34288" numCol="1" anchor="t">
            <a:spAutoFit/>
          </a:bodyPr>
          <a:lstStyle>
            <a:lvl1pPr algn="l">
              <a:spcBef>
                <a:spcPts val="0"/>
              </a:spcBef>
              <a:defRPr sz="1200" b="1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000" dirty="0">
                <a:cs typeface="Arial" panose="020B0604020202090204" pitchFamily="34" charset="0"/>
                <a:sym typeface="Helvetica" charset="0"/>
              </a:rPr>
              <a:t>Plating Process Flow Chart</a:t>
            </a:r>
            <a:endParaRPr sz="4000" dirty="0">
              <a:cs typeface="Arial" panose="020B0604020202090204" pitchFamily="34" charset="0"/>
            </a:endParaRPr>
          </a:p>
        </p:txBody>
      </p:sp>
      <p:sp>
        <p:nvSpPr>
          <p:cNvPr id="4" name="AutoShape 7"/>
          <p:cNvSpPr/>
          <p:nvPr/>
        </p:nvSpPr>
        <p:spPr>
          <a:xfrm>
            <a:off x="514325" y="3007230"/>
            <a:ext cx="2700000" cy="792000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2000"/>
              </a:spcBef>
              <a:buFont typeface="Arial" panose="020B0604020202090204" pitchFamily="34" charset="0"/>
              <a:buNone/>
            </a:pPr>
            <a:r>
              <a:rPr lang="en-US" altLang="zh-CN" sz="2400" dirty="0">
                <a:cs typeface="Arial" panose="020B0604020202090204" pitchFamily="34" charset="0"/>
              </a:rPr>
              <a:t>Ultrasonic degreasing</a:t>
            </a:r>
          </a:p>
        </p:txBody>
      </p:sp>
      <p:sp>
        <p:nvSpPr>
          <p:cNvPr id="16" name="AutoShape 9"/>
          <p:cNvSpPr/>
          <p:nvPr/>
        </p:nvSpPr>
        <p:spPr>
          <a:xfrm>
            <a:off x="8415414" y="3007230"/>
            <a:ext cx="2700000" cy="792000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2000"/>
              </a:spcBef>
              <a:buFont typeface="Arial" panose="020B0604020202090204" pitchFamily="34" charset="0"/>
              <a:buNone/>
            </a:pPr>
            <a:r>
              <a:rPr lang="en-US" altLang="zh-CN" sz="2400" dirty="0">
                <a:cs typeface="Arial" panose="020B0604020202090204" pitchFamily="34" charset="0"/>
              </a:rPr>
              <a:t>Activation</a:t>
            </a:r>
          </a:p>
        </p:txBody>
      </p:sp>
      <p:sp>
        <p:nvSpPr>
          <p:cNvPr id="17" name="AutoShape 10"/>
          <p:cNvSpPr/>
          <p:nvPr/>
        </p:nvSpPr>
        <p:spPr>
          <a:xfrm>
            <a:off x="4490734" y="3007230"/>
            <a:ext cx="2700000" cy="792000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2000"/>
              </a:spcBef>
              <a:buFont typeface="Arial" panose="020B0604020202090204" pitchFamily="34" charset="0"/>
              <a:buNone/>
            </a:pPr>
            <a:r>
              <a:rPr lang="en-US" altLang="zh-CN" sz="2400" dirty="0">
                <a:cs typeface="Arial" panose="020B0604020202090204" pitchFamily="34" charset="0"/>
              </a:rPr>
              <a:t>Acid pickling</a:t>
            </a:r>
          </a:p>
        </p:txBody>
      </p:sp>
      <p:sp>
        <p:nvSpPr>
          <p:cNvPr id="18" name="箭头"/>
          <p:cNvSpPr/>
          <p:nvPr/>
        </p:nvSpPr>
        <p:spPr>
          <a:xfrm>
            <a:off x="3518501" y="3259230"/>
            <a:ext cx="612000" cy="288000"/>
          </a:xfrm>
          <a:prstGeom prst="rightArrow">
            <a:avLst>
              <a:gd name="adj1" fmla="val 50000"/>
              <a:gd name="adj2" fmla="val 136754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90204" pitchFamily="34" charset="0"/>
              <a:buNone/>
            </a:pPr>
            <a:endParaRPr lang="zh-CN" altLang="zh-CN" sz="2400" dirty="0">
              <a:cs typeface="Arial" panose="020B0604020202090204" pitchFamily="34" charset="0"/>
            </a:endParaRPr>
          </a:p>
        </p:txBody>
      </p:sp>
      <p:sp>
        <p:nvSpPr>
          <p:cNvPr id="19" name="AutoShape 13"/>
          <p:cNvSpPr/>
          <p:nvPr/>
        </p:nvSpPr>
        <p:spPr>
          <a:xfrm>
            <a:off x="12507737" y="3007230"/>
            <a:ext cx="2700000" cy="792000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2000"/>
              </a:spcBef>
              <a:buFont typeface="Arial" panose="020B0604020202090204" pitchFamily="34" charset="0"/>
              <a:buNone/>
            </a:pPr>
            <a:r>
              <a:rPr lang="en-US" altLang="zh-CN" sz="2400" dirty="0">
                <a:cs typeface="Arial" panose="020B0604020202090204" pitchFamily="34" charset="0"/>
              </a:rPr>
              <a:t>Copper plating</a:t>
            </a:r>
          </a:p>
        </p:txBody>
      </p:sp>
      <p:sp>
        <p:nvSpPr>
          <p:cNvPr id="20" name="箭头"/>
          <p:cNvSpPr/>
          <p:nvPr/>
        </p:nvSpPr>
        <p:spPr>
          <a:xfrm>
            <a:off x="7594643" y="3259230"/>
            <a:ext cx="612000" cy="288000"/>
          </a:xfrm>
          <a:prstGeom prst="rightArrow">
            <a:avLst>
              <a:gd name="adj1" fmla="val 50000"/>
              <a:gd name="adj2" fmla="val 136754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90204" pitchFamily="34" charset="0"/>
              <a:buNone/>
            </a:pPr>
            <a:endParaRPr lang="zh-CN" altLang="zh-CN" sz="2400" dirty="0">
              <a:cs typeface="Arial" panose="020B0604020202090204" pitchFamily="34" charset="0"/>
            </a:endParaRPr>
          </a:p>
        </p:txBody>
      </p:sp>
      <p:sp>
        <p:nvSpPr>
          <p:cNvPr id="21" name="箭头"/>
          <p:cNvSpPr/>
          <p:nvPr/>
        </p:nvSpPr>
        <p:spPr>
          <a:xfrm>
            <a:off x="11604485" y="3259230"/>
            <a:ext cx="612000" cy="288000"/>
          </a:xfrm>
          <a:prstGeom prst="rightArrow">
            <a:avLst>
              <a:gd name="adj1" fmla="val 50000"/>
              <a:gd name="adj2" fmla="val 136754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90204" pitchFamily="34" charset="0"/>
              <a:buNone/>
            </a:pPr>
            <a:endParaRPr lang="zh-CN" altLang="zh-CN" sz="2400" dirty="0">
              <a:cs typeface="Arial" panose="020B0604020202090204" pitchFamily="34" charset="0"/>
            </a:endParaRPr>
          </a:p>
        </p:txBody>
      </p:sp>
      <p:sp>
        <p:nvSpPr>
          <p:cNvPr id="22" name="AutoShape 13"/>
          <p:cNvSpPr/>
          <p:nvPr/>
        </p:nvSpPr>
        <p:spPr>
          <a:xfrm>
            <a:off x="16600060" y="3007230"/>
            <a:ext cx="2700000" cy="792000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2000"/>
              </a:spcBef>
              <a:buFont typeface="Arial" panose="020B0604020202090204" pitchFamily="34" charset="0"/>
              <a:buNone/>
            </a:pPr>
            <a:r>
              <a:rPr lang="en-US" altLang="zh-CN" sz="2400" dirty="0">
                <a:cs typeface="Arial" panose="020B0604020202090204" pitchFamily="34" charset="0"/>
              </a:rPr>
              <a:t>Activation</a:t>
            </a:r>
          </a:p>
        </p:txBody>
      </p:sp>
      <p:sp>
        <p:nvSpPr>
          <p:cNvPr id="23" name="AutoShape 13"/>
          <p:cNvSpPr/>
          <p:nvPr/>
        </p:nvSpPr>
        <p:spPr>
          <a:xfrm>
            <a:off x="20436000" y="3007230"/>
            <a:ext cx="2700000" cy="792000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2000"/>
              </a:spcBef>
              <a:buFont typeface="Arial" panose="020B0604020202090204" pitchFamily="34" charset="0"/>
              <a:buNone/>
            </a:pPr>
            <a:r>
              <a:rPr lang="en-US" altLang="zh-CN" sz="2400" dirty="0">
                <a:cs typeface="Arial" panose="020B0604020202090204" pitchFamily="34" charset="0"/>
              </a:rPr>
              <a:t>EN plating </a:t>
            </a:r>
          </a:p>
        </p:txBody>
      </p:sp>
      <p:sp>
        <p:nvSpPr>
          <p:cNvPr id="24" name="箭头"/>
          <p:cNvSpPr/>
          <p:nvPr/>
        </p:nvSpPr>
        <p:spPr>
          <a:xfrm>
            <a:off x="15676957" y="3259230"/>
            <a:ext cx="612000" cy="288000"/>
          </a:xfrm>
          <a:prstGeom prst="rightArrow">
            <a:avLst>
              <a:gd name="adj1" fmla="val 50000"/>
              <a:gd name="adj2" fmla="val 136754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90204" pitchFamily="34" charset="0"/>
              <a:buNone/>
            </a:pPr>
            <a:endParaRPr lang="zh-CN" altLang="zh-CN" sz="2400" dirty="0">
              <a:cs typeface="Arial" panose="020B0604020202090204" pitchFamily="34" charset="0"/>
            </a:endParaRPr>
          </a:p>
        </p:txBody>
      </p:sp>
      <p:sp>
        <p:nvSpPr>
          <p:cNvPr id="25" name="箭头"/>
          <p:cNvSpPr/>
          <p:nvPr/>
        </p:nvSpPr>
        <p:spPr>
          <a:xfrm>
            <a:off x="19613121" y="3259230"/>
            <a:ext cx="612000" cy="288000"/>
          </a:xfrm>
          <a:prstGeom prst="rightArrow">
            <a:avLst>
              <a:gd name="adj1" fmla="val 50000"/>
              <a:gd name="adj2" fmla="val 136754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90204" pitchFamily="34" charset="0"/>
              <a:buNone/>
            </a:pPr>
            <a:endParaRPr lang="zh-CN" altLang="zh-CN" sz="2400" dirty="0">
              <a:cs typeface="Arial" panose="020B0604020202090204" pitchFamily="34" charset="0"/>
            </a:endParaRPr>
          </a:p>
        </p:txBody>
      </p:sp>
      <p:sp>
        <p:nvSpPr>
          <p:cNvPr id="36" name="Coating and protecting the magnet"/>
          <p:cNvSpPr txBox="1"/>
          <p:nvPr/>
        </p:nvSpPr>
        <p:spPr>
          <a:xfrm>
            <a:off x="600000" y="6173201"/>
            <a:ext cx="21042000" cy="6847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34288" tIns="34288" rIns="34288" bIns="34288" numCol="1" anchor="t">
            <a:spAutoFit/>
          </a:bodyPr>
          <a:lstStyle>
            <a:lvl1pPr algn="l">
              <a:spcBef>
                <a:spcPts val="0"/>
              </a:spcBef>
              <a:defRPr sz="1200" b="1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000" dirty="0">
                <a:cs typeface="Arial" panose="020B0604020202090204" pitchFamily="34" charset="0"/>
                <a:sym typeface="Helvetica" charset="0"/>
              </a:rPr>
              <a:t>Main</a:t>
            </a:r>
            <a:r>
              <a:rPr lang="zh-CN" altLang="en-US" sz="4000" dirty="0">
                <a:cs typeface="Arial" panose="020B0604020202090204" pitchFamily="34" charset="0"/>
                <a:sym typeface="Helvetica" charset="0"/>
              </a:rPr>
              <a:t> </a:t>
            </a:r>
            <a:r>
              <a:rPr lang="en-US" altLang="zh-CN" sz="4000" dirty="0">
                <a:cs typeface="Arial" panose="020B0604020202090204" pitchFamily="34" charset="0"/>
                <a:sym typeface="Helvetica" charset="0"/>
              </a:rPr>
              <a:t>Process:</a:t>
            </a:r>
          </a:p>
        </p:txBody>
      </p:sp>
      <p:sp>
        <p:nvSpPr>
          <p:cNvPr id="44" name="AutoShape 13"/>
          <p:cNvSpPr/>
          <p:nvPr/>
        </p:nvSpPr>
        <p:spPr>
          <a:xfrm>
            <a:off x="1897110" y="6930000"/>
            <a:ext cx="2700000" cy="648000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2000"/>
              </a:spcBef>
              <a:buFont typeface="Arial" panose="020B0604020202090204" pitchFamily="34" charset="0"/>
              <a:buNone/>
            </a:pPr>
            <a:r>
              <a:rPr lang="en-US" altLang="zh-CN" sz="2400" dirty="0">
                <a:cs typeface="Arial" panose="020B0604020202090204" pitchFamily="34" charset="0"/>
              </a:rPr>
              <a:t>Copper plating</a:t>
            </a:r>
          </a:p>
        </p:txBody>
      </p:sp>
      <p:sp>
        <p:nvSpPr>
          <p:cNvPr id="48" name="箭头"/>
          <p:cNvSpPr/>
          <p:nvPr/>
        </p:nvSpPr>
        <p:spPr>
          <a:xfrm>
            <a:off x="7315110" y="7110000"/>
            <a:ext cx="612000" cy="288000"/>
          </a:xfrm>
          <a:prstGeom prst="rightArrow">
            <a:avLst>
              <a:gd name="adj1" fmla="val 50000"/>
              <a:gd name="adj2" fmla="val 136754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/>
          <a:lstStyle/>
          <a:p>
            <a:pPr algn="ctr">
              <a:spcBef>
                <a:spcPts val="2000"/>
              </a:spcBef>
              <a:buFont typeface="Arial" panose="020B0604020202090204" pitchFamily="34" charset="0"/>
              <a:buNone/>
            </a:pPr>
            <a:endParaRPr lang="zh-CN" altLang="zh-CN" sz="2400" dirty="0">
              <a:cs typeface="Arial" panose="020B0604020202090204" pitchFamily="34" charset="0"/>
            </a:endParaRPr>
          </a:p>
        </p:txBody>
      </p:sp>
      <p:sp>
        <p:nvSpPr>
          <p:cNvPr id="51" name="Control Point:…"/>
          <p:cNvSpPr txBox="1"/>
          <p:nvPr/>
        </p:nvSpPr>
        <p:spPr>
          <a:xfrm>
            <a:off x="1104000" y="12186000"/>
            <a:ext cx="5178318" cy="1177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34288" tIns="34288" rIns="34288" bIns="34288" numCol="1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00" b="1">
                <a:solidFill>
                  <a:srgbClr val="0070C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pP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1. </a:t>
            </a:r>
            <a:r>
              <a:rPr kumimoji="0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Plating layer thickness</a:t>
            </a:r>
            <a:endParaRPr kumimoji="0" lang="en-US" sz="24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pitchFamily="34" charset="-122"/>
              <a:cs typeface="Arial" panose="020B0604020202090204" pitchFamily="34" charset="0"/>
              <a:sym typeface="Arial" panose="020B060402020209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00" b="1">
                <a:solidFill>
                  <a:srgbClr val="0070C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pPr>
            <a:r>
              <a:rPr lang="en-US" sz="2400" kern="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    Cu: </a:t>
            </a:r>
            <a:r>
              <a:rPr lang="en-US" altLang="zh-CN" sz="2400" kern="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2.5-5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 </a:t>
            </a:r>
            <a:r>
              <a:rPr kumimoji="0" lang="el-GR" altLang="zh-CN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μ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m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00" b="1">
                <a:solidFill>
                  <a:srgbClr val="0070C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2.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 </a:t>
            </a:r>
            <a:r>
              <a:rPr lang="en-US" altLang="zh-CN" sz="2400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Qty</a:t>
            </a:r>
            <a:r>
              <a:rPr lang="en-US" altLang="zh-CN" sz="2400" b="1" kern="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.: </a:t>
            </a:r>
            <a:r>
              <a:rPr lang="en-US" altLang="zh-CN" sz="2400" b="1" kern="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90204" pitchFamily="34" charset="0"/>
                <a:sym typeface="+mn-ea"/>
              </a:rPr>
              <a:t>4~5kg /1barrel /70-90min</a:t>
            </a:r>
            <a:endParaRPr lang="en-US" sz="2400" b="1" kern="0" dirty="0">
              <a:solidFill>
                <a:schemeClr val="tx1"/>
              </a:solidFill>
              <a:ea typeface="微软雅黑" panose="020B0503020204020204" pitchFamily="34" charset="-122"/>
              <a:cs typeface="Arial" panose="020B0604020202090204" pitchFamily="34" charset="0"/>
              <a:sym typeface="Arial" panose="020B0604020202090204"/>
            </a:endParaRPr>
          </a:p>
        </p:txBody>
      </p:sp>
      <p:sp>
        <p:nvSpPr>
          <p:cNvPr id="52" name="Control Point:…"/>
          <p:cNvSpPr txBox="1"/>
          <p:nvPr/>
        </p:nvSpPr>
        <p:spPr>
          <a:xfrm>
            <a:off x="9153921" y="12186000"/>
            <a:ext cx="5760000" cy="1177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34288" tIns="34288" rIns="34288" bIns="34288" numCol="1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00" b="1">
                <a:solidFill>
                  <a:srgbClr val="0070C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pP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1. </a:t>
            </a:r>
            <a:r>
              <a:rPr kumimoji="0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Plating layer thickness</a:t>
            </a:r>
            <a:endParaRPr kumimoji="0" lang="en-US" sz="24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pitchFamily="34" charset="-122"/>
              <a:cs typeface="Arial" panose="020B0604020202090204" pitchFamily="34" charset="0"/>
              <a:sym typeface="Arial" panose="020B060402020209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00" b="1">
                <a:solidFill>
                  <a:srgbClr val="0070C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pPr>
            <a:r>
              <a:rPr lang="en-US" sz="2400" kern="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    EN: 2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-4 </a:t>
            </a:r>
            <a:r>
              <a:rPr kumimoji="0" lang="el-GR" altLang="zh-CN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μ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m</a:t>
            </a:r>
            <a:endParaRPr lang="en-US" sz="2400" kern="0" dirty="0">
              <a:solidFill>
                <a:schemeClr val="tx1"/>
              </a:solidFill>
              <a:ea typeface="微软雅黑" panose="020B0503020204020204" pitchFamily="34" charset="-122"/>
              <a:cs typeface="Arial" panose="020B0604020202090204" pitchFamily="34" charset="0"/>
              <a:sym typeface="Arial" panose="020B060402020209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00" b="1">
                <a:solidFill>
                  <a:srgbClr val="0070C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2.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 </a:t>
            </a:r>
            <a:r>
              <a:rPr lang="en-US" altLang="zh-CN" sz="2400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Qty</a:t>
            </a:r>
            <a:r>
              <a:rPr lang="en-US" altLang="zh-CN" sz="2400" b="1" kern="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.: </a:t>
            </a:r>
            <a:r>
              <a:rPr lang="en-US" altLang="zh-CN" sz="2400" b="1" kern="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90204" pitchFamily="34" charset="0"/>
                <a:sym typeface="+mn-ea"/>
              </a:rPr>
              <a:t>Qty.:4~5kg /1barrel /70-90min</a:t>
            </a:r>
            <a:endParaRPr lang="en-US" sz="2400" b="1" kern="0" dirty="0">
              <a:solidFill>
                <a:schemeClr val="tx1"/>
              </a:solidFill>
              <a:ea typeface="微软雅黑" panose="020B0503020204020204" pitchFamily="34" charset="-122"/>
              <a:cs typeface="Arial" panose="020B0604020202090204" pitchFamily="34" charset="0"/>
              <a:sym typeface="Arial" panose="020B0604020202090204"/>
            </a:endParaRPr>
          </a:p>
        </p:txBody>
      </p:sp>
      <p:pic>
        <p:nvPicPr>
          <p:cNvPr id="54" name="图片 5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8" y="7722000"/>
            <a:ext cx="4509350" cy="432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07428" y="7722000"/>
            <a:ext cx="4804137" cy="4320000"/>
          </a:xfrm>
          <a:prstGeom prst="rect">
            <a:avLst/>
          </a:prstGeom>
        </p:spPr>
      </p:pic>
      <p:sp>
        <p:nvSpPr>
          <p:cNvPr id="6" name="AutoShape 13"/>
          <p:cNvSpPr/>
          <p:nvPr/>
        </p:nvSpPr>
        <p:spPr>
          <a:xfrm>
            <a:off x="10645110" y="6930000"/>
            <a:ext cx="2700000" cy="648000"/>
          </a:xfrm>
          <a:prstGeom prst="roundRect">
            <a:avLst>
              <a:gd name="adj" fmla="val 21269"/>
            </a:avLst>
          </a:prstGeom>
          <a:solidFill>
            <a:srgbClr val="BBE0E3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6" tIns="91436" rIns="91436" bIns="91436" anchor="ctr"/>
          <a:lstStyle/>
          <a:p>
            <a:pPr algn="ctr">
              <a:spcBef>
                <a:spcPts val="2000"/>
              </a:spcBef>
              <a:buFont typeface="Arial" panose="020B0604020202090204" pitchFamily="34" charset="0"/>
              <a:buNone/>
            </a:pPr>
            <a:r>
              <a:rPr lang="en-US" altLang="zh-CN" sz="2400" dirty="0">
                <a:cs typeface="Arial" panose="020B0604020202090204" pitchFamily="34" charset="0"/>
              </a:rPr>
              <a:t>EN plating </a:t>
            </a:r>
          </a:p>
        </p:txBody>
      </p:sp>
    </p:spTree>
    <p:extLst>
      <p:ext uri="{BB962C8B-B14F-4D97-AF65-F5344CB8AC3E}">
        <p14:creationId xmlns:p14="http://schemas.microsoft.com/office/powerpoint/2010/main" val="3088540414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X1758 / Revision list："/>
          <p:cNvSpPr/>
          <p:nvPr/>
        </p:nvSpPr>
        <p:spPr>
          <a:xfrm>
            <a:off x="361950" y="908050"/>
            <a:ext cx="16362363" cy="920115"/>
          </a:xfrm>
          <a:prstGeom prst="rect">
            <a:avLst/>
          </a:prstGeom>
          <a:noFill/>
          <a:ln w="9525">
            <a:noFill/>
          </a:ln>
        </p:spPr>
        <p:txBody>
          <a:bodyPr lIns="91436" tIns="91436" rIns="91436" bIns="91436">
            <a:spAutoFit/>
          </a:bodyPr>
          <a:lstStyle/>
          <a:p>
            <a:pPr>
              <a:spcBef>
                <a:spcPts val="2800"/>
              </a:spcBef>
            </a:pPr>
            <a:r>
              <a:rPr lang="en-US" altLang="zh-CN" sz="4800" dirty="0">
                <a:solidFill>
                  <a:srgbClr val="004D80"/>
                </a:solidFill>
                <a:ea typeface="Arial Unicode MS" panose="020B0604020202020204" pitchFamily="34" charset="-122"/>
                <a:cs typeface="Arial" panose="020B0604020202020204" pitchFamily="34" charset="0"/>
                <a:sym typeface="Helvetica" charset="0"/>
              </a:rPr>
              <a:t>B747</a:t>
            </a:r>
            <a:r>
              <a:rPr lang="en-US" altLang="zh-CN" sz="4800" dirty="0">
                <a:solidFill>
                  <a:schemeClr val="tx1"/>
                </a:solidFill>
                <a:cs typeface="Arial" panose="020B0604020202020204" pitchFamily="34" charset="0"/>
              </a:rPr>
              <a:t>|</a:t>
            </a:r>
            <a:r>
              <a:rPr lang="en-US" altLang="zh-CN" sz="4800" dirty="0">
                <a:cs typeface="Arial" panose="020B0604020202020204" pitchFamily="34" charset="0"/>
                <a:sym typeface="Helvetica" charset="0"/>
              </a:rPr>
              <a:t> Process Description _ AOI Inspection</a:t>
            </a:r>
          </a:p>
        </p:txBody>
      </p:sp>
      <p:sp>
        <p:nvSpPr>
          <p:cNvPr id="3" name="AOI Inspection"/>
          <p:cNvSpPr txBox="1"/>
          <p:nvPr/>
        </p:nvSpPr>
        <p:spPr>
          <a:xfrm>
            <a:off x="4344000" y="11826000"/>
            <a:ext cx="2878993" cy="569387"/>
          </a:xfrm>
          <a:prstGeom prst="rect">
            <a:avLst/>
          </a:prstGeom>
          <a:ln w="12700">
            <a:miter lim="400000"/>
          </a:ln>
        </p:spPr>
        <p:txBody>
          <a:bodyPr wrap="none" lIns="38100" tIns="38100" rIns="38100" bIns="38100" anchor="ctr">
            <a:spAutoFit/>
          </a:bodyPr>
          <a:lstStyle/>
          <a:p>
            <a:pPr>
              <a:defRPr sz="1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defRPr>
            </a:pPr>
            <a:r>
              <a:rPr sz="3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AOI </a:t>
            </a:r>
            <a:r>
              <a:rPr sz="3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Inspection</a:t>
            </a:r>
            <a:r>
              <a:rPr sz="3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4" name="图像" descr="图像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28000" y="2543082"/>
            <a:ext cx="8052632" cy="9000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15" name="组合 14"/>
          <p:cNvGrpSpPr/>
          <p:nvPr/>
        </p:nvGrpSpPr>
        <p:grpSpPr>
          <a:xfrm>
            <a:off x="11543928" y="2241925"/>
            <a:ext cx="8568952" cy="6358826"/>
            <a:chOff x="11543928" y="2241925"/>
            <a:chExt cx="8568952" cy="6358826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543928" y="2241925"/>
              <a:ext cx="8568952" cy="6358826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 bwMode="auto">
            <a:xfrm>
              <a:off x="14712280" y="2393504"/>
              <a:ext cx="2160240" cy="720080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1828800" rtl="0" eaLnBrk="0" fontAlgn="base" latinLnBrk="0" hangingPunct="0">
                <a:lnSpc>
                  <a:spcPct val="100000"/>
                </a:lnSpc>
                <a:spcBef>
                  <a:spcPts val="32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5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矩形 8"/>
            <p:cNvSpPr/>
            <p:nvPr/>
          </p:nvSpPr>
          <p:spPr bwMode="auto">
            <a:xfrm>
              <a:off x="18528704" y="4701258"/>
              <a:ext cx="1008112" cy="720080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1828800" rtl="0" eaLnBrk="0" fontAlgn="base" latinLnBrk="0" hangingPunct="0">
                <a:lnSpc>
                  <a:spcPct val="100000"/>
                </a:lnSpc>
                <a:spcBef>
                  <a:spcPts val="32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5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" name="矩形 9"/>
            <p:cNvSpPr/>
            <p:nvPr/>
          </p:nvSpPr>
          <p:spPr bwMode="auto">
            <a:xfrm>
              <a:off x="11543928" y="4193704"/>
              <a:ext cx="1512168" cy="867594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1828800" rtl="0" eaLnBrk="0" fontAlgn="base" latinLnBrk="0" hangingPunct="0">
                <a:lnSpc>
                  <a:spcPct val="100000"/>
                </a:lnSpc>
                <a:spcBef>
                  <a:spcPts val="32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5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" name="矩形 10"/>
            <p:cNvSpPr/>
            <p:nvPr/>
          </p:nvSpPr>
          <p:spPr bwMode="auto">
            <a:xfrm>
              <a:off x="15036316" y="5781377"/>
              <a:ext cx="1512168" cy="867594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1828800" rtl="0" eaLnBrk="0" fontAlgn="base" latinLnBrk="0" hangingPunct="0">
                <a:lnSpc>
                  <a:spcPct val="100000"/>
                </a:lnSpc>
                <a:spcBef>
                  <a:spcPts val="32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5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" name="矩形 11"/>
            <p:cNvSpPr/>
            <p:nvPr/>
          </p:nvSpPr>
          <p:spPr bwMode="auto">
            <a:xfrm>
              <a:off x="15871183" y="7191064"/>
              <a:ext cx="1512168" cy="867594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1828800" rtl="0" eaLnBrk="0" fontAlgn="base" latinLnBrk="0" hangingPunct="0">
                <a:lnSpc>
                  <a:spcPct val="100000"/>
                </a:lnSpc>
                <a:spcBef>
                  <a:spcPts val="32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5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2047985" y="9407791"/>
            <a:ext cx="7488831" cy="2418209"/>
            <a:chOff x="9862142" y="9014510"/>
            <a:chExt cx="11845689" cy="3486637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028551" y="9014510"/>
              <a:ext cx="11679280" cy="3486637"/>
            </a:xfrm>
            <a:prstGeom prst="rect">
              <a:avLst/>
            </a:prstGeom>
          </p:spPr>
        </p:pic>
        <p:sp>
          <p:nvSpPr>
            <p:cNvPr id="13" name="矩形 12"/>
            <p:cNvSpPr/>
            <p:nvPr/>
          </p:nvSpPr>
          <p:spPr bwMode="auto">
            <a:xfrm>
              <a:off x="9862142" y="10324031"/>
              <a:ext cx="1512168" cy="867594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1828800" rtl="0" eaLnBrk="0" fontAlgn="base" latinLnBrk="0" hangingPunct="0">
                <a:lnSpc>
                  <a:spcPct val="100000"/>
                </a:lnSpc>
                <a:spcBef>
                  <a:spcPts val="32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5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" name="矩形 13"/>
            <p:cNvSpPr/>
            <p:nvPr/>
          </p:nvSpPr>
          <p:spPr bwMode="auto">
            <a:xfrm>
              <a:off x="15360352" y="10057751"/>
              <a:ext cx="1512168" cy="867594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1828800" rtl="0" eaLnBrk="0" fontAlgn="base" latinLnBrk="0" hangingPunct="0">
                <a:lnSpc>
                  <a:spcPct val="100000"/>
                </a:lnSpc>
                <a:spcBef>
                  <a:spcPts val="32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5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EFA77435-4712-6C9A-8D6B-65FF5E4664D4}"/>
              </a:ext>
            </a:extLst>
          </p:cNvPr>
          <p:cNvGrpSpPr/>
          <p:nvPr/>
        </p:nvGrpSpPr>
        <p:grpSpPr>
          <a:xfrm>
            <a:off x="4778181" y="6325259"/>
            <a:ext cx="12238355" cy="5948020"/>
            <a:chOff x="5999312" y="3112674"/>
            <a:chExt cx="12238355" cy="6302372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49810C0A-54C0-44E6-C833-316ACCDD90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3433"/>
            <a:stretch/>
          </p:blipFill>
          <p:spPr>
            <a:xfrm>
              <a:off x="5999312" y="3112674"/>
              <a:ext cx="11210925" cy="6050431"/>
            </a:xfrm>
            <a:prstGeom prst="rect">
              <a:avLst/>
            </a:prstGeom>
          </p:spPr>
        </p:pic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C8CA69F1-6B85-D303-9E49-077765D727A3}"/>
                </a:ext>
              </a:extLst>
            </p:cNvPr>
            <p:cNvCxnSpPr/>
            <p:nvPr/>
          </p:nvCxnSpPr>
          <p:spPr>
            <a:xfrm flipH="1">
              <a:off x="6172032" y="8121705"/>
              <a:ext cx="0" cy="1260000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C9461410-D6AC-3EF1-9CF2-96E1AB4D6BD5}"/>
                </a:ext>
              </a:extLst>
            </p:cNvPr>
            <p:cNvCxnSpPr/>
            <p:nvPr/>
          </p:nvCxnSpPr>
          <p:spPr>
            <a:xfrm>
              <a:off x="16555552" y="9067220"/>
              <a:ext cx="1682115" cy="19050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F58363A7-0579-AA88-D1DB-61B6DAFE899E}"/>
                </a:ext>
              </a:extLst>
            </p:cNvPr>
            <p:cNvCxnSpPr/>
            <p:nvPr/>
          </p:nvCxnSpPr>
          <p:spPr>
            <a:xfrm>
              <a:off x="16555552" y="3876730"/>
              <a:ext cx="1450975" cy="8255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28EFBE45-C881-B282-FCAB-A7EBF9EAE2B3}"/>
                </a:ext>
              </a:extLst>
            </p:cNvPr>
            <p:cNvCxnSpPr/>
            <p:nvPr/>
          </p:nvCxnSpPr>
          <p:spPr>
            <a:xfrm flipH="1">
              <a:off x="9996637" y="7944470"/>
              <a:ext cx="3175" cy="1402080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B6E0060D-14D3-FABB-15DB-D8C318F198E8}"/>
                </a:ext>
              </a:extLst>
            </p:cNvPr>
            <p:cNvCxnSpPr/>
            <p:nvPr/>
          </p:nvCxnSpPr>
          <p:spPr>
            <a:xfrm flipH="1">
              <a:off x="12722692" y="7938120"/>
              <a:ext cx="27940" cy="1466850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A02B46B5-3F2A-91D8-8C6F-88763F9D9FE1}"/>
                </a:ext>
              </a:extLst>
            </p:cNvPr>
            <p:cNvCxnSpPr/>
            <p:nvPr/>
          </p:nvCxnSpPr>
          <p:spPr>
            <a:xfrm flipV="1">
              <a:off x="6191082" y="9225900"/>
              <a:ext cx="3798570" cy="17780"/>
            </a:xfrm>
            <a:prstGeom prst="straightConnector1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headEnd type="arrow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B3BC1016-BA31-2E1E-939B-FCC94AE4321C}"/>
                </a:ext>
              </a:extLst>
            </p:cNvPr>
            <p:cNvCxnSpPr/>
            <p:nvPr/>
          </p:nvCxnSpPr>
          <p:spPr>
            <a:xfrm>
              <a:off x="9999812" y="9215740"/>
              <a:ext cx="2693670" cy="10160"/>
            </a:xfrm>
            <a:prstGeom prst="straightConnector1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headEnd type="arrow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5E934FF0-894D-5F2C-0591-6F993373BD22}"/>
                </a:ext>
              </a:extLst>
            </p:cNvPr>
            <p:cNvCxnSpPr/>
            <p:nvPr/>
          </p:nvCxnSpPr>
          <p:spPr>
            <a:xfrm>
              <a:off x="12790002" y="9210025"/>
              <a:ext cx="4278630" cy="43815"/>
            </a:xfrm>
            <a:prstGeom prst="straightConnector1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headEnd type="arrow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A1F8BF86-8FF9-D052-B321-E760AD94D1FE}"/>
                </a:ext>
              </a:extLst>
            </p:cNvPr>
            <p:cNvCxnSpPr/>
            <p:nvPr/>
          </p:nvCxnSpPr>
          <p:spPr>
            <a:xfrm flipV="1">
              <a:off x="17824282" y="3895780"/>
              <a:ext cx="14605" cy="5152390"/>
            </a:xfrm>
            <a:prstGeom prst="straightConnector1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headEnd type="arrow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15" name="圆角矩形 23">
              <a:extLst>
                <a:ext uri="{FF2B5EF4-FFF2-40B4-BE49-F238E27FC236}">
                  <a16:creationId xmlns:a16="http://schemas.microsoft.com/office/drawing/2014/main" id="{3030BD8F-CC48-0710-B7E3-1E8ACAE917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03831" y="8799567"/>
              <a:ext cx="1988820" cy="554355"/>
            </a:xfrm>
            <a:prstGeom prst="roundRect">
              <a:avLst>
                <a:gd name="adj" fmla="val 16667"/>
              </a:avLst>
            </a:prstGeom>
            <a:noFill/>
            <a:ln w="12700">
              <a:noFill/>
              <a:prstDash val="sys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170" tIns="46990" rIns="90170" bIns="4699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1600mm</a:t>
              </a:r>
            </a:p>
          </p:txBody>
        </p:sp>
        <p:sp>
          <p:nvSpPr>
            <p:cNvPr id="17" name="圆角矩形 23">
              <a:extLst>
                <a:ext uri="{FF2B5EF4-FFF2-40B4-BE49-F238E27FC236}">
                  <a16:creationId xmlns:a16="http://schemas.microsoft.com/office/drawing/2014/main" id="{3610BE1A-B315-A223-B5E2-736719BBF2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02192" y="8802216"/>
              <a:ext cx="1988820" cy="554355"/>
            </a:xfrm>
            <a:prstGeom prst="roundRect">
              <a:avLst>
                <a:gd name="adj" fmla="val 16667"/>
              </a:avLst>
            </a:prstGeom>
            <a:noFill/>
            <a:ln w="12700">
              <a:noFill/>
              <a:prstDash val="sys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170" tIns="46990" rIns="90170" bIns="4699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1400mm</a:t>
              </a:r>
            </a:p>
          </p:txBody>
        </p:sp>
        <p:sp>
          <p:nvSpPr>
            <p:cNvPr id="18" name="圆角矩形 23">
              <a:extLst>
                <a:ext uri="{FF2B5EF4-FFF2-40B4-BE49-F238E27FC236}">
                  <a16:creationId xmlns:a16="http://schemas.microsoft.com/office/drawing/2014/main" id="{763E09A2-04E6-9260-2967-B942152C72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7002" y="8823925"/>
              <a:ext cx="1988820" cy="554355"/>
            </a:xfrm>
            <a:prstGeom prst="roundRect">
              <a:avLst>
                <a:gd name="adj" fmla="val 16667"/>
              </a:avLst>
            </a:prstGeom>
            <a:noFill/>
            <a:ln w="12700">
              <a:noFill/>
              <a:prstDash val="sys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170" tIns="46990" rIns="90170" bIns="4699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1000mm</a:t>
              </a:r>
            </a:p>
          </p:txBody>
        </p:sp>
        <p:sp>
          <p:nvSpPr>
            <p:cNvPr id="19" name="圆角矩形 23">
              <a:extLst>
                <a:ext uri="{FF2B5EF4-FFF2-40B4-BE49-F238E27FC236}">
                  <a16:creationId xmlns:a16="http://schemas.microsoft.com/office/drawing/2014/main" id="{7EEBFA19-3B5D-6E9B-01F0-4240C9A8327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6401882" y="6194480"/>
              <a:ext cx="1988820" cy="554355"/>
            </a:xfrm>
            <a:prstGeom prst="roundRect">
              <a:avLst>
                <a:gd name="adj" fmla="val 16667"/>
              </a:avLst>
            </a:prstGeom>
            <a:noFill/>
            <a:ln w="12700">
              <a:noFill/>
              <a:prstDash val="sys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170" tIns="46990" rIns="90170" bIns="4699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1800mm</a:t>
              </a:r>
            </a:p>
          </p:txBody>
        </p:sp>
        <p:cxnSp>
          <p:nvCxnSpPr>
            <p:cNvPr id="20" name="直接连接符 7">
              <a:extLst>
                <a:ext uri="{FF2B5EF4-FFF2-40B4-BE49-F238E27FC236}">
                  <a16:creationId xmlns:a16="http://schemas.microsoft.com/office/drawing/2014/main" id="{8EF7D216-9538-C4CA-98AE-20D7B57EDCEC}"/>
                </a:ext>
              </a:extLst>
            </p:cNvPr>
            <p:cNvCxnSpPr/>
            <p:nvPr/>
          </p:nvCxnSpPr>
          <p:spPr>
            <a:xfrm flipH="1">
              <a:off x="17055374" y="8299046"/>
              <a:ext cx="0" cy="1116000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pic>
        <p:nvPicPr>
          <p:cNvPr id="64" name="图片 63">
            <a:extLst>
              <a:ext uri="{FF2B5EF4-FFF2-40B4-BE49-F238E27FC236}">
                <a16:creationId xmlns:a16="http://schemas.microsoft.com/office/drawing/2014/main" id="{E87D9E69-E2A2-1785-89CE-DD4F3C318C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1598" y="4237413"/>
            <a:ext cx="1864573" cy="1294352"/>
          </a:xfrm>
          <a:prstGeom prst="rect">
            <a:avLst/>
          </a:prstGeom>
        </p:spPr>
      </p:pic>
      <p:pic>
        <p:nvPicPr>
          <p:cNvPr id="75" name="图片 74" descr="图片包含 图示&#10;&#10;描述已自动生成">
            <a:extLst>
              <a:ext uri="{FF2B5EF4-FFF2-40B4-BE49-F238E27FC236}">
                <a16:creationId xmlns:a16="http://schemas.microsoft.com/office/drawing/2014/main" id="{34C00C34-3263-965E-F4C5-3316C1F73C1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9144" y="4405767"/>
            <a:ext cx="992522" cy="640803"/>
          </a:xfrm>
          <a:prstGeom prst="rect">
            <a:avLst/>
          </a:prstGeom>
        </p:spPr>
      </p:pic>
      <p:sp>
        <p:nvSpPr>
          <p:cNvPr id="16" name="X1758 / Revision list："/>
          <p:cNvSpPr/>
          <p:nvPr/>
        </p:nvSpPr>
        <p:spPr>
          <a:xfrm>
            <a:off x="361950" y="908050"/>
            <a:ext cx="16362363" cy="920115"/>
          </a:xfrm>
          <a:prstGeom prst="rect">
            <a:avLst/>
          </a:prstGeom>
          <a:noFill/>
          <a:ln w="9525">
            <a:noFill/>
          </a:ln>
        </p:spPr>
        <p:txBody>
          <a:bodyPr lIns="91436" tIns="91436" rIns="91436" bIns="91436">
            <a:spAutoFit/>
          </a:bodyPr>
          <a:lstStyle/>
          <a:p>
            <a:pPr>
              <a:spcBef>
                <a:spcPts val="2800"/>
              </a:spcBef>
            </a:pPr>
            <a:r>
              <a:rPr lang="en-US" altLang="zh-CN" sz="4800" dirty="0">
                <a:solidFill>
                  <a:srgbClr val="004D80"/>
                </a:solidFill>
                <a:ea typeface="Arial Unicode MS" panose="020B0604020202020204" pitchFamily="34" charset="-122"/>
                <a:cs typeface="Arial" panose="020B0604020202090204" pitchFamily="34" charset="0"/>
                <a:sym typeface="Helvetica" charset="0"/>
              </a:rPr>
              <a:t>B747</a:t>
            </a:r>
            <a:r>
              <a:rPr lang="en-US" altLang="zh-CN" sz="4800" dirty="0">
                <a:solidFill>
                  <a:schemeClr val="tx1"/>
                </a:solidFill>
                <a:cs typeface="Arial" panose="020B0604020202090204" pitchFamily="34" charset="0"/>
              </a:rPr>
              <a:t>|</a:t>
            </a:r>
            <a:r>
              <a:rPr lang="en-US" altLang="zh-CN" sz="4800" dirty="0">
                <a:cs typeface="Arial" panose="020B0604020202090204" pitchFamily="34" charset="0"/>
                <a:sym typeface="Helvetica" charset="0"/>
              </a:rPr>
              <a:t> Process Description _ Magnetizing/ Laser Marking</a:t>
            </a:r>
            <a:endParaRPr lang="zh-CN" altLang="en-US" sz="4800" dirty="0">
              <a:cs typeface="Arial" panose="020B0604020202090204" pitchFamily="34" charset="0"/>
            </a:endParaRPr>
          </a:p>
        </p:txBody>
      </p:sp>
      <p:pic>
        <p:nvPicPr>
          <p:cNvPr id="39" name="图片 38" descr="画着卡通人物&#10;&#10;描述已自动生成">
            <a:extLst>
              <a:ext uri="{FF2B5EF4-FFF2-40B4-BE49-F238E27FC236}">
                <a16:creationId xmlns:a16="http://schemas.microsoft.com/office/drawing/2014/main" id="{C1C1F0ED-0D04-8B51-C6A2-157309AC4A7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7620" y="4484462"/>
            <a:ext cx="1397698" cy="582971"/>
          </a:xfrm>
          <a:prstGeom prst="rect">
            <a:avLst/>
          </a:prstGeom>
        </p:spPr>
      </p:pic>
      <p:sp>
        <p:nvSpPr>
          <p:cNvPr id="55" name="圆角矩形 23">
            <a:extLst>
              <a:ext uri="{FF2B5EF4-FFF2-40B4-BE49-F238E27FC236}">
                <a16:creationId xmlns:a16="http://schemas.microsoft.com/office/drawing/2014/main" id="{8D70A673-F918-6542-B4D7-F5517E46A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6928" y="5781738"/>
            <a:ext cx="3990340" cy="554355"/>
          </a:xfrm>
          <a:prstGeom prst="roundRect">
            <a:avLst>
              <a:gd name="adj" fmla="val 16667"/>
            </a:avLst>
          </a:prstGeom>
          <a:noFill/>
          <a:ln w="12700">
            <a:noFill/>
            <a:prstDash val="sysDash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en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Flex Vibration Feeder Module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6" name="圆角矩形 23">
            <a:extLst>
              <a:ext uri="{FF2B5EF4-FFF2-40B4-BE49-F238E27FC236}">
                <a16:creationId xmlns:a16="http://schemas.microsoft.com/office/drawing/2014/main" id="{2FEC5DCC-BEC8-ABF0-8907-9717450EC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7356" y="5777880"/>
            <a:ext cx="4502041" cy="554355"/>
          </a:xfrm>
          <a:prstGeom prst="roundRect">
            <a:avLst>
              <a:gd name="adj" fmla="val 16667"/>
            </a:avLst>
          </a:prstGeom>
          <a:noFill/>
          <a:ln w="12700">
            <a:noFill/>
            <a:prstDash val="sysDash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en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Magnetizing module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3" name="箭头: 右 13">
            <a:extLst>
              <a:ext uri="{FF2B5EF4-FFF2-40B4-BE49-F238E27FC236}">
                <a16:creationId xmlns:a16="http://schemas.microsoft.com/office/drawing/2014/main" id="{D47AF7B0-43A3-109E-1DD5-C764A814A597}"/>
              </a:ext>
            </a:extLst>
          </p:cNvPr>
          <p:cNvSpPr/>
          <p:nvPr/>
        </p:nvSpPr>
        <p:spPr>
          <a:xfrm>
            <a:off x="5509024" y="4500156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5" name="图片 64">
            <a:extLst>
              <a:ext uri="{FF2B5EF4-FFF2-40B4-BE49-F238E27FC236}">
                <a16:creationId xmlns:a16="http://schemas.microsoft.com/office/drawing/2014/main" id="{07D27BB1-FB30-AB40-D59C-D73DE11DBE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6775" y="3491361"/>
            <a:ext cx="673976" cy="668909"/>
          </a:xfrm>
          <a:prstGeom prst="rect">
            <a:avLst/>
          </a:prstGeom>
        </p:spPr>
      </p:pic>
      <p:grpSp>
        <p:nvGrpSpPr>
          <p:cNvPr id="72" name="组合 71">
            <a:extLst>
              <a:ext uri="{FF2B5EF4-FFF2-40B4-BE49-F238E27FC236}">
                <a16:creationId xmlns:a16="http://schemas.microsoft.com/office/drawing/2014/main" id="{15A38EB3-4396-B941-66B9-EADE54B3BA0F}"/>
              </a:ext>
            </a:extLst>
          </p:cNvPr>
          <p:cNvGrpSpPr/>
          <p:nvPr/>
        </p:nvGrpSpPr>
        <p:grpSpPr>
          <a:xfrm>
            <a:off x="3759119" y="3804656"/>
            <a:ext cx="3015887" cy="971291"/>
            <a:chOff x="1207592" y="9838742"/>
            <a:chExt cx="3015887" cy="971291"/>
          </a:xfrm>
        </p:grpSpPr>
        <p:sp>
          <p:nvSpPr>
            <p:cNvPr id="66" name="圆角矩形 23">
              <a:extLst>
                <a:ext uri="{FF2B5EF4-FFF2-40B4-BE49-F238E27FC236}">
                  <a16:creationId xmlns:a16="http://schemas.microsoft.com/office/drawing/2014/main" id="{B82B0E8E-4570-1435-08E8-1DADDA9E5F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7592" y="9838742"/>
              <a:ext cx="2308525" cy="598362"/>
            </a:xfrm>
            <a:prstGeom prst="roundRect">
              <a:avLst>
                <a:gd name="adj" fmla="val 16667"/>
              </a:avLst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vertOverflow="overflow" horzOverflow="overflow" vert="horz" wrap="square" lIns="90170" tIns="46990" rIns="90170" bIns="46990" numCol="1" spcCol="0" rtlCol="0" fromWordArt="0" anchor="ctr" anchorCtr="0" forceAA="0" compatLnSpc="1">
              <a:no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0" algn="ctr"/>
              <a:r>
                <a:rPr kumimoji="1"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Flexible</a:t>
              </a:r>
              <a:r>
                <a:rPr kumimoji="1"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r>
                <a:rPr kumimoji="1"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Vibrating</a:t>
              </a:r>
              <a:r>
                <a:rPr kumimoji="1"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r>
                <a:rPr kumimoji="1"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Plate</a:t>
              </a:r>
              <a:endParaRPr kumimoji="1" 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cxnSp>
          <p:nvCxnSpPr>
            <p:cNvPr id="67" name="肘形连接符 86">
              <a:extLst>
                <a:ext uri="{FF2B5EF4-FFF2-40B4-BE49-F238E27FC236}">
                  <a16:creationId xmlns:a16="http://schemas.microsoft.com/office/drawing/2014/main" id="{6599AD50-8830-B261-B797-65BD869466D6}"/>
                </a:ext>
              </a:extLst>
            </p:cNvPr>
            <p:cNvCxnSpPr>
              <a:cxnSpLocks/>
              <a:stCxn id="66" idx="3"/>
            </p:cNvCxnSpPr>
            <p:nvPr/>
          </p:nvCxnSpPr>
          <p:spPr>
            <a:xfrm>
              <a:off x="3516117" y="10137923"/>
              <a:ext cx="707362" cy="672110"/>
            </a:xfrm>
            <a:prstGeom prst="bentConnector3">
              <a:avLst>
                <a:gd name="adj1" fmla="val 50000"/>
              </a:avLst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12C6AA68-9499-A5A2-D8F4-CF4216450F20}"/>
              </a:ext>
            </a:extLst>
          </p:cNvPr>
          <p:cNvGrpSpPr/>
          <p:nvPr/>
        </p:nvGrpSpPr>
        <p:grpSpPr>
          <a:xfrm>
            <a:off x="3627295" y="3109201"/>
            <a:ext cx="3049480" cy="788623"/>
            <a:chOff x="5493309" y="9666312"/>
            <a:chExt cx="3049480" cy="788623"/>
          </a:xfrm>
        </p:grpSpPr>
        <p:sp>
          <p:nvSpPr>
            <p:cNvPr id="68" name="圆角矩形 23">
              <a:extLst>
                <a:ext uri="{FF2B5EF4-FFF2-40B4-BE49-F238E27FC236}">
                  <a16:creationId xmlns:a16="http://schemas.microsoft.com/office/drawing/2014/main" id="{5C22D76D-0CC5-A03B-4389-3938F5A274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3309" y="9666312"/>
              <a:ext cx="2495379" cy="354341"/>
            </a:xfrm>
            <a:prstGeom prst="roundRect">
              <a:avLst>
                <a:gd name="adj" fmla="val 16667"/>
              </a:avLst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vertOverflow="overflow" horzOverflow="overflow" vert="horz" wrap="square" lIns="90170" tIns="46990" rIns="90170" bIns="46990" numCol="1" spcCol="0" rtlCol="0" fromWordArt="0" anchor="ctr" anchorCtr="0" forceAA="0" compatLnSpc="1">
              <a:no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0" algn="ctr"/>
              <a:r>
                <a:rPr kumimoji="1"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Contoured</a:t>
              </a:r>
              <a:r>
                <a:rPr kumimoji="1"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r>
                <a:rPr kumimoji="1"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Nozzle</a:t>
              </a:r>
              <a:endParaRPr kumimoji="1" 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cxnSp>
          <p:nvCxnSpPr>
            <p:cNvPr id="69" name="肘形连接符 92">
              <a:extLst>
                <a:ext uri="{FF2B5EF4-FFF2-40B4-BE49-F238E27FC236}">
                  <a16:creationId xmlns:a16="http://schemas.microsoft.com/office/drawing/2014/main" id="{B6EE25E9-E438-4621-6271-61574BCDD1E1}"/>
                </a:ext>
              </a:extLst>
            </p:cNvPr>
            <p:cNvCxnSpPr>
              <a:cxnSpLocks/>
              <a:stCxn id="68" idx="3"/>
              <a:endCxn id="65" idx="1"/>
            </p:cNvCxnSpPr>
            <p:nvPr/>
          </p:nvCxnSpPr>
          <p:spPr>
            <a:xfrm>
              <a:off x="7988688" y="9843483"/>
              <a:ext cx="554101" cy="611452"/>
            </a:xfrm>
            <a:prstGeom prst="bentConnector3">
              <a:avLst>
                <a:gd name="adj1" fmla="val 50000"/>
              </a:avLst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76" name="箭头: 右 13">
            <a:extLst>
              <a:ext uri="{FF2B5EF4-FFF2-40B4-BE49-F238E27FC236}">
                <a16:creationId xmlns:a16="http://schemas.microsoft.com/office/drawing/2014/main" id="{DC977F63-2460-038C-5DF5-73BC21E359A7}"/>
              </a:ext>
            </a:extLst>
          </p:cNvPr>
          <p:cNvSpPr/>
          <p:nvPr/>
        </p:nvSpPr>
        <p:spPr>
          <a:xfrm>
            <a:off x="8708362" y="4463800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4" name="图片 83" descr="图示&#10;&#10;描述已自动生成">
            <a:extLst>
              <a:ext uri="{FF2B5EF4-FFF2-40B4-BE49-F238E27FC236}">
                <a16:creationId xmlns:a16="http://schemas.microsoft.com/office/drawing/2014/main" id="{717B0D1E-0381-330E-2DA9-0975258E1F1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3182" y="3447550"/>
            <a:ext cx="2365285" cy="2213013"/>
          </a:xfrm>
          <a:prstGeom prst="rect">
            <a:avLst/>
          </a:prstGeom>
        </p:spPr>
      </p:pic>
      <p:sp>
        <p:nvSpPr>
          <p:cNvPr id="85" name="箭头: 右 13">
            <a:extLst>
              <a:ext uri="{FF2B5EF4-FFF2-40B4-BE49-F238E27FC236}">
                <a16:creationId xmlns:a16="http://schemas.microsoft.com/office/drawing/2014/main" id="{AA64EADD-4898-5DAC-71BE-6FD4C10A13BF}"/>
              </a:ext>
            </a:extLst>
          </p:cNvPr>
          <p:cNvSpPr/>
          <p:nvPr/>
        </p:nvSpPr>
        <p:spPr>
          <a:xfrm>
            <a:off x="11585986" y="4523220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31F44652-650C-EE06-9547-CEC01DAA63E9}"/>
              </a:ext>
            </a:extLst>
          </p:cNvPr>
          <p:cNvGrpSpPr/>
          <p:nvPr/>
        </p:nvGrpSpPr>
        <p:grpSpPr>
          <a:xfrm>
            <a:off x="7831601" y="3105095"/>
            <a:ext cx="2094512" cy="1418125"/>
            <a:chOff x="6220148" y="9666313"/>
            <a:chExt cx="2094512" cy="1418125"/>
          </a:xfrm>
        </p:grpSpPr>
        <p:sp>
          <p:nvSpPr>
            <p:cNvPr id="89" name="圆角矩形 23">
              <a:extLst>
                <a:ext uri="{FF2B5EF4-FFF2-40B4-BE49-F238E27FC236}">
                  <a16:creationId xmlns:a16="http://schemas.microsoft.com/office/drawing/2014/main" id="{E319F1DB-23CD-1CB6-FC80-B709F8270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0148" y="9666313"/>
              <a:ext cx="1768540" cy="604002"/>
            </a:xfrm>
            <a:prstGeom prst="roundRect">
              <a:avLst>
                <a:gd name="adj" fmla="val 16667"/>
              </a:avLst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vertOverflow="overflow" horzOverflow="overflow" vert="horz" wrap="square" lIns="90170" tIns="46990" rIns="90170" bIns="46990" numCol="1" spcCol="0" rtlCol="0" fromWordArt="0" anchor="ctr" anchorCtr="0" forceAA="0" compatLnSpc="1">
              <a:no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0" algn="ctr"/>
              <a:r>
                <a:rPr kumimoji="1"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Magnetizing coils</a:t>
              </a:r>
            </a:p>
          </p:txBody>
        </p:sp>
        <p:cxnSp>
          <p:nvCxnSpPr>
            <p:cNvPr id="90" name="肘形连接符 92">
              <a:extLst>
                <a:ext uri="{FF2B5EF4-FFF2-40B4-BE49-F238E27FC236}">
                  <a16:creationId xmlns:a16="http://schemas.microsoft.com/office/drawing/2014/main" id="{2A49E42C-DDA0-70AB-7A94-CE041D14D46D}"/>
                </a:ext>
              </a:extLst>
            </p:cNvPr>
            <p:cNvCxnSpPr>
              <a:cxnSpLocks/>
              <a:stCxn id="89" idx="3"/>
            </p:cNvCxnSpPr>
            <p:nvPr/>
          </p:nvCxnSpPr>
          <p:spPr>
            <a:xfrm>
              <a:off x="7988688" y="9968314"/>
              <a:ext cx="325972" cy="1116124"/>
            </a:xfrm>
            <a:prstGeom prst="bentConnector2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pic>
        <p:nvPicPr>
          <p:cNvPr id="99" name="图片 98">
            <a:extLst>
              <a:ext uri="{FF2B5EF4-FFF2-40B4-BE49-F238E27FC236}">
                <a16:creationId xmlns:a16="http://schemas.microsoft.com/office/drawing/2014/main" id="{8458A0C2-D973-B860-E936-A9EEDF75574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124301" y="3627855"/>
            <a:ext cx="1345166" cy="1821725"/>
          </a:xfrm>
          <a:prstGeom prst="rect">
            <a:avLst/>
          </a:prstGeom>
        </p:spPr>
      </p:pic>
      <p:sp>
        <p:nvSpPr>
          <p:cNvPr id="100" name="圆角矩形 23">
            <a:extLst>
              <a:ext uri="{FF2B5EF4-FFF2-40B4-BE49-F238E27FC236}">
                <a16:creationId xmlns:a16="http://schemas.microsoft.com/office/drawing/2014/main" id="{39DE1D50-4D10-9AA1-1B11-F2F2E0657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1005" y="5808298"/>
            <a:ext cx="4754156" cy="554355"/>
          </a:xfrm>
          <a:prstGeom prst="roundRect">
            <a:avLst>
              <a:gd name="adj" fmla="val 16667"/>
            </a:avLst>
          </a:prstGeom>
          <a:noFill/>
          <a:ln w="12700">
            <a:noFill/>
            <a:prstDash val="sysDash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en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Laser Marking &amp; 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Unloading </a:t>
            </a:r>
            <a:r>
              <a:rPr kumimoji="1" lang="en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Module</a:t>
            </a:r>
          </a:p>
        </p:txBody>
      </p:sp>
      <p:sp>
        <p:nvSpPr>
          <p:cNvPr id="101" name="箭头: 右 13">
            <a:extLst>
              <a:ext uri="{FF2B5EF4-FFF2-40B4-BE49-F238E27FC236}">
                <a16:creationId xmlns:a16="http://schemas.microsoft.com/office/drawing/2014/main" id="{1D33A0E7-B4C5-DF3E-2EC7-BE3445E4629B}"/>
              </a:ext>
            </a:extLst>
          </p:cNvPr>
          <p:cNvSpPr/>
          <p:nvPr/>
        </p:nvSpPr>
        <p:spPr>
          <a:xfrm>
            <a:off x="13663378" y="4485826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" name="图片 101" descr="形状&#10;&#10;描述已自动生成">
            <a:extLst>
              <a:ext uri="{FF2B5EF4-FFF2-40B4-BE49-F238E27FC236}">
                <a16:creationId xmlns:a16="http://schemas.microsoft.com/office/drawing/2014/main" id="{EF071B53-BA02-2458-D2F2-CEE96382670C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4561139" y="3709097"/>
            <a:ext cx="1303269" cy="1778104"/>
          </a:xfrm>
          <a:prstGeom prst="rect">
            <a:avLst/>
          </a:prstGeom>
        </p:spPr>
      </p:pic>
      <p:graphicFrame>
        <p:nvGraphicFramePr>
          <p:cNvPr id="103" name="表格 15">
            <a:extLst>
              <a:ext uri="{FF2B5EF4-FFF2-40B4-BE49-F238E27FC236}">
                <a16:creationId xmlns:a16="http://schemas.microsoft.com/office/drawing/2014/main" id="{06B64BC8-DBFB-E48B-9479-2CA7F2D94F7A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8282314"/>
              </p:ext>
            </p:extLst>
          </p:nvPr>
        </p:nvGraphicFramePr>
        <p:xfrm>
          <a:off x="17679272" y="2274194"/>
          <a:ext cx="6101722" cy="2748702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3493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36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87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1928">
                <a:tc gridSpan="3">
                  <a:txBody>
                    <a:bodyPr/>
                    <a:lstStyle/>
                    <a:p>
                      <a:pPr algn="ctr" defTabSz="457200">
                        <a:spcBef>
                          <a:spcPts val="0"/>
                        </a:spcBef>
                        <a:defRPr sz="1800"/>
                      </a:pPr>
                      <a:r>
                        <a:rPr lang="en-US" sz="2400" b="1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</a:rPr>
                        <a:t>Laser Marking P</a:t>
                      </a:r>
                      <a:r>
                        <a:rPr sz="2400" b="1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</a:rPr>
                        <a:t>arameter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543">
                <a:tc rowSpan="3">
                  <a:txBody>
                    <a:bodyPr/>
                    <a:lstStyle/>
                    <a:p>
                      <a:pPr algn="ctr" defTabSz="457200">
                        <a:spcBef>
                          <a:spcPts val="0"/>
                        </a:spcBef>
                        <a:defRPr sz="1800"/>
                      </a:pPr>
                      <a:r>
                        <a:rPr sz="1800" b="1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</a:rPr>
                        <a:t>Machine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/>
                      </a:pPr>
                      <a:r>
                        <a:rPr sz="1800" dirty="0">
                          <a:latin typeface="Arial" panose="020B0604020202090204" pitchFamily="34" charset="0"/>
                          <a:ea typeface="微软雅黑" panose="020B0503020204020204" pitchFamily="34" charset="-122"/>
                          <a:cs typeface="Arial" panose="020B0604020202090204" pitchFamily="34" charset="0"/>
                          <a:sym typeface="微软雅黑" panose="020B0503020204020204" pitchFamily="34" charset="-122"/>
                        </a:rPr>
                        <a:t>Type/</a:t>
                      </a:r>
                      <a:r>
                        <a:rPr sz="1800" dirty="0" err="1">
                          <a:latin typeface="Arial" panose="020B0604020202090204" pitchFamily="34" charset="0"/>
                          <a:ea typeface="微软雅黑" panose="020B0503020204020204" pitchFamily="34" charset="-122"/>
                          <a:cs typeface="Arial" panose="020B0604020202090204" pitchFamily="34" charset="0"/>
                          <a:sym typeface="微软雅黑" panose="020B0503020204020204" pitchFamily="34" charset="-122"/>
                        </a:rPr>
                        <a:t>型号</a:t>
                      </a:r>
                      <a:endParaRPr sz="1800" dirty="0">
                        <a:latin typeface="Arial" panose="020B0604020202090204" pitchFamily="34" charset="0"/>
                        <a:ea typeface="微软雅黑" panose="020B0503020204020204" pitchFamily="34" charset="-122"/>
                        <a:cs typeface="Arial" panose="020B060402020209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/>
                      </a:pPr>
                      <a:r>
                        <a:rPr lang="en-US" sz="180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</a:rPr>
                        <a:t>GM-F-D-XT-20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54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/>
                      </a:pPr>
                      <a:r>
                        <a:rPr sz="180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</a:rPr>
                        <a:t>Output/</a:t>
                      </a:r>
                      <a:r>
                        <a:rPr sz="1800" dirty="0" err="1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</a:rPr>
                        <a:t>输出功率</a:t>
                      </a:r>
                      <a:endParaRPr sz="1800" dirty="0">
                        <a:latin typeface="Arial" panose="020B0604020202090204" pitchFamily="34" charset="0"/>
                        <a:ea typeface="Arial" panose="020B0604020202090204"/>
                        <a:cs typeface="Arial" panose="020B0604020202090204" pitchFamily="34" charset="0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/>
                      </a:pPr>
                      <a:r>
                        <a:rPr sz="180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</a:rPr>
                        <a:t>20W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54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/>
                      </a:pPr>
                      <a:r>
                        <a:rPr sz="1800">
                          <a:latin typeface="Arial" panose="020B0604020202090204" pitchFamily="34" charset="0"/>
                          <a:ea typeface="微软雅黑" panose="020B0503020204020204" pitchFamily="34" charset="-122"/>
                          <a:cs typeface="Arial" panose="020B0604020202090204" pitchFamily="34" charset="0"/>
                          <a:sym typeface="微软雅黑" panose="020B0503020204020204" pitchFamily="34" charset="-122"/>
                        </a:rPr>
                        <a:t>Frequency/频率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/>
                      </a:pPr>
                      <a:r>
                        <a:rPr sz="180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</a:rPr>
                        <a:t>80KHZ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543">
                <a:tc rowSpan="5">
                  <a:txBody>
                    <a:bodyPr/>
                    <a:lstStyle/>
                    <a:p>
                      <a:pPr algn="ctr" defTabSz="457200">
                        <a:spcBef>
                          <a:spcPts val="0"/>
                        </a:spcBef>
                        <a:defRPr sz="1800"/>
                      </a:pPr>
                      <a:r>
                        <a:rPr sz="1800" b="1" dirty="0">
                          <a:latin typeface="Arial" panose="020B0604020202090204" pitchFamily="34" charset="0"/>
                          <a:ea typeface="微软雅黑" panose="020B0503020204020204" pitchFamily="34" charset="-122"/>
                          <a:cs typeface="Arial" panose="020B0604020202090204" pitchFamily="34" charset="0"/>
                          <a:sym typeface="微软雅黑" panose="020B0503020204020204" pitchFamily="34" charset="-122"/>
                        </a:rPr>
                        <a:t>Processing related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/>
                      </a:pPr>
                      <a:r>
                        <a:rPr sz="1800" dirty="0">
                          <a:latin typeface="Arial" panose="020B0604020202090204" pitchFamily="34" charset="0"/>
                          <a:ea typeface="微软雅黑" panose="020B0503020204020204" pitchFamily="34" charset="-122"/>
                          <a:cs typeface="Arial" panose="020B0604020202090204" pitchFamily="34" charset="0"/>
                          <a:sym typeface="微软雅黑" panose="020B0503020204020204" pitchFamily="34" charset="-122"/>
                        </a:rPr>
                        <a:t>Speed/</a:t>
                      </a:r>
                      <a:r>
                        <a:rPr sz="1800" dirty="0" err="1">
                          <a:latin typeface="Arial" panose="020B0604020202090204" pitchFamily="34" charset="0"/>
                          <a:ea typeface="微软雅黑" panose="020B0503020204020204" pitchFamily="34" charset="-122"/>
                          <a:cs typeface="Arial" panose="020B0604020202090204" pitchFamily="34" charset="0"/>
                          <a:sym typeface="微软雅黑" panose="020B0503020204020204" pitchFamily="34" charset="-122"/>
                        </a:rPr>
                        <a:t>速度</a:t>
                      </a:r>
                      <a:endParaRPr sz="1800" dirty="0">
                        <a:latin typeface="Arial" panose="020B0604020202090204" pitchFamily="34" charset="0"/>
                        <a:ea typeface="微软雅黑" panose="020B0503020204020204" pitchFamily="34" charset="-122"/>
                        <a:cs typeface="Arial" panose="020B060402020209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/>
                      </a:pPr>
                      <a:r>
                        <a:rPr lang="en-US" sz="180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  <a:sym typeface="+mn-ea"/>
                        </a:rPr>
                        <a:t>800-1300</a:t>
                      </a:r>
                      <a:r>
                        <a:rPr sz="180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  <a:sym typeface="+mn-ea"/>
                        </a:rPr>
                        <a:t>mm/s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54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/>
                      </a:pPr>
                      <a:r>
                        <a:rPr sz="1800">
                          <a:latin typeface="Arial" panose="020B0604020202090204" pitchFamily="34" charset="0"/>
                          <a:ea typeface="微软雅黑" panose="020B0503020204020204" pitchFamily="34" charset="-122"/>
                          <a:cs typeface="Arial" panose="020B0604020202090204" pitchFamily="34" charset="0"/>
                          <a:sym typeface="微软雅黑" panose="020B0503020204020204" pitchFamily="34" charset="-122"/>
                        </a:rPr>
                        <a:t>Q Frequency/Q频率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/>
                      </a:pPr>
                      <a:r>
                        <a:rPr lang="en-US" sz="180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  <a:sym typeface="+mn-ea"/>
                        </a:rPr>
                        <a:t>45-60KHz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54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/>
                      </a:pPr>
                      <a:r>
                        <a:rPr sz="1800">
                          <a:latin typeface="Arial" panose="020B0604020202090204" pitchFamily="34" charset="0"/>
                          <a:ea typeface="微软雅黑" panose="020B0503020204020204" pitchFamily="34" charset="-122"/>
                          <a:cs typeface="Arial" panose="020B0604020202090204" pitchFamily="34" charset="0"/>
                          <a:sym typeface="微软雅黑" panose="020B0503020204020204" pitchFamily="34" charset="-122"/>
                        </a:rPr>
                        <a:t>Jump Speed/空跳速度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/>
                      </a:pPr>
                      <a:r>
                        <a:rPr sz="180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</a:rPr>
                        <a:t>3000mm/s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54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/>
                      </a:pPr>
                      <a:r>
                        <a:rPr sz="1800" dirty="0">
                          <a:latin typeface="Arial" panose="020B0604020202090204" pitchFamily="34" charset="0"/>
                          <a:ea typeface="微软雅黑" panose="020B0503020204020204" pitchFamily="34" charset="-122"/>
                          <a:cs typeface="Arial" panose="020B0604020202090204" pitchFamily="34" charset="0"/>
                          <a:sym typeface="微软雅黑" panose="020B0503020204020204" pitchFamily="34" charset="-122"/>
                        </a:rPr>
                        <a:t>Power%/</a:t>
                      </a:r>
                      <a:r>
                        <a:rPr sz="1800" dirty="0" err="1">
                          <a:latin typeface="Arial" panose="020B0604020202090204" pitchFamily="34" charset="0"/>
                          <a:ea typeface="微软雅黑" panose="020B0503020204020204" pitchFamily="34" charset="-122"/>
                          <a:cs typeface="Arial" panose="020B0604020202090204" pitchFamily="34" charset="0"/>
                          <a:sym typeface="微软雅黑" panose="020B0503020204020204" pitchFamily="34" charset="-122"/>
                        </a:rPr>
                        <a:t>使用功率</a:t>
                      </a:r>
                      <a:r>
                        <a:rPr sz="1800" dirty="0">
                          <a:latin typeface="Arial" panose="020B0604020202090204" pitchFamily="34" charset="0"/>
                          <a:ea typeface="微软雅黑" panose="020B0503020204020204" pitchFamily="34" charset="-122"/>
                          <a:cs typeface="Arial" panose="020B0604020202090204" pitchFamily="34" charset="0"/>
                          <a:sym typeface="微软雅黑" panose="020B0503020204020204" pitchFamily="34" charset="-122"/>
                        </a:rPr>
                        <a:t>%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/>
                      </a:pPr>
                      <a:r>
                        <a:rPr lang="en-US" sz="180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  <a:sym typeface="+mn-ea"/>
                        </a:rPr>
                        <a:t>25-45%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102">
                <a:tc v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>
                          <a:latin typeface="Arial" panose="020B0604020202090204"/>
                          <a:ea typeface="Arial" panose="020B0604020202090204"/>
                          <a:cs typeface="Arial" panose="020B0604020202090204"/>
                        </a:defRPr>
                      </a:pPr>
                      <a:endParaRPr lang="en-US" altLang="zh-CN" sz="1800" b="1" dirty="0">
                        <a:solidFill>
                          <a:schemeClr val="tx1"/>
                        </a:solidFill>
                        <a:latin typeface="Arial" panose="020B0604020202090204" pitchFamily="34" charset="0"/>
                        <a:ea typeface="微软雅黑" panose="020B0503020204020204" pitchFamily="34" charset="-122"/>
                        <a:cs typeface="Arial" panose="020B0604020202090204" pitchFamily="34" charset="0"/>
                        <a:sym typeface="Arial" panose="020B0604020202090204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/>
                      </a:pPr>
                      <a:r>
                        <a:rPr sz="1800" dirty="0">
                          <a:latin typeface="Arial" panose="020B0604020202090204" pitchFamily="34" charset="0"/>
                          <a:ea typeface="微软雅黑" panose="020B0503020204020204" pitchFamily="34" charset="-122"/>
                          <a:cs typeface="Arial" panose="020B0604020202090204" pitchFamily="34" charset="0"/>
                          <a:sym typeface="微软雅黑" panose="020B0503020204020204" pitchFamily="34" charset="-122"/>
                        </a:rPr>
                        <a:t>Filling Spacing/</a:t>
                      </a:r>
                      <a:r>
                        <a:rPr sz="1800" dirty="0" err="1">
                          <a:latin typeface="Arial" panose="020B0604020202090204" pitchFamily="34" charset="0"/>
                          <a:ea typeface="微软雅黑" panose="020B0503020204020204" pitchFamily="34" charset="-122"/>
                          <a:cs typeface="Arial" panose="020B0604020202090204" pitchFamily="34" charset="0"/>
                          <a:sym typeface="微软雅黑" panose="020B0503020204020204" pitchFamily="34" charset="-122"/>
                        </a:rPr>
                        <a:t>填充间距</a:t>
                      </a:r>
                      <a:endParaRPr sz="1800" dirty="0">
                        <a:latin typeface="Arial" panose="020B0604020202090204" pitchFamily="34" charset="0"/>
                        <a:ea typeface="微软雅黑" panose="020B0503020204020204" pitchFamily="34" charset="-122"/>
                        <a:cs typeface="Arial" panose="020B060402020209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0"/>
                        </a:spcBef>
                        <a:defRPr sz="1800"/>
                      </a:pPr>
                      <a:r>
                        <a:rPr lang="en-US" sz="180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  <a:sym typeface="+mn-ea"/>
                        </a:rPr>
                        <a:t>0.025-</a:t>
                      </a:r>
                      <a:r>
                        <a:rPr sz="180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  <a:sym typeface="+mn-ea"/>
                        </a:rPr>
                        <a:t>0.0</a:t>
                      </a:r>
                      <a:r>
                        <a:rPr lang="en-US" sz="180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  <a:sym typeface="+mn-ea"/>
                        </a:rPr>
                        <a:t>5</a:t>
                      </a:r>
                      <a:r>
                        <a:rPr sz="180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  <a:sym typeface="+mn-ea"/>
                        </a:rPr>
                        <a:t>mm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04" name="表格 15">
            <a:extLst>
              <a:ext uri="{FF2B5EF4-FFF2-40B4-BE49-F238E27FC236}">
                <a16:creationId xmlns:a16="http://schemas.microsoft.com/office/drawing/2014/main" id="{196AA18F-6073-595E-62EC-0D046F0B9D11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77278545"/>
              </p:ext>
            </p:extLst>
          </p:nvPr>
        </p:nvGraphicFramePr>
        <p:xfrm>
          <a:off x="17679272" y="5096252"/>
          <a:ext cx="6219158" cy="204978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3382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7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696">
                <a:tc gridSpan="2">
                  <a:txBody>
                    <a:bodyPr/>
                    <a:lstStyle/>
                    <a:p>
                      <a:pPr algn="ctr" defTabSz="457200">
                        <a:spcBef>
                          <a:spcPts val="0"/>
                        </a:spcBef>
                        <a:defRPr sz="1800"/>
                      </a:pPr>
                      <a:r>
                        <a:rPr lang="en-US" sz="2400" b="1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</a:rPr>
                        <a:t>Magnetizing P</a:t>
                      </a:r>
                      <a:r>
                        <a:rPr sz="2400" b="1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</a:rPr>
                        <a:t>arameter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447">
                <a:tc>
                  <a:txBody>
                    <a:bodyPr/>
                    <a:lstStyle/>
                    <a:p>
                      <a:pPr algn="ctr" defTabSz="914400" eaLnBrk="1"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latin typeface="Arial" panose="020B0604020202090204"/>
                          <a:ea typeface="Arial" panose="020B0604020202090204"/>
                          <a:cs typeface="Arial" panose="020B0604020202090204"/>
                          <a:sym typeface="Arial" panose="020B0604020202090204"/>
                        </a:defRPr>
                      </a:pPr>
                      <a:r>
                        <a:rPr lang="en-US" altLang="zh-CN" sz="1800" kern="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  <a:sym typeface="Arial" panose="020B0604020202090204"/>
                        </a:rPr>
                        <a:t>Magnetizing machine Type</a:t>
                      </a:r>
                      <a:endParaRPr sz="1800" b="1" dirty="0">
                        <a:latin typeface="Arial" panose="020B0604020202090204" pitchFamily="34" charset="0"/>
                        <a:ea typeface="Arial" panose="020B0604020202090204"/>
                        <a:cs typeface="Arial" panose="020B0604020202090204" pitchFamily="34" charset="0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spcBef>
                          <a:spcPts val="0"/>
                        </a:spcBef>
                        <a:defRPr sz="1800"/>
                      </a:pPr>
                      <a:r>
                        <a:rPr lang="en-US" sz="180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</a:rPr>
                        <a:t>KCJ-35M</a:t>
                      </a: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35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Magnetizing coil Type</a:t>
                      </a:r>
                      <a:endParaRPr lang="zh-CN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spcBef>
                          <a:spcPts val="0"/>
                        </a:spcBef>
                        <a:defRPr sz="1800"/>
                      </a:pPr>
                      <a:r>
                        <a:rPr lang="en-US" altLang="zh-CN" sz="1800" kern="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  <a:sym typeface="Arial" panose="020B0604020202090204"/>
                        </a:rPr>
                        <a:t>TCG-S</a:t>
                      </a:r>
                      <a:endParaRPr sz="1800" dirty="0">
                        <a:latin typeface="Arial" panose="020B0604020202090204" pitchFamily="34" charset="0"/>
                        <a:ea typeface="Arial" panose="020B0604020202090204"/>
                        <a:cs typeface="Arial" panose="020B0604020202090204" pitchFamily="34" charset="0"/>
                      </a:endParaRPr>
                    </a:p>
                  </a:txBody>
                  <a:tcPr marL="6350" marR="6350" marT="6350" marB="6350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3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  <a:sym typeface="Arial" panose="020B0604020202090204"/>
                        </a:rPr>
                        <a:t>Magnetizing coil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defTabSz="457200">
                        <a:spcBef>
                          <a:spcPts val="0"/>
                        </a:spcBef>
                        <a:defRPr sz="1800"/>
                      </a:pPr>
                      <a:r>
                        <a:rPr lang="en-US" altLang="zh-CN" sz="1800" kern="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  <a:sym typeface="Arial" panose="020B0604020202090204"/>
                        </a:rPr>
                        <a:t>110*75*150 mm</a:t>
                      </a:r>
                      <a:endParaRPr sz="1800" dirty="0">
                        <a:latin typeface="Arial" panose="020B0604020202090204" pitchFamily="34" charset="0"/>
                        <a:ea typeface="Arial" panose="020B0604020202090204"/>
                        <a:cs typeface="Arial" panose="020B0604020202090204" pitchFamily="34" charset="0"/>
                      </a:endParaRPr>
                    </a:p>
                  </a:txBody>
                  <a:tcPr marL="6350" marR="6350" marT="6350" marB="6350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757">
                <a:tc>
                  <a:txBody>
                    <a:bodyPr/>
                    <a:lstStyle/>
                    <a:p>
                      <a:pPr algn="ctr" defTabSz="457200">
                        <a:spcBef>
                          <a:spcPts val="0"/>
                        </a:spcBef>
                        <a:defRPr sz="1800"/>
                      </a:pPr>
                      <a:r>
                        <a:rPr lang="en-US" altLang="zh-CN" sz="1800" kern="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  <a:sym typeface="Arial" panose="020B0604020202090204"/>
                        </a:rPr>
                        <a:t>Magnetizing Voltage</a:t>
                      </a:r>
                      <a:endParaRPr sz="1800" b="1" dirty="0">
                        <a:latin typeface="Arial" panose="020B0604020202090204" pitchFamily="34" charset="0"/>
                        <a:ea typeface="微软雅黑" panose="020B0503020204020204" pitchFamily="34" charset="-122"/>
                        <a:cs typeface="Arial" panose="020B0604020202090204" pitchFamily="34" charset="0"/>
                        <a:sym typeface="微软雅黑" panose="020B0503020204020204" pitchFamily="34" charset="-122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spcBef>
                          <a:spcPts val="0"/>
                        </a:spcBef>
                        <a:defRPr sz="1800"/>
                      </a:pPr>
                      <a:r>
                        <a:rPr lang="en-US" altLang="zh-CN" sz="1800" kern="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  <a:sym typeface="Arial" panose="020B0604020202090204"/>
                        </a:rPr>
                        <a:t>3000 V</a:t>
                      </a:r>
                      <a:endParaRPr sz="1800" dirty="0">
                        <a:latin typeface="Arial" panose="020B0604020202090204" pitchFamily="34" charset="0"/>
                        <a:ea typeface="Arial" panose="020B0604020202090204"/>
                        <a:cs typeface="Arial" panose="020B0604020202090204" pitchFamily="34" charset="0"/>
                        <a:sym typeface="+mn-ea"/>
                      </a:endParaRPr>
                    </a:p>
                  </a:txBody>
                  <a:tcPr marL="6350" marR="6350" marT="6350" marB="63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3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  <a:sym typeface="Arial" panose="020B0604020202090204"/>
                        </a:rPr>
                        <a:t>Magnetizing Capacitance</a:t>
                      </a:r>
                      <a:endParaRPr lang="zh-CN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spcBef>
                          <a:spcPts val="0"/>
                        </a:spcBef>
                        <a:defRPr sz="1800"/>
                      </a:pPr>
                      <a:r>
                        <a:rPr lang="el-GR" sz="180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  <a:sym typeface="+mn-ea"/>
                        </a:rPr>
                        <a:t>9000μ</a:t>
                      </a:r>
                      <a:r>
                        <a:rPr lang="en-US" sz="1800" dirty="0">
                          <a:latin typeface="Arial" panose="020B0604020202090204" pitchFamily="34" charset="0"/>
                          <a:ea typeface="Arial" panose="020B0604020202090204"/>
                          <a:cs typeface="Arial" panose="020B0604020202090204" pitchFamily="34" charset="0"/>
                          <a:sym typeface="+mn-ea"/>
                        </a:rPr>
                        <a:t>F</a:t>
                      </a:r>
                    </a:p>
                  </a:txBody>
                  <a:tcPr marL="6350" marR="6350" marT="6350" marB="6350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4C5E76C8-ABFB-4C95-5724-923EF9485DDC}"/>
              </a:ext>
            </a:extLst>
          </p:cNvPr>
          <p:cNvSpPr/>
          <p:nvPr/>
        </p:nvSpPr>
        <p:spPr bwMode="auto">
          <a:xfrm>
            <a:off x="394537" y="3860093"/>
            <a:ext cx="3152558" cy="920115"/>
          </a:xfrm>
          <a:prstGeom prst="roundRect">
            <a:avLst/>
          </a:prstGeom>
          <a:solidFill>
            <a:schemeClr val="accent3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18288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Automated Equipment Flow chart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Magnetizing machine…">
            <a:extLst>
              <a:ext uri="{FF2B5EF4-FFF2-40B4-BE49-F238E27FC236}">
                <a16:creationId xmlns:a16="http://schemas.microsoft.com/office/drawing/2014/main" id="{4B859F66-D429-AC94-7F79-83DDC6B7C52C}"/>
              </a:ext>
            </a:extLst>
          </p:cNvPr>
          <p:cNvSpPr txBox="1"/>
          <p:nvPr/>
        </p:nvSpPr>
        <p:spPr>
          <a:xfrm>
            <a:off x="12798256" y="12169668"/>
            <a:ext cx="3987140" cy="461661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>
            <a:spAutoFit/>
          </a:bodyPr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100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pPr>
            <a:r>
              <a:rPr lang="en-US" sz="2400" kern="0" dirty="0">
                <a:solidFill>
                  <a:srgbClr val="0000FF"/>
                </a:solidFill>
                <a:latin typeface="Arial" panose="020B0604020202090204"/>
                <a:ea typeface="Arial" panose="020B0604020202090204"/>
                <a:sym typeface="Arial" panose="020B0604020202090204"/>
              </a:rPr>
              <a:t>(P</a:t>
            </a:r>
            <a:r>
              <a:rPr lang="en-US" altLang="zh-CN" sz="2400" kern="0" dirty="0">
                <a:solidFill>
                  <a:srgbClr val="0000FF"/>
                </a:solidFill>
                <a:latin typeface="Arial" panose="020B0604020202090204"/>
                <a:ea typeface="Arial" panose="020B0604020202090204"/>
                <a:sym typeface="Arial" panose="020B0604020202090204"/>
              </a:rPr>
              <a:t>icture for reference only)</a:t>
            </a:r>
            <a:endParaRPr lang="en-US" sz="2400" kern="0" dirty="0">
              <a:solidFill>
                <a:srgbClr val="0000FF"/>
              </a:solidFill>
              <a:latin typeface="Arial" panose="020B0604020202090204"/>
              <a:ea typeface="Arial" panose="020B0604020202090204"/>
              <a:sym typeface="Arial" panose="020B0604020202090204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19D4E7CC-F146-8DCD-9511-E811ACC1FA4E}"/>
              </a:ext>
            </a:extLst>
          </p:cNvPr>
          <p:cNvSpPr/>
          <p:nvPr/>
        </p:nvSpPr>
        <p:spPr bwMode="auto">
          <a:xfrm>
            <a:off x="369318" y="9244989"/>
            <a:ext cx="3298130" cy="920115"/>
          </a:xfrm>
          <a:prstGeom prst="roundRect">
            <a:avLst/>
          </a:prstGeom>
          <a:solidFill>
            <a:schemeClr val="accent3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18288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/>
              <a:t>Automated Magnetizing &amp; Laser Marking Line  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" name="圆角矩形 5">
            <a:extLst>
              <a:ext uri="{FF2B5EF4-FFF2-40B4-BE49-F238E27FC236}">
                <a16:creationId xmlns:a16="http://schemas.microsoft.com/office/drawing/2014/main" id="{354849CA-E8DA-73D0-D78C-972BBDDE73B7}"/>
              </a:ext>
            </a:extLst>
          </p:cNvPr>
          <p:cNvSpPr/>
          <p:nvPr/>
        </p:nvSpPr>
        <p:spPr>
          <a:xfrm>
            <a:off x="5741434" y="2316402"/>
            <a:ext cx="2235922" cy="5107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36" tIns="91436" rIns="91436" bIns="91436" numCol="1" spcCol="38100" rtlCol="0" anchor="ctr" anchorCtr="1" forceAA="0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Loading Magnet</a:t>
            </a:r>
            <a:endParaRPr lang="zh-CN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圆角矩形 5">
            <a:extLst>
              <a:ext uri="{FF2B5EF4-FFF2-40B4-BE49-F238E27FC236}">
                <a16:creationId xmlns:a16="http://schemas.microsoft.com/office/drawing/2014/main" id="{4E225302-B4E9-0D67-1DDA-07FA4E55C154}"/>
              </a:ext>
            </a:extLst>
          </p:cNvPr>
          <p:cNvSpPr/>
          <p:nvPr/>
        </p:nvSpPr>
        <p:spPr>
          <a:xfrm>
            <a:off x="9172313" y="2316402"/>
            <a:ext cx="2235922" cy="5107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36" tIns="91436" rIns="91436" bIns="91436" numCol="1" spcCol="38100" rtlCol="0" anchor="ctr" anchorCtr="1" forceAA="0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Magnetizing</a:t>
            </a:r>
          </a:p>
        </p:txBody>
      </p:sp>
      <p:sp>
        <p:nvSpPr>
          <p:cNvPr id="25" name="圆角矩形 5">
            <a:extLst>
              <a:ext uri="{FF2B5EF4-FFF2-40B4-BE49-F238E27FC236}">
                <a16:creationId xmlns:a16="http://schemas.microsoft.com/office/drawing/2014/main" id="{A18322E0-0940-7065-54D6-F8D3C27389C9}"/>
              </a:ext>
            </a:extLst>
          </p:cNvPr>
          <p:cNvSpPr/>
          <p:nvPr/>
        </p:nvSpPr>
        <p:spPr>
          <a:xfrm>
            <a:off x="11691539" y="2316401"/>
            <a:ext cx="2235922" cy="5107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36" tIns="91436" rIns="91436" bIns="91436" numCol="1" spcCol="38100" rtlCol="0" anchor="ctr" anchorCtr="1" forceAA="0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Laser Marking</a:t>
            </a:r>
          </a:p>
        </p:txBody>
      </p:sp>
      <p:sp>
        <p:nvSpPr>
          <p:cNvPr id="26" name="圆角矩形 5">
            <a:extLst>
              <a:ext uri="{FF2B5EF4-FFF2-40B4-BE49-F238E27FC236}">
                <a16:creationId xmlns:a16="http://schemas.microsoft.com/office/drawing/2014/main" id="{BB7F5CA0-E07A-8C95-58D9-5FCBE184CE06}"/>
              </a:ext>
            </a:extLst>
          </p:cNvPr>
          <p:cNvSpPr/>
          <p:nvPr/>
        </p:nvSpPr>
        <p:spPr>
          <a:xfrm>
            <a:off x="14248393" y="2339759"/>
            <a:ext cx="2221858" cy="8172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36" tIns="91436" rIns="91436" bIns="91436" numCol="1" spcCol="38100" rtlCol="0" anchor="ctr" anchorCtr="1" forceAA="0">
            <a:spAutoFit/>
          </a:bodyPr>
          <a:lstStyle/>
          <a:p>
            <a:pPr algn="ctr"/>
            <a:r>
              <a:rPr kumimoji="1" lang="en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Load the Magnet into the tray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2CB2ED86-8208-5687-41E6-D38C1F080103}"/>
              </a:ext>
            </a:extLst>
          </p:cNvPr>
          <p:cNvCxnSpPr>
            <a:cxnSpLocks/>
            <a:stCxn id="65" idx="3"/>
          </p:cNvCxnSpPr>
          <p:nvPr/>
        </p:nvCxnSpPr>
        <p:spPr bwMode="auto">
          <a:xfrm>
            <a:off x="7350751" y="3825816"/>
            <a:ext cx="531757" cy="57720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28109826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X1758 / Revision list：">
            <a:extLst>
              <a:ext uri="{FF2B5EF4-FFF2-40B4-BE49-F238E27FC236}">
                <a16:creationId xmlns:a16="http://schemas.microsoft.com/office/drawing/2014/main" id="{5462F66C-010F-458C-BD4B-3905745BBEF7}"/>
              </a:ext>
            </a:extLst>
          </p:cNvPr>
          <p:cNvSpPr/>
          <p:nvPr/>
        </p:nvSpPr>
        <p:spPr>
          <a:xfrm>
            <a:off x="361950" y="908050"/>
            <a:ext cx="16362363" cy="920115"/>
          </a:xfrm>
          <a:prstGeom prst="rect">
            <a:avLst/>
          </a:prstGeom>
          <a:noFill/>
          <a:ln w="9525">
            <a:noFill/>
          </a:ln>
        </p:spPr>
        <p:txBody>
          <a:bodyPr lIns="91436" tIns="91436" rIns="91436" bIns="91436">
            <a:spAutoFit/>
          </a:bodyPr>
          <a:lstStyle/>
          <a:p>
            <a:pPr>
              <a:spcBef>
                <a:spcPts val="2800"/>
              </a:spcBef>
            </a:pPr>
            <a:r>
              <a:rPr lang="en-US" altLang="zh-CN" sz="4800" dirty="0">
                <a:solidFill>
                  <a:srgbClr val="004D8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sym typeface="Helvetica" charset="0"/>
              </a:rPr>
              <a:t>B747</a:t>
            </a:r>
            <a:r>
              <a:rPr lang="en-US" altLang="zh-CN" sz="4800" dirty="0">
                <a:solidFill>
                  <a:schemeClr val="tx1"/>
                </a:solidFill>
                <a:latin typeface="Arial" panose="020B0604020202020204" pitchFamily="34" charset="0"/>
              </a:rPr>
              <a:t>|</a:t>
            </a:r>
            <a:r>
              <a:rPr lang="en-US" altLang="zh-CN" sz="4800" dirty="0">
                <a:latin typeface="Helvetica" charset="0"/>
                <a:sym typeface="Helvetica" charset="0"/>
              </a:rPr>
              <a:t> Process Description _ Inspection Device</a:t>
            </a:r>
            <a:endParaRPr lang="zh-CN" altLang="en-US" sz="4800" dirty="0">
              <a:latin typeface="Arial" panose="020B0604020202020204" pitchFamily="34" charset="0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C5E7C479-0221-4895-9D58-12CD4C41B795}"/>
              </a:ext>
            </a:extLst>
          </p:cNvPr>
          <p:cNvGrpSpPr/>
          <p:nvPr/>
        </p:nvGrpSpPr>
        <p:grpSpPr>
          <a:xfrm>
            <a:off x="1741810" y="2313228"/>
            <a:ext cx="20999201" cy="10745544"/>
            <a:chOff x="1741810" y="2313228"/>
            <a:chExt cx="20999201" cy="10745544"/>
          </a:xfrm>
        </p:grpSpPr>
        <p:pic>
          <p:nvPicPr>
            <p:cNvPr id="15" name="image7.jpeg" descr="image7.jpeg">
              <a:extLst>
                <a:ext uri="{FF2B5EF4-FFF2-40B4-BE49-F238E27FC236}">
                  <a16:creationId xmlns:a16="http://schemas.microsoft.com/office/drawing/2014/main" id="{F5DD6F72-0945-410B-BFDD-97A180D85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9143" t="8618" r="15852" b="3561"/>
            <a:stretch>
              <a:fillRect/>
            </a:stretch>
          </p:blipFill>
          <p:spPr>
            <a:xfrm>
              <a:off x="9096000" y="2447934"/>
              <a:ext cx="5876927" cy="4825462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sp>
          <p:nvSpPr>
            <p:cNvPr id="17" name="SST Test">
              <a:extLst>
                <a:ext uri="{FF2B5EF4-FFF2-40B4-BE49-F238E27FC236}">
                  <a16:creationId xmlns:a16="http://schemas.microsoft.com/office/drawing/2014/main" id="{6DFCD5F4-5417-4E24-ACC8-5647D8D2E0F5}"/>
                </a:ext>
              </a:extLst>
            </p:cNvPr>
            <p:cNvSpPr txBox="1"/>
            <p:nvPr/>
          </p:nvSpPr>
          <p:spPr>
            <a:xfrm>
              <a:off x="11046090" y="7344457"/>
              <a:ext cx="1801129" cy="584772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45718" tIns="45718" rIns="45718" bIns="45718">
              <a:spAutoFit/>
            </a:bodyPr>
            <a:lstStyle>
              <a:lvl1pPr>
                <a:spcBef>
                  <a:spcPts val="0"/>
                </a:spcBef>
                <a:defRPr sz="12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3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cs typeface="Arial" panose="020B0604020202020204"/>
                  <a:sym typeface="Arial" panose="020B0604020202020204"/>
                </a:rPr>
                <a:t>SST Test</a:t>
              </a:r>
            </a:p>
          </p:txBody>
        </p:sp>
        <p:sp>
          <p:nvSpPr>
            <p:cNvPr id="18" name="XRF  Coating Test">
              <a:extLst>
                <a:ext uri="{FF2B5EF4-FFF2-40B4-BE49-F238E27FC236}">
                  <a16:creationId xmlns:a16="http://schemas.microsoft.com/office/drawing/2014/main" id="{77EF106B-A23C-4425-A28D-DA86FE253348}"/>
                </a:ext>
              </a:extLst>
            </p:cNvPr>
            <p:cNvSpPr txBox="1"/>
            <p:nvPr/>
          </p:nvSpPr>
          <p:spPr>
            <a:xfrm>
              <a:off x="2819895" y="7344457"/>
              <a:ext cx="4339571" cy="584772"/>
            </a:xfrm>
            <a:prstGeom prst="rect">
              <a:avLst/>
            </a:prstGeom>
            <a:ln w="12700">
              <a:miter lim="400000"/>
            </a:ln>
          </p:spPr>
          <p:txBody>
            <a:bodyPr lIns="45718" tIns="45718" rIns="45718" bIns="45718">
              <a:spAutoFit/>
            </a:bodyPr>
            <a:lstStyle>
              <a:lvl1pPr>
                <a:spcBef>
                  <a:spcPts val="0"/>
                </a:spcBef>
                <a:defRPr sz="12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3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cs typeface="Arial" panose="020B0604020202020204"/>
                  <a:sym typeface="Arial" panose="020B0604020202020204"/>
                </a:rPr>
                <a:t>XRF  Coating Test</a:t>
              </a:r>
            </a:p>
          </p:txBody>
        </p:sp>
        <p:pic>
          <p:nvPicPr>
            <p:cNvPr id="19" name="图像" descr="图像">
              <a:extLst>
                <a:ext uri="{FF2B5EF4-FFF2-40B4-BE49-F238E27FC236}">
                  <a16:creationId xmlns:a16="http://schemas.microsoft.com/office/drawing/2014/main" id="{027BC1A7-5C04-4E1E-9A08-4EE54F2A70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00000" y="2999887"/>
              <a:ext cx="4900641" cy="4022048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pic>
          <p:nvPicPr>
            <p:cNvPr id="20" name="图像" descr="图像">
              <a:extLst>
                <a:ext uri="{FF2B5EF4-FFF2-40B4-BE49-F238E27FC236}">
                  <a16:creationId xmlns:a16="http://schemas.microsoft.com/office/drawing/2014/main" id="{2F6CD3A9-FFFD-4B7E-929D-A944D502E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600000">
              <a:off x="19978331" y="8574409"/>
              <a:ext cx="980550" cy="3600000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sp>
          <p:nvSpPr>
            <p:cNvPr id="21" name="Polar Pen">
              <a:extLst>
                <a:ext uri="{FF2B5EF4-FFF2-40B4-BE49-F238E27FC236}">
                  <a16:creationId xmlns:a16="http://schemas.microsoft.com/office/drawing/2014/main" id="{60A8921F-C241-44F5-AC6B-4C3D4AFC10D5}"/>
                </a:ext>
              </a:extLst>
            </p:cNvPr>
            <p:cNvSpPr txBox="1"/>
            <p:nvPr/>
          </p:nvSpPr>
          <p:spPr>
            <a:xfrm>
              <a:off x="19353045" y="12474000"/>
              <a:ext cx="1892503" cy="584772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45718" tIns="45718" rIns="45718" bIns="45718">
              <a:spAutoFit/>
            </a:bodyPr>
            <a:lstStyle>
              <a:lvl1pPr>
                <a:spcBef>
                  <a:spcPts val="0"/>
                </a:spcBef>
                <a:defRPr sz="12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3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cs typeface="Arial" panose="020B0604020202020204"/>
                  <a:sym typeface="Arial" panose="020B0604020202020204"/>
                </a:rPr>
                <a:t>Polar Pen</a:t>
              </a:r>
            </a:p>
          </p:txBody>
        </p:sp>
        <p:sp>
          <p:nvSpPr>
            <p:cNvPr id="23" name="Fluxmeter+ Helmholtz coil">
              <a:extLst>
                <a:ext uri="{FF2B5EF4-FFF2-40B4-BE49-F238E27FC236}">
                  <a16:creationId xmlns:a16="http://schemas.microsoft.com/office/drawing/2014/main" id="{47457EAE-C6F4-4EA4-BE96-1BC198EAAB7B}"/>
                </a:ext>
              </a:extLst>
            </p:cNvPr>
            <p:cNvSpPr txBox="1"/>
            <p:nvPr/>
          </p:nvSpPr>
          <p:spPr>
            <a:xfrm>
              <a:off x="1741810" y="12474000"/>
              <a:ext cx="6557176" cy="584772"/>
            </a:xfrm>
            <a:prstGeom prst="rect">
              <a:avLst/>
            </a:prstGeom>
            <a:ln w="12700">
              <a:miter lim="400000"/>
            </a:ln>
          </p:spPr>
          <p:txBody>
            <a:bodyPr lIns="45718" tIns="45718" rIns="45718" bIns="45718">
              <a:spAutoFit/>
            </a:bodyPr>
            <a:lstStyle>
              <a:lvl1pPr>
                <a:spcBef>
                  <a:spcPts val="0"/>
                </a:spcBef>
                <a:defRPr sz="12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32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cs typeface="Arial" panose="020B0604020202020204"/>
                  <a:sym typeface="Arial" panose="020B0604020202020204"/>
                </a:rPr>
                <a:t>Fluxmeter</a:t>
              </a:r>
              <a:r>
                <a:rPr kumimoji="0" sz="3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cs typeface="Arial" panose="020B0604020202020204"/>
                  <a:sym typeface="Arial" panose="020B0604020202020204"/>
                </a:rPr>
                <a:t>+ Helmholtz coil</a:t>
              </a:r>
            </a:p>
          </p:txBody>
        </p:sp>
        <p:pic>
          <p:nvPicPr>
            <p:cNvPr id="24" name="IMG_3846.jpeg" descr="IMG_3846.jpeg">
              <a:extLst>
                <a:ext uri="{FF2B5EF4-FFF2-40B4-BE49-F238E27FC236}">
                  <a16:creationId xmlns:a16="http://schemas.microsoft.com/office/drawing/2014/main" id="{C35F2DE1-7AC7-4446-9143-64AD8A3BDF0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9093"/>
            <a:stretch/>
          </p:blipFill>
          <p:spPr>
            <a:xfrm>
              <a:off x="17376000" y="2313228"/>
              <a:ext cx="5365011" cy="5038658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sp>
          <p:nvSpPr>
            <p:cNvPr id="25" name="OMM  Dimension test">
              <a:extLst>
                <a:ext uri="{FF2B5EF4-FFF2-40B4-BE49-F238E27FC236}">
                  <a16:creationId xmlns:a16="http://schemas.microsoft.com/office/drawing/2014/main" id="{AA35D108-C293-4C69-9E02-66295D95ECC1}"/>
                </a:ext>
              </a:extLst>
            </p:cNvPr>
            <p:cNvSpPr txBox="1"/>
            <p:nvPr/>
          </p:nvSpPr>
          <p:spPr>
            <a:xfrm>
              <a:off x="18149234" y="7344457"/>
              <a:ext cx="4032509" cy="584772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45718" tIns="45718" rIns="45718" bIns="45718">
              <a:spAutoFit/>
            </a:bodyPr>
            <a:lstStyle>
              <a:lvl1pPr>
                <a:spcBef>
                  <a:spcPts val="0"/>
                </a:spcBef>
                <a:defRPr sz="12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3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cs typeface="Arial" panose="020B0604020202020204"/>
                  <a:sym typeface="Arial" panose="020B0604020202020204"/>
                </a:rPr>
                <a:t>OMM  Dimension test</a:t>
              </a:r>
            </a:p>
          </p:txBody>
        </p:sp>
        <p:pic>
          <p:nvPicPr>
            <p:cNvPr id="26" name="IMG_3847.jpeg" descr="IMG_3847.jpeg">
              <a:extLst>
                <a:ext uri="{FF2B5EF4-FFF2-40B4-BE49-F238E27FC236}">
                  <a16:creationId xmlns:a16="http://schemas.microsoft.com/office/drawing/2014/main" id="{F2565926-BE01-4B71-83BB-D678F55CFA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680000" y="8082000"/>
              <a:ext cx="4582232" cy="4320000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sp>
          <p:nvSpPr>
            <p:cNvPr id="27" name="Flux density Test">
              <a:extLst>
                <a:ext uri="{FF2B5EF4-FFF2-40B4-BE49-F238E27FC236}">
                  <a16:creationId xmlns:a16="http://schemas.microsoft.com/office/drawing/2014/main" id="{4C941811-891E-4A92-B0D9-423C57F40F4F}"/>
                </a:ext>
              </a:extLst>
            </p:cNvPr>
            <p:cNvSpPr txBox="1"/>
            <p:nvPr/>
          </p:nvSpPr>
          <p:spPr>
            <a:xfrm>
              <a:off x="10680000" y="12474000"/>
              <a:ext cx="4339571" cy="584772"/>
            </a:xfrm>
            <a:prstGeom prst="rect">
              <a:avLst/>
            </a:prstGeom>
            <a:ln w="12700">
              <a:miter lim="400000"/>
            </a:ln>
          </p:spPr>
          <p:txBody>
            <a:bodyPr lIns="45718" tIns="45718" rIns="45718" bIns="45718">
              <a:spAutoFit/>
            </a:bodyPr>
            <a:lstStyle>
              <a:lvl1pPr>
                <a:spcBef>
                  <a:spcPts val="0"/>
                </a:spcBef>
                <a:defRPr sz="12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3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cs typeface="Arial" panose="020B0604020202020204"/>
                  <a:sym typeface="Arial" panose="020B0604020202020204"/>
                </a:rPr>
                <a:t>Flux density Test</a:t>
              </a: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D2695AE9-9BEC-5487-9462-706136A56D16}"/>
              </a:ext>
            </a:extLst>
          </p:cNvPr>
          <p:cNvPicPr>
            <a:picLocks noChangeAspect="1"/>
          </p:cNvPicPr>
          <p:nvPr/>
        </p:nvPicPr>
        <p:blipFill>
          <a:blip r:embed="rId7" cstate="email"/>
          <a:stretch>
            <a:fillRect/>
          </a:stretch>
        </p:blipFill>
        <p:spPr>
          <a:xfrm>
            <a:off x="3120000" y="8244814"/>
            <a:ext cx="3440754" cy="3941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66818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879" y="3907976"/>
            <a:ext cx="4564195" cy="3189503"/>
          </a:xfrm>
          <a:prstGeom prst="rect">
            <a:avLst/>
          </a:prstGeom>
        </p:spPr>
      </p:pic>
      <p:sp>
        <p:nvSpPr>
          <p:cNvPr id="2" name="X1758 / Revision list："/>
          <p:cNvSpPr/>
          <p:nvPr/>
        </p:nvSpPr>
        <p:spPr>
          <a:xfrm>
            <a:off x="361950" y="908050"/>
            <a:ext cx="16362363" cy="920115"/>
          </a:xfrm>
          <a:prstGeom prst="rect">
            <a:avLst/>
          </a:prstGeom>
          <a:noFill/>
          <a:ln w="9525">
            <a:noFill/>
          </a:ln>
        </p:spPr>
        <p:txBody>
          <a:bodyPr lIns="91436" tIns="91436" rIns="91436" bIns="91436">
            <a:spAutoFit/>
          </a:bodyPr>
          <a:lstStyle/>
          <a:p>
            <a:pPr>
              <a:spcBef>
                <a:spcPts val="2800"/>
              </a:spcBef>
            </a:pPr>
            <a:r>
              <a:rPr lang="en-US" altLang="zh-CN" sz="4800" dirty="0">
                <a:solidFill>
                  <a:srgbClr val="004D80"/>
                </a:solidFill>
                <a:ea typeface="Arial Unicode MS" panose="020B0604020202020204" pitchFamily="34" charset="-122"/>
                <a:cs typeface="Arial" panose="020B0604020202090204" pitchFamily="34" charset="0"/>
                <a:sym typeface="Helvetica" charset="0"/>
              </a:rPr>
              <a:t>B747 </a:t>
            </a:r>
            <a:r>
              <a:rPr lang="en-US" altLang="zh-CN" sz="4800" dirty="0">
                <a:solidFill>
                  <a:schemeClr val="tx1"/>
                </a:solidFill>
                <a:cs typeface="Arial" panose="020B0604020202090204" pitchFamily="34" charset="0"/>
              </a:rPr>
              <a:t>|</a:t>
            </a:r>
            <a:r>
              <a:rPr lang="en-US" altLang="zh-CN" sz="4800" dirty="0">
                <a:cs typeface="Arial" panose="020B0604020202090204" pitchFamily="34" charset="0"/>
                <a:sym typeface="Helvetica" charset="0"/>
              </a:rPr>
              <a:t> Process Description _ Packaging</a:t>
            </a:r>
            <a:endParaRPr lang="zh-CN" altLang="en-US" sz="4800" dirty="0">
              <a:cs typeface="Arial" panose="020B0604020202090204" pitchFamily="34" charset="0"/>
            </a:endParaRPr>
          </a:p>
        </p:txBody>
      </p:sp>
      <p:pic>
        <p:nvPicPr>
          <p:cNvPr id="19" name="图像" descr="图像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146053" y="9843904"/>
            <a:ext cx="4526280" cy="350139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" name="Take out of the product (Mag&amp;Can）"/>
          <p:cNvSpPr txBox="1"/>
          <p:nvPr/>
        </p:nvSpPr>
        <p:spPr>
          <a:xfrm>
            <a:off x="886745" y="7301039"/>
            <a:ext cx="4968552" cy="1015659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>
            <a:spAutoFit/>
          </a:bodyPr>
          <a:lstStyle>
            <a:lvl1pPr>
              <a:defRPr sz="3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pPr>
              <a:spcBef>
                <a:spcPts val="0"/>
              </a:spcBef>
            </a:pPr>
            <a:r>
              <a:rPr dirty="0"/>
              <a:t>Place the </a:t>
            </a:r>
            <a:r>
              <a:rPr lang="en-US" dirty="0"/>
              <a:t>product</a:t>
            </a:r>
            <a:r>
              <a:rPr lang="en-US" altLang="zh-CN" dirty="0"/>
              <a:t>s</a:t>
            </a:r>
            <a:r>
              <a:rPr lang="en-US" dirty="0"/>
              <a:t> into tray</a:t>
            </a:r>
          </a:p>
          <a:p>
            <a:pPr>
              <a:spcBef>
                <a:spcPts val="0"/>
              </a:spcBef>
            </a:pPr>
            <a:r>
              <a:rPr lang="en-US" dirty="0"/>
              <a:t>Qty: 64 P</a:t>
            </a:r>
            <a:r>
              <a:rPr lang="en-US" altLang="zh-CN" dirty="0"/>
              <a:t>cs</a:t>
            </a:r>
            <a:endParaRPr lang="en-US" dirty="0"/>
          </a:p>
        </p:txBody>
      </p:sp>
      <p:sp>
        <p:nvSpPr>
          <p:cNvPr id="21" name="Put them into the box and cover a EPE board"/>
          <p:cNvSpPr txBox="1"/>
          <p:nvPr/>
        </p:nvSpPr>
        <p:spPr>
          <a:xfrm>
            <a:off x="16821115" y="7301039"/>
            <a:ext cx="6424510" cy="584771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>
            <a:spAutoFit/>
          </a:bodyPr>
          <a:lstStyle>
            <a:lvl1pPr algn="just">
              <a:defRPr sz="1200"/>
            </a:lvl1pPr>
          </a:lstStyle>
          <a:p>
            <a:pPr algn="ctr"/>
            <a:r>
              <a:rPr lang="en-US" sz="3200">
                <a:sym typeface="+mn-ea"/>
              </a:rPr>
              <a:t>Qty:</a:t>
            </a:r>
            <a:r>
              <a:rPr lang="en-US" sz="3000">
                <a:latin typeface="Arial" panose="020B0604020202020204"/>
                <a:ea typeface="Arial" panose="020B0604020202020204"/>
                <a:cs typeface="Arial" panose="020B0604020202020204"/>
              </a:rPr>
              <a:t>64 </a:t>
            </a:r>
            <a:r>
              <a:rPr lang="en-US" sz="3000" dirty="0">
                <a:latin typeface="Arial" panose="020B0604020202020204"/>
                <a:ea typeface="Arial" panose="020B0604020202020204"/>
                <a:cs typeface="Arial" panose="020B0604020202020204"/>
              </a:rPr>
              <a:t>Pcs/Tray </a:t>
            </a:r>
            <a:r>
              <a:rPr lang="en-US" sz="3000">
                <a:latin typeface="Arial" panose="020B0604020202020204"/>
                <a:ea typeface="Arial" panose="020B0604020202020204"/>
                <a:cs typeface="Arial" panose="020B0604020202020204"/>
              </a:rPr>
              <a:t>* 30 Tray =1920pcs</a:t>
            </a:r>
            <a:endParaRPr lang="en-US" sz="3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095656" y="7301039"/>
            <a:ext cx="5325497" cy="66684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101600" tIns="101600" rIns="101600" bIns="101600" numCol="1" spcCol="38100" rtlCol="0" anchor="t" forceAA="0">
            <a:spAutoFit/>
          </a:bodyPr>
          <a:lstStyle/>
          <a:p>
            <a:pPr algn="ctr"/>
            <a:r>
              <a:rPr lang="en-US" sz="3000" dirty="0"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Put</a:t>
            </a:r>
            <a:r>
              <a:rPr sz="3000" dirty="0"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</a:t>
            </a:r>
            <a:r>
              <a:rPr lang="en-US" sz="3000" dirty="0"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5 trays into a </a:t>
            </a:r>
            <a:r>
              <a:rPr lang="en-US" altLang="zh-CN" sz="3000" dirty="0">
                <a:latin typeface="Arial" panose="020B0604020202020204"/>
                <a:ea typeface="Arial" panose="020B0604020202020204"/>
                <a:sym typeface="+mn-ea"/>
              </a:rPr>
              <a:t>Vacuum bag</a:t>
            </a:r>
            <a:endParaRPr lang="en-US" altLang="zh-CN" sz="3000" dirty="0">
              <a:latin typeface="Arial" panose="020B0604020202020204"/>
              <a:ea typeface="Arial" panose="020B0604020202020204"/>
              <a:sym typeface="Helvetica" panose="020B0604020202020204"/>
            </a:endParaRPr>
          </a:p>
        </p:txBody>
      </p:sp>
      <p:sp>
        <p:nvSpPr>
          <p:cNvPr id="26" name="Rectangle 235"/>
          <p:cNvSpPr/>
          <p:nvPr/>
        </p:nvSpPr>
        <p:spPr>
          <a:xfrm>
            <a:off x="5137047" y="3757491"/>
            <a:ext cx="2294766" cy="382444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 lvl="0" indent="0" algn="l" defTabSz="8255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lang="en-US" sz="2000" kern="100" dirty="0">
                <a:solidFill>
                  <a:sysClr val="windowText" lastClr="000000"/>
                </a:solidFill>
                <a:ea typeface="Arial" panose="020B0604020202020204" pitchFamily="34" charset="0"/>
                <a:sym typeface="Helvetica Neue"/>
              </a:rPr>
              <a:t>64</a:t>
            </a:r>
            <a:r>
              <a:rPr kumimoji="0" lang="en-US" sz="2000" b="0" i="0" u="none" strike="noStrike" kern="1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Arial" panose="020B0604020202020204" pitchFamily="34" charset="0"/>
                <a:sym typeface="Helvetica Neue"/>
              </a:rPr>
              <a:t>*Products</a:t>
            </a:r>
            <a:endParaRPr kumimoji="0" lang="zh-CN" altLang="en-US" sz="2000" b="0" i="0" u="none" strike="noStrike" kern="1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Calibri" panose="020F0502020204030204" pitchFamily="34" charset="0"/>
              <a:sym typeface="Helvetica Neue"/>
            </a:endParaRPr>
          </a:p>
        </p:txBody>
      </p:sp>
      <p:sp>
        <p:nvSpPr>
          <p:cNvPr id="31" name="Rectangle 239"/>
          <p:cNvSpPr/>
          <p:nvPr/>
        </p:nvSpPr>
        <p:spPr>
          <a:xfrm>
            <a:off x="5158079" y="6511475"/>
            <a:ext cx="2294766" cy="382444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 lvl="0" indent="0" algn="l" defTabSz="8255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Arial" panose="020B0604020202020204" pitchFamily="34" charset="0"/>
                <a:sym typeface="Helvetica Neue"/>
              </a:rPr>
              <a:t>1*Packaging Tray</a:t>
            </a:r>
            <a:endParaRPr kumimoji="0" lang="zh-CN" altLang="en-US" sz="2000" b="0" i="0" u="none" strike="noStrike" kern="1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Calibri" panose="020F0502020204030204" pitchFamily="34" charset="0"/>
              <a:sym typeface="Helvetica Neue"/>
            </a:endParaRPr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4519201" y="3938935"/>
            <a:ext cx="555529" cy="364897"/>
          </a:xfrm>
          <a:prstGeom prst="line">
            <a:avLst/>
          </a:prstGeom>
          <a:noFill/>
          <a:ln w="9525" cap="flat" cmpd="sng" algn="ctr">
            <a:solidFill>
              <a:srgbClr val="000000">
                <a:shade val="95000"/>
                <a:satMod val="104999"/>
              </a:srgbClr>
            </a:solidFill>
            <a:prstDash val="solid"/>
          </a:ln>
          <a:effectLst/>
        </p:spPr>
      </p:cxnSp>
      <p:cxnSp>
        <p:nvCxnSpPr>
          <p:cNvPr id="33" name="直接连接符 32"/>
          <p:cNvCxnSpPr/>
          <p:nvPr/>
        </p:nvCxnSpPr>
        <p:spPr>
          <a:xfrm>
            <a:off x="4827694" y="6342427"/>
            <a:ext cx="299380" cy="278596"/>
          </a:xfrm>
          <a:prstGeom prst="line">
            <a:avLst/>
          </a:prstGeom>
          <a:noFill/>
          <a:ln w="9525" cap="flat" cmpd="sng" algn="ctr">
            <a:solidFill>
              <a:srgbClr val="000000">
                <a:shade val="95000"/>
                <a:satMod val="104999"/>
              </a:srgbClr>
            </a:solidFill>
            <a:prstDash val="solid"/>
          </a:ln>
          <a:effectLst/>
        </p:spPr>
      </p:cxnSp>
      <p:sp>
        <p:nvSpPr>
          <p:cNvPr id="36" name="箭头: 燕尾形 70"/>
          <p:cNvSpPr/>
          <p:nvPr/>
        </p:nvSpPr>
        <p:spPr>
          <a:xfrm>
            <a:off x="7452845" y="4750507"/>
            <a:ext cx="720000" cy="720000"/>
          </a:xfrm>
          <a:prstGeom prst="notchedRightArrow">
            <a:avLst/>
          </a:prstGeom>
          <a:solidFill>
            <a:srgbClr val="FFFFFF"/>
          </a:solidFill>
          <a:ln w="12700" cap="flat">
            <a:solidFill>
              <a:srgbClr val="0000FF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箭头: 燕尾形 70"/>
          <p:cNvSpPr/>
          <p:nvPr/>
        </p:nvSpPr>
        <p:spPr>
          <a:xfrm>
            <a:off x="16634021" y="4759464"/>
            <a:ext cx="720000" cy="720000"/>
          </a:xfrm>
          <a:prstGeom prst="notchedRightArrow">
            <a:avLst/>
          </a:prstGeom>
          <a:solidFill>
            <a:srgbClr val="FFFFFF"/>
          </a:solidFill>
          <a:ln w="12700" cap="flat">
            <a:solidFill>
              <a:srgbClr val="0000FF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箭头: 燕尾形 70"/>
          <p:cNvSpPr/>
          <p:nvPr/>
        </p:nvSpPr>
        <p:spPr>
          <a:xfrm rot="5400000">
            <a:off x="20012309" y="8772949"/>
            <a:ext cx="720000" cy="720000"/>
          </a:xfrm>
          <a:prstGeom prst="notchedRightArrow">
            <a:avLst/>
          </a:prstGeom>
          <a:solidFill>
            <a:srgbClr val="FFFFFF"/>
          </a:solidFill>
          <a:ln w="12700" cap="flat">
            <a:solidFill>
              <a:srgbClr val="0000FF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295123" y="4283312"/>
            <a:ext cx="2696130" cy="2115285"/>
          </a:xfrm>
          <a:prstGeom prst="rect">
            <a:avLst/>
          </a:prstGeom>
        </p:spPr>
      </p:pic>
      <p:pic>
        <p:nvPicPr>
          <p:cNvPr id="18" name="图片 17" descr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93238" y="3409587"/>
            <a:ext cx="2622550" cy="329311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52000" y="3682265"/>
            <a:ext cx="4534533" cy="291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637896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hank you !"/>
          <p:cNvSpPr/>
          <p:nvPr/>
        </p:nvSpPr>
        <p:spPr>
          <a:xfrm>
            <a:off x="5797550" y="6426200"/>
            <a:ext cx="11430000" cy="1441450"/>
          </a:xfrm>
          <a:prstGeom prst="rect">
            <a:avLst/>
          </a:prstGeom>
          <a:noFill/>
          <a:ln w="9525">
            <a:noFill/>
          </a:ln>
        </p:spPr>
        <p:txBody>
          <a:bodyPr lIns="91436" tIns="91436" rIns="91436" bIns="91436">
            <a:spAutoFit/>
          </a:bodyPr>
          <a:lstStyle/>
          <a:p>
            <a:pPr algn="ctr">
              <a:spcBef>
                <a:spcPts val="7200"/>
              </a:spcBef>
              <a:buFont typeface="Arial" panose="020B0604020202020204" pitchFamily="34" charset="0"/>
              <a:buNone/>
            </a:pPr>
            <a:r>
              <a:rPr lang="zh-CN" altLang="zh-CN" sz="8800" dirty="0">
                <a:solidFill>
                  <a:srgbClr val="3366CC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Thank you !</a:t>
            </a:r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jk3MDM5MTA4M2RiZGI2ZDU2ZTUwMjE0NmUwYWY2Yj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dbfb1da-6df7-4159-a8e0-7959e324a18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42e7f6e-d5c6-4072-bd18-877bc310daf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42e7f6e-d5c6-4072-bd18-877bc310daf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42e7f6e-d5c6-4072-bd18-877bc310daf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42e7f6e-d5c6-4072-bd18-877bc310daf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42e7f6e-d5c6-4072-bd18-877bc310daf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4b70053-9d9f-4bcd-95f8-50a416b2ce79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86090f5c-0219-48df-bf17-aaaf2723f0d1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cc5028e-8ed0-44ef-b60d-d650113541cf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42e7f6e-d5c6-4072-bd18-877bc310daf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8253.87716535433,&quot;width&quot;:9397.943307086614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b3dfd75-ef5b-446f-8e4c-ce6fda9ee2e3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b3dfd75-ef5b-446f-8e4c-ce6fda9ee2e3}"/>
</p:tagLst>
</file>

<file path=ppt/theme/theme1.xml><?xml version="1.0" encoding="utf-8"?>
<a:theme xmlns:a="http://schemas.openxmlformats.org/drawingml/2006/main" name="White">
  <a:themeElements>
    <a:clrScheme name="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Whit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1828800" rtl="0" eaLnBrk="0" fontAlgn="base" latinLnBrk="0" hangingPunct="0">
          <a:lnSpc>
            <a:spcPct val="100000"/>
          </a:lnSpc>
          <a:spcBef>
            <a:spcPts val="320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5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1828800" rtl="0" eaLnBrk="0" fontAlgn="base" latinLnBrk="0" hangingPunct="0">
          <a:lnSpc>
            <a:spcPct val="100000"/>
          </a:lnSpc>
          <a:spcBef>
            <a:spcPts val="320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5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658</TotalTime>
  <Words>1302</Words>
  <Application>Microsoft Office PowerPoint</Application>
  <PresentationFormat>自定义</PresentationFormat>
  <Paragraphs>359</Paragraphs>
  <Slides>20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Arial Unicode MS</vt:lpstr>
      <vt:lpstr>微软雅黑</vt:lpstr>
      <vt:lpstr>Arial</vt:lpstr>
      <vt:lpstr>Calibri</vt:lpstr>
      <vt:lpstr>Helvetica</vt:lpstr>
      <vt:lpstr>Trebuchet MS</vt:lpstr>
      <vt:lpstr>Verdana</vt:lpstr>
      <vt:lpstr>White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Chen JH</cp:lastModifiedBy>
  <cp:revision>1061</cp:revision>
  <dcterms:created xsi:type="dcterms:W3CDTF">2019-10-31T06:27:00Z</dcterms:created>
  <dcterms:modified xsi:type="dcterms:W3CDTF">2025-06-30T11:37:04Z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2052-12.1.0.16412</vt:lpwstr>
  </property>
  <property fmtid="{D5CDD505-2E9C-101B-9397-08002B2CF9AE}" pid="3" name="ICV">
    <vt:lpwstr>29C909B66BED44D88C5D33B30E3AA570_12</vt:lpwstr>
  </property>
</Properties>
</file>