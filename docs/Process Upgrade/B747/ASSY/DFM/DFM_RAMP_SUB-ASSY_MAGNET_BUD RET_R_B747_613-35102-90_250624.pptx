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media/image65.jpg" ContentType="image/jpeg"/>
  <Override PartName="/ppt/media/image66.jpg" ContentType="image/jpe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25" r:id="rId2"/>
    <p:sldId id="326" r:id="rId3"/>
    <p:sldId id="327" r:id="rId4"/>
    <p:sldId id="347" r:id="rId5"/>
    <p:sldId id="343" r:id="rId6"/>
    <p:sldId id="344" r:id="rId7"/>
    <p:sldId id="345" r:id="rId8"/>
    <p:sldId id="332" r:id="rId9"/>
    <p:sldId id="333" r:id="rId10"/>
    <p:sldId id="334" r:id="rId11"/>
    <p:sldId id="336" r:id="rId12"/>
    <p:sldId id="309" r:id="rId13"/>
    <p:sldId id="340" r:id="rId14"/>
    <p:sldId id="346" r:id="rId15"/>
    <p:sldId id="342" r:id="rId16"/>
    <p:sldId id="305" r:id="rId17"/>
    <p:sldId id="275" r:id="rId18"/>
    <p:sldId id="278" r:id="rId19"/>
    <p:sldId id="267" r:id="rId20"/>
  </p:sldIdLst>
  <p:sldSz cx="24384000" cy="13716000"/>
  <p:notesSz cx="6797675" cy="9926638"/>
  <p:custDataLst>
    <p:tags r:id="rId2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ctr" defTabSz="1828800" rtl="0" fontAlgn="auto" latinLnBrk="0" hangingPunct="0">
      <a:lnSpc>
        <a:spcPct val="100000"/>
      </a:lnSpc>
      <a:spcBef>
        <a:spcPts val="3200"/>
      </a:spcBef>
      <a:spcAft>
        <a:spcPts val="0"/>
      </a:spcAft>
      <a:buClrTx/>
      <a:buSzTx/>
      <a:buFontTx/>
      <a:buNone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mputer2020" initials="c" lastIdx="1" clrIdx="0"/>
  <p:cmAuthor id="2" name="Administrator" initials="A" lastIdx="3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177D"/>
    <a:srgbClr val="0066FF"/>
    <a:srgbClr val="FF3300"/>
    <a:srgbClr val="0000FF"/>
    <a:srgbClr val="FFFFFF"/>
    <a:srgbClr val="FFFFCC"/>
    <a:srgbClr val="FFFFDB"/>
    <a:srgbClr val="0070C0"/>
    <a:srgbClr val="33CC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E3E5E8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6BA"/>
          </a:solidFill>
        </a:fill>
      </a:tcStyle>
    </a:firstCol>
    <a:lastRow>
      <a:tcTxStyle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D80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55" autoAdjust="0"/>
    <p:restoredTop sz="96366" autoAdjust="0"/>
  </p:normalViewPr>
  <p:slideViewPr>
    <p:cSldViewPr snapToGrid="0">
      <p:cViewPr varScale="1">
        <p:scale>
          <a:sx n="53" d="100"/>
          <a:sy n="5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  <a:prstGeom prst="rect">
            <a:avLst/>
          </a:prstGeom>
        </p:spPr>
        <p:txBody>
          <a:bodyPr lIns="95563" tIns="47781" rIns="95563" bIns="47781"/>
          <a:lstStyle/>
          <a:p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06357" y="4715154"/>
            <a:ext cx="4984962" cy="4466987"/>
          </a:xfrm>
          <a:prstGeom prst="rect">
            <a:avLst/>
          </a:prstGeom>
        </p:spPr>
        <p:txBody>
          <a:bodyPr lIns="95563" tIns="47781" rIns="95563" bIns="4778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4586114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4400">
        <a:latin typeface="+mn-lt"/>
        <a:ea typeface="+mn-ea"/>
        <a:cs typeface="+mn-cs"/>
        <a:sym typeface="Lucida Grande"/>
      </a:defRPr>
    </a:lvl1pPr>
    <a:lvl2pPr indent="228600" latinLnBrk="0">
      <a:defRPr sz="4400">
        <a:latin typeface="+mn-lt"/>
        <a:ea typeface="+mn-ea"/>
        <a:cs typeface="+mn-cs"/>
        <a:sym typeface="Lucida Grande"/>
      </a:defRPr>
    </a:lvl2pPr>
    <a:lvl3pPr indent="457200" latinLnBrk="0">
      <a:defRPr sz="4400">
        <a:latin typeface="+mn-lt"/>
        <a:ea typeface="+mn-ea"/>
        <a:cs typeface="+mn-cs"/>
        <a:sym typeface="Lucida Grande"/>
      </a:defRPr>
    </a:lvl3pPr>
    <a:lvl4pPr indent="685800" latinLnBrk="0">
      <a:defRPr sz="4400">
        <a:latin typeface="+mn-lt"/>
        <a:ea typeface="+mn-ea"/>
        <a:cs typeface="+mn-cs"/>
        <a:sym typeface="Lucida Grande"/>
      </a:defRPr>
    </a:lvl4pPr>
    <a:lvl5pPr indent="914400" latinLnBrk="0">
      <a:defRPr sz="4400">
        <a:latin typeface="+mn-lt"/>
        <a:ea typeface="+mn-ea"/>
        <a:cs typeface="+mn-cs"/>
        <a:sym typeface="Lucida Grande"/>
      </a:defRPr>
    </a:lvl5pPr>
    <a:lvl6pPr indent="1143000" latinLnBrk="0">
      <a:defRPr sz="4400">
        <a:latin typeface="+mn-lt"/>
        <a:ea typeface="+mn-ea"/>
        <a:cs typeface="+mn-cs"/>
        <a:sym typeface="Lucida Grande"/>
      </a:defRPr>
    </a:lvl6pPr>
    <a:lvl7pPr indent="1371600" latinLnBrk="0">
      <a:defRPr sz="4400">
        <a:latin typeface="+mn-lt"/>
        <a:ea typeface="+mn-ea"/>
        <a:cs typeface="+mn-cs"/>
        <a:sym typeface="Lucida Grande"/>
      </a:defRPr>
    </a:lvl7pPr>
    <a:lvl8pPr indent="1600200" latinLnBrk="0">
      <a:defRPr sz="4400">
        <a:latin typeface="+mn-lt"/>
        <a:ea typeface="+mn-ea"/>
        <a:cs typeface="+mn-cs"/>
        <a:sym typeface="Lucida Grande"/>
      </a:defRPr>
    </a:lvl8pPr>
    <a:lvl9pPr indent="1828800" latinLnBrk="0">
      <a:defRPr sz="4400">
        <a:latin typeface="+mn-lt"/>
        <a:ea typeface="+mn-ea"/>
        <a:cs typeface="+mn-cs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1696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715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5" name="正文级别 1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723520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未命名.png" descr="未命名.pn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931"/>
          <a:stretch>
            <a:fillRect/>
          </a:stretch>
        </p:blipFill>
        <p:spPr>
          <a:xfrm>
            <a:off x="230716" y="-15086"/>
            <a:ext cx="23992571" cy="246222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未标题-3.png" descr="未标题-3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23200" y="679450"/>
            <a:ext cx="2825752" cy="6223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未标题-4.png" descr="未标题-4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4600" y="1371600"/>
            <a:ext cx="3276600" cy="2222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标题文本"/>
          <p:cNvSpPr txBox="1">
            <a:spLocks noGrp="1"/>
          </p:cNvSpPr>
          <p:nvPr>
            <p:ph type="title"/>
          </p:nvPr>
        </p:nvSpPr>
        <p:spPr>
          <a:xfrm>
            <a:off x="3653366" y="1539875"/>
            <a:ext cx="19507201" cy="3336925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 anchor="ctr"/>
          <a:lstStyle/>
          <a:p>
            <a:r>
              <a:t>标题文本</a:t>
            </a:r>
          </a:p>
        </p:txBody>
      </p:sp>
      <p:sp>
        <p:nvSpPr>
          <p:cNvPr id="6" name="正文级别 1…"/>
          <p:cNvSpPr txBox="1">
            <a:spLocks noGrp="1"/>
          </p:cNvSpPr>
          <p:nvPr>
            <p:ph type="body" idx="1"/>
          </p:nvPr>
        </p:nvSpPr>
        <p:spPr>
          <a:xfrm>
            <a:off x="13610166" y="4876800"/>
            <a:ext cx="9550401" cy="8839200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510704" y="13279468"/>
            <a:ext cx="478099" cy="466664"/>
          </a:xfrm>
          <a:prstGeom prst="rect">
            <a:avLst/>
          </a:prstGeom>
          <a:ln w="12700">
            <a:miter lim="400000"/>
          </a:ln>
        </p:spPr>
        <p:txBody>
          <a:bodyPr wrap="none" lIns="91436" tIns="91436" rIns="91436" bIns="91436" anchor="ctr">
            <a:spAutoFit/>
          </a:bodyPr>
          <a:lstStyle>
            <a:lvl1pPr algn="r">
              <a:defRPr sz="2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ransition spd="med"/>
  <p:txStyles>
    <p:titleStyle>
      <a:lvl1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0" marR="0" indent="0" algn="ct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8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lvl1pPr marL="685800" marR="0" indent="-6858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L="12192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L="12192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L="12192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L="12192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L="16764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L="21336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L="25908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L="3048000" marR="0" indent="-1219200" algn="ctr" defTabSz="1828800" rtl="0" latinLnBrk="0">
        <a:lnSpc>
          <a:spcPct val="100000"/>
        </a:lnSpc>
        <a:spcBef>
          <a:spcPts val="1400"/>
        </a:spcBef>
        <a:spcAft>
          <a:spcPts val="0"/>
        </a:spcAft>
        <a:buClrTx/>
        <a:buSzPct val="100000"/>
        <a:buFontTx/>
        <a:buChar char="•"/>
        <a:defRPr sz="6400" b="1" i="0" u="none" strike="noStrike" cap="none" spc="0" baseline="0">
          <a:ln>
            <a:noFill/>
          </a:ln>
          <a:solidFill>
            <a:srgbClr val="000000"/>
          </a:solidFill>
          <a:uFillTx/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1828800" rtl="0" latinLnBrk="0">
        <a:lnSpc>
          <a:spcPct val="100000"/>
        </a:lnSpc>
        <a:spcBef>
          <a:spcPts val="320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7" Type="http://schemas.microsoft.com/office/2007/relationships/hdphoto" Target="../media/hdphoto1.wdp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tags" Target="../tags/tag4.xml"/><Relationship Id="rId16" Type="http://schemas.openxmlformats.org/officeDocument/2006/relationships/image" Target="../media/image19.png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jp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1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tags" Target="../tags/tag2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5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8.png"/><Relationship Id="rId5" Type="http://schemas.openxmlformats.org/officeDocument/2006/relationships/tags" Target="../tags/tag22.xml"/><Relationship Id="rId10" Type="http://schemas.openxmlformats.org/officeDocument/2006/relationships/image" Target="../media/image24.png"/><Relationship Id="rId4" Type="http://schemas.openxmlformats.org/officeDocument/2006/relationships/tags" Target="../tags/tag21.xml"/><Relationship Id="rId9" Type="http://schemas.openxmlformats.org/officeDocument/2006/relationships/image" Target="../media/image23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3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tags" Target="../tags/tag29.xml"/><Relationship Id="rId7" Type="http://schemas.openxmlformats.org/officeDocument/2006/relationships/image" Target="../media/image37.png"/><Relationship Id="rId12" Type="http://schemas.openxmlformats.org/officeDocument/2006/relationships/image" Target="../media/image39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9.png"/><Relationship Id="rId5" Type="http://schemas.openxmlformats.org/officeDocument/2006/relationships/tags" Target="../tags/tag31.xml"/><Relationship Id="rId10" Type="http://schemas.openxmlformats.org/officeDocument/2006/relationships/image" Target="../media/image11.png"/><Relationship Id="rId4" Type="http://schemas.openxmlformats.org/officeDocument/2006/relationships/tags" Target="../tags/tag30.xml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50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7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56.png"/><Relationship Id="rId5" Type="http://schemas.openxmlformats.org/officeDocument/2006/relationships/image" Target="../media/image15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tags" Target="../tags/tag41.xml"/><Relationship Id="rId7" Type="http://schemas.openxmlformats.org/officeDocument/2006/relationships/image" Target="../media/image64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image" Target="../media/image6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6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FM_T1_MAGNET,X1758_810-09111–04"/>
          <p:cNvSpPr txBox="1"/>
          <p:nvPr/>
        </p:nvSpPr>
        <p:spPr>
          <a:xfrm>
            <a:off x="132888" y="5581997"/>
            <a:ext cx="23931444" cy="101565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r>
              <a:rPr lang="da-DK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DFM_</a:t>
            </a:r>
            <a:r>
              <a:rPr lang="en-US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RAMP</a:t>
            </a:r>
            <a:r>
              <a:rPr lang="da-DK" altLang="zh-CN" sz="5400" dirty="0">
                <a:latin typeface="Arial" panose="020B0604020202020204" pitchFamily="34" charset="0"/>
                <a:cs typeface="Arial" panose="020B0604020202020204" pitchFamily="34" charset="0"/>
              </a:rPr>
              <a:t>_SUB-ASSY_MAGNET_BUD RET_R_B747_613-35102-90</a:t>
            </a:r>
            <a:endParaRPr lang="en-US" altLang="zh-CN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Date:2019-04-16"/>
          <p:cNvSpPr txBox="1"/>
          <p:nvPr/>
        </p:nvSpPr>
        <p:spPr>
          <a:xfrm>
            <a:off x="17621000" y="10000388"/>
            <a:ext cx="4457604" cy="1331595"/>
          </a:xfrm>
          <a:prstGeom prst="rect">
            <a:avLst/>
          </a:prstGeom>
          <a:ln w="12700">
            <a:miter lim="400000"/>
          </a:ln>
        </p:spPr>
        <p:txBody>
          <a:bodyPr wrap="square" lIns="101600" tIns="101600" rIns="101600" bIns="101600" anchor="ctr">
            <a:spAutoFit/>
          </a:bodyPr>
          <a:lstStyle/>
          <a:p>
            <a:pPr algn="l">
              <a:spcBef>
                <a:spcPts val="1600"/>
              </a:spcBef>
              <a:defRPr sz="2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3000" dirty="0"/>
              <a:t>Date:</a:t>
            </a:r>
            <a:r>
              <a:rPr lang="en-US" sz="3000" dirty="0"/>
              <a:t> </a:t>
            </a:r>
            <a:r>
              <a:rPr sz="3000" dirty="0"/>
              <a:t>20</a:t>
            </a:r>
            <a:r>
              <a:rPr lang="en-US" sz="3000" dirty="0"/>
              <a:t>25/06/24</a:t>
            </a:r>
          </a:p>
          <a:p>
            <a:pPr algn="l">
              <a:spcBef>
                <a:spcPts val="1600"/>
              </a:spcBef>
              <a:defRPr sz="2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000" dirty="0"/>
              <a:t>R</a:t>
            </a:r>
            <a:r>
              <a:rPr lang="en-US" altLang="zh-CN" sz="3000" dirty="0"/>
              <a:t>ev</a:t>
            </a:r>
            <a:r>
              <a:rPr lang="en-US" sz="3000" dirty="0"/>
              <a:t>.: 04</a:t>
            </a:r>
          </a:p>
        </p:txBody>
      </p:sp>
    </p:spTree>
    <p:extLst>
      <p:ext uri="{BB962C8B-B14F-4D97-AF65-F5344CB8AC3E}">
        <p14:creationId xmlns:p14="http://schemas.microsoft.com/office/powerpoint/2010/main" val="7633186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X1758 / Revision list："/>
          <p:cNvSpPr txBox="1"/>
          <p:nvPr/>
        </p:nvSpPr>
        <p:spPr>
          <a:xfrm>
            <a:off x="322685" y="946718"/>
            <a:ext cx="9448801" cy="923322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Revision </a:t>
            </a:r>
            <a:r>
              <a:rPr lang="en-US" altLang="zh-CN" sz="4800" dirty="0">
                <a:solidFill>
                  <a:schemeClr val="tx1"/>
                </a:solidFill>
              </a:rPr>
              <a:t>l</a:t>
            </a:r>
            <a:r>
              <a:rPr sz="4800" dirty="0">
                <a:solidFill>
                  <a:schemeClr val="tx1"/>
                </a:solidFill>
              </a:rPr>
              <a:t>is</a:t>
            </a:r>
            <a:r>
              <a:rPr lang="en-US" sz="4800" dirty="0">
                <a:solidFill>
                  <a:schemeClr val="tx1"/>
                </a:solidFill>
              </a:rPr>
              <a:t>t</a:t>
            </a:r>
            <a:endParaRPr sz="4800" dirty="0">
              <a:solidFill>
                <a:schemeClr val="tx1"/>
              </a:solidFill>
            </a:endParaRPr>
          </a:p>
        </p:txBody>
      </p:sp>
      <p:graphicFrame>
        <p:nvGraphicFramePr>
          <p:cNvPr id="36" name="表格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6555118"/>
              </p:ext>
            </p:extLst>
          </p:nvPr>
        </p:nvGraphicFramePr>
        <p:xfrm>
          <a:off x="1245764" y="2961988"/>
          <a:ext cx="21892472" cy="517048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28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7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451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/>
                      </a:pPr>
                      <a:r>
                        <a:rPr sz="32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 Rev.</a:t>
                      </a:r>
                    </a:p>
                  </a:txBody>
                  <a:tcPr marL="38106" marR="38106" marT="38106" marB="38106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/>
                      </a:pPr>
                      <a:r>
                        <a:rPr sz="32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 Description</a:t>
                      </a:r>
                    </a:p>
                  </a:txBody>
                  <a:tcPr marL="38106" marR="38106" marT="38106" marB="38106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 b="0"/>
                      </a:pPr>
                      <a:r>
                        <a:rPr sz="32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L="38106" marR="38106" marT="38106" marB="38106" anchor="ctr" horzOverflow="overflow">
                    <a:lnL w="254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4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01</a:t>
                      </a:r>
                      <a:endParaRPr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3200" b="0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Arial" panose="020B0604020202020204"/>
                        </a:rPr>
                        <a:t>Initial release</a:t>
                      </a:r>
                      <a:endParaRPr lang="en-US" altLang="zh-CN"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25400">
                      <a:solidFill>
                        <a:srgbClr val="000000"/>
                      </a:solidFill>
                    </a:lnL>
                    <a:lnR w="25400">
                      <a:solidFill>
                        <a:srgbClr val="000000"/>
                      </a:solidFill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20</a:t>
                      </a: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24/</a:t>
                      </a: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</a:t>
                      </a: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1/18</a:t>
                      </a:r>
                    </a:p>
                  </a:txBody>
                  <a:tcPr marL="38106" marR="38106" marT="38106" marB="38106" anchor="ctr" horzOverflow="overflow">
                    <a:lnL w="254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5400">
                      <a:solidFill>
                        <a:srgbClr val="000000"/>
                      </a:solidFill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4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02</a:t>
                      </a:r>
                      <a:endParaRPr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Change</a:t>
                      </a:r>
                      <a:r>
                        <a:rPr lang="en-US" altLang="zh-CN" sz="3200" baseline="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 datum B of 2D drawing </a:t>
                      </a:r>
                      <a:endParaRPr lang="en-US" altLang="zh-CN"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2024/01/24</a:t>
                      </a:r>
                    </a:p>
                  </a:txBody>
                  <a:tcPr marL="38106" marR="38106" marT="38106" marB="3810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4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03</a:t>
                      </a:r>
                      <a:endParaRPr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lang="en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Optimize the fixture and hot press design, and change step 2 to use Shunt Carrier</a:t>
                      </a:r>
                      <a:r>
                        <a:rPr lang="zh-CN" alt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 </a:t>
                      </a:r>
                      <a:endParaRPr lang="en-US" altLang="zh-CN"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2025/05/09</a:t>
                      </a:r>
                    </a:p>
                  </a:txBody>
                  <a:tcPr marL="38106" marR="38106" marT="38106" marB="3810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49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04</a:t>
                      </a:r>
                      <a:endParaRPr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defRPr sz="1800"/>
                      </a:pPr>
                      <a:r>
                        <a:rPr lang="en-US" altLang="zh-CN" sz="320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Update the automatic</a:t>
                      </a:r>
                      <a:r>
                        <a:rPr lang="en-US" altLang="zh-CN" sz="3200" baseline="0" dirty="0"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 equipment</a:t>
                      </a:r>
                      <a:endParaRPr lang="en-US" altLang="zh-CN" sz="3200" dirty="0">
                        <a:latin typeface="Arial" panose="020B0604020202020204" pitchFamily="34" charset="0"/>
                        <a:ea typeface="Arial Unicode MS" panose="020B0604020202020204" charset="-122"/>
                        <a:cs typeface="Arial" panose="020B0604020202020204" pitchFamily="34" charset="0"/>
                        <a:sym typeface="Arial Unicode MS" panose="020B0604020202020204" charset="-122"/>
                      </a:endParaRPr>
                    </a:p>
                  </a:txBody>
                  <a:tcPr marL="50804" marR="50804" marT="50804" marB="50804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defRPr sz="1800"/>
                      </a:pPr>
                      <a:r>
                        <a:rPr lang="en-US" sz="3200" b="0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 pitchFamily="34" charset="0"/>
                          <a:ea typeface="Arial Unicode MS" panose="020B0604020202020204" charset="-122"/>
                          <a:cs typeface="Arial" panose="020B0604020202020204" pitchFamily="34" charset="0"/>
                          <a:sym typeface="Arial Unicode MS" panose="020B0604020202020204" charset="-122"/>
                        </a:rPr>
                        <a:t>2025/06/24</a:t>
                      </a:r>
                    </a:p>
                  </a:txBody>
                  <a:tcPr marL="38106" marR="38106" marT="38106" marB="38106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226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3960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X1758 / Revision list："/>
          <p:cNvSpPr txBox="1"/>
          <p:nvPr/>
        </p:nvSpPr>
        <p:spPr>
          <a:xfrm>
            <a:off x="322685" y="946718"/>
            <a:ext cx="11547890" cy="92011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</a:t>
            </a:r>
            <a:r>
              <a:rPr lang="en-US" sz="4800" dirty="0">
                <a:solidFill>
                  <a:schemeClr val="tx1"/>
                </a:solidFill>
              </a:rPr>
              <a:t>Product Information</a:t>
            </a:r>
            <a:endParaRPr sz="4800" dirty="0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BBE636-9954-65CC-47F9-9F37F8131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85" y="2316023"/>
            <a:ext cx="6312577" cy="90839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44084E9-B244-C16A-0F68-852FC7374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270" y="2362347"/>
            <a:ext cx="7504441" cy="55509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FF4FD30-E711-E3E6-E2EE-93B5E18E7A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132" y="9718080"/>
            <a:ext cx="8028250" cy="168189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8803CB1-D7FC-84A3-E0AB-5436593D35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20382" y="2362347"/>
            <a:ext cx="7504441" cy="65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3513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X1758 / Revision list："/>
          <p:cNvSpPr txBox="1"/>
          <p:nvPr/>
        </p:nvSpPr>
        <p:spPr>
          <a:xfrm>
            <a:off x="322685" y="946718"/>
            <a:ext cx="11547890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</a:t>
            </a:r>
            <a:r>
              <a:rPr lang="en-US" sz="4800" dirty="0">
                <a:solidFill>
                  <a:schemeClr val="tx1"/>
                </a:solidFill>
              </a:rPr>
              <a:t>Process Flow chart</a:t>
            </a:r>
            <a:endParaRPr sz="4800" dirty="0">
              <a:solidFill>
                <a:schemeClr val="tx1"/>
              </a:solidFill>
            </a:endParaRPr>
          </a:p>
        </p:txBody>
      </p:sp>
      <p:sp>
        <p:nvSpPr>
          <p:cNvPr id="59" name="圆角矩形 5">
            <a:extLst>
              <a:ext uri="{FF2B5EF4-FFF2-40B4-BE49-F238E27FC236}">
                <a16:creationId xmlns:a16="http://schemas.microsoft.com/office/drawing/2014/main" id="{9F1AA1C8-59CA-1A14-4F05-A88E52C4D55D}"/>
              </a:ext>
            </a:extLst>
          </p:cNvPr>
          <p:cNvSpPr/>
          <p:nvPr/>
        </p:nvSpPr>
        <p:spPr>
          <a:xfrm>
            <a:off x="7796885" y="2562038"/>
            <a:ext cx="2779364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Glue Dispensing</a:t>
            </a:r>
          </a:p>
        </p:txBody>
      </p:sp>
      <p:sp>
        <p:nvSpPr>
          <p:cNvPr id="62" name="圆角矩形 5">
            <a:extLst>
              <a:ext uri="{FF2B5EF4-FFF2-40B4-BE49-F238E27FC236}">
                <a16:creationId xmlns:a16="http://schemas.microsoft.com/office/drawing/2014/main" id="{11FBCD62-2A8D-8554-38C6-DDBD5346CFC8}"/>
              </a:ext>
            </a:extLst>
          </p:cNvPr>
          <p:cNvSpPr/>
          <p:nvPr/>
        </p:nvSpPr>
        <p:spPr>
          <a:xfrm>
            <a:off x="3621164" y="2544623"/>
            <a:ext cx="2779364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Loading Magnet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箭头: 右 13">
            <a:extLst>
              <a:ext uri="{FF2B5EF4-FFF2-40B4-BE49-F238E27FC236}">
                <a16:creationId xmlns:a16="http://schemas.microsoft.com/office/drawing/2014/main" id="{CAC63697-4DC1-3256-3638-4E8664E26CA5}"/>
              </a:ext>
            </a:extLst>
          </p:cNvPr>
          <p:cNvSpPr/>
          <p:nvPr/>
        </p:nvSpPr>
        <p:spPr>
          <a:xfrm>
            <a:off x="6800976" y="2683833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圆角矩形 5">
            <a:extLst>
              <a:ext uri="{FF2B5EF4-FFF2-40B4-BE49-F238E27FC236}">
                <a16:creationId xmlns:a16="http://schemas.microsoft.com/office/drawing/2014/main" id="{1B6DBB0B-49EB-7229-F906-10CE566681CB}"/>
              </a:ext>
            </a:extLst>
          </p:cNvPr>
          <p:cNvSpPr/>
          <p:nvPr/>
        </p:nvSpPr>
        <p:spPr>
          <a:xfrm>
            <a:off x="15930665" y="2233844"/>
            <a:ext cx="2779364" cy="10215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Glue cleaning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(Laser)</a:t>
            </a:r>
          </a:p>
        </p:txBody>
      </p:sp>
      <p:sp>
        <p:nvSpPr>
          <p:cNvPr id="66" name="箭头: 右 12">
            <a:extLst>
              <a:ext uri="{FF2B5EF4-FFF2-40B4-BE49-F238E27FC236}">
                <a16:creationId xmlns:a16="http://schemas.microsoft.com/office/drawing/2014/main" id="{3A7A7478-C27A-8FEB-FBF7-A2F2ED9D3C65}"/>
              </a:ext>
            </a:extLst>
          </p:cNvPr>
          <p:cNvSpPr/>
          <p:nvPr/>
        </p:nvSpPr>
        <p:spPr>
          <a:xfrm>
            <a:off x="10952962" y="2679812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圆角矩形 5">
            <a:extLst>
              <a:ext uri="{FF2B5EF4-FFF2-40B4-BE49-F238E27FC236}">
                <a16:creationId xmlns:a16="http://schemas.microsoft.com/office/drawing/2014/main" id="{EB22CA4A-BD35-3B63-F669-6FE6CF869497}"/>
              </a:ext>
            </a:extLst>
          </p:cNvPr>
          <p:cNvSpPr/>
          <p:nvPr/>
        </p:nvSpPr>
        <p:spPr>
          <a:xfrm>
            <a:off x="11863775" y="2509647"/>
            <a:ext cx="2779364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Hot Pressing</a:t>
            </a:r>
          </a:p>
        </p:txBody>
      </p:sp>
      <p:sp>
        <p:nvSpPr>
          <p:cNvPr id="68" name="箭头: 右 12">
            <a:extLst>
              <a:ext uri="{FF2B5EF4-FFF2-40B4-BE49-F238E27FC236}">
                <a16:creationId xmlns:a16="http://schemas.microsoft.com/office/drawing/2014/main" id="{E2D77198-EE53-CE3D-63F9-EC29874C9C41}"/>
              </a:ext>
            </a:extLst>
          </p:cNvPr>
          <p:cNvSpPr/>
          <p:nvPr/>
        </p:nvSpPr>
        <p:spPr>
          <a:xfrm>
            <a:off x="15015382" y="2645947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圆角矩形 23">
            <a:extLst>
              <a:ext uri="{FF2B5EF4-FFF2-40B4-BE49-F238E27FC236}">
                <a16:creationId xmlns:a16="http://schemas.microsoft.com/office/drawing/2014/main" id="{87AC030D-5AB7-09AE-9489-ED6F7653560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67004" y="2884182"/>
            <a:ext cx="2017110" cy="1021547"/>
          </a:xfrm>
          <a:prstGeom prst="roundRect">
            <a:avLst>
              <a:gd name="adj" fmla="val 16667"/>
            </a:avLst>
          </a:prstGeom>
          <a:noFill/>
          <a:ln w="28575">
            <a:noFill/>
            <a:prstDash val="sysDash"/>
            <a:round/>
          </a:ln>
          <a:effectLst/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Tx/>
              <a:buSzTx/>
              <a:buFontTx/>
            </a:pPr>
            <a:r>
              <a:rPr kumimoji="1" lang="en-US" altLang="zh-CN" sz="32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STEP-1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0" name="矩形: 圆角 15">
            <a:extLst>
              <a:ext uri="{FF2B5EF4-FFF2-40B4-BE49-F238E27FC236}">
                <a16:creationId xmlns:a16="http://schemas.microsoft.com/office/drawing/2014/main" id="{3E69C57B-AA44-CED7-D063-19A17A8D2133}"/>
              </a:ext>
            </a:extLst>
          </p:cNvPr>
          <p:cNvSpPr/>
          <p:nvPr/>
        </p:nvSpPr>
        <p:spPr>
          <a:xfrm>
            <a:off x="883892" y="2107515"/>
            <a:ext cx="22140000" cy="3024000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C70A35EA-6598-C85A-B68F-94D99AF81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998309" y="3516060"/>
            <a:ext cx="1708487" cy="1325002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94839577-D50A-D097-5865-F5F4DA3859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709" b="5419"/>
          <a:stretch/>
        </p:blipFill>
        <p:spPr>
          <a:xfrm>
            <a:off x="16710389" y="3351670"/>
            <a:ext cx="1308212" cy="1683566"/>
          </a:xfrm>
          <a:prstGeom prst="rect">
            <a:avLst/>
          </a:prstGeom>
        </p:spPr>
      </p:pic>
      <p:pic>
        <p:nvPicPr>
          <p:cNvPr id="86" name="Picture 2">
            <a:extLst>
              <a:ext uri="{FF2B5EF4-FFF2-40B4-BE49-F238E27FC236}">
                <a16:creationId xmlns:a16="http://schemas.microsoft.com/office/drawing/2014/main" id="{117E1376-4215-AEEA-D9C5-EFFB30745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2436722" y="3174963"/>
            <a:ext cx="2017110" cy="1885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" name="箭头: 右 12">
            <a:extLst>
              <a:ext uri="{FF2B5EF4-FFF2-40B4-BE49-F238E27FC236}">
                <a16:creationId xmlns:a16="http://schemas.microsoft.com/office/drawing/2014/main" id="{336EDB36-0709-0BB5-13C7-0DF68332FC6A}"/>
              </a:ext>
            </a:extLst>
          </p:cNvPr>
          <p:cNvSpPr/>
          <p:nvPr/>
        </p:nvSpPr>
        <p:spPr>
          <a:xfrm>
            <a:off x="19045542" y="2645948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圆角矩形 5">
            <a:extLst>
              <a:ext uri="{FF2B5EF4-FFF2-40B4-BE49-F238E27FC236}">
                <a16:creationId xmlns:a16="http://schemas.microsoft.com/office/drawing/2014/main" id="{43D2BE7E-41AB-DEE0-1F50-B26DFF02A49F}"/>
              </a:ext>
            </a:extLst>
          </p:cNvPr>
          <p:cNvSpPr/>
          <p:nvPr/>
        </p:nvSpPr>
        <p:spPr>
          <a:xfrm>
            <a:off x="19933157" y="2233845"/>
            <a:ext cx="2779364" cy="10215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Unloading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Semi-Product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27F3068A-BB19-6663-B54E-F1B967BAC4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 flipH="1">
            <a:off x="20535621" y="3096166"/>
            <a:ext cx="1643863" cy="2164788"/>
          </a:xfrm>
          <a:prstGeom prst="rect">
            <a:avLst/>
          </a:prstGeom>
        </p:spPr>
      </p:pic>
      <p:pic>
        <p:nvPicPr>
          <p:cNvPr id="97" name="图片 96" descr="卡通人物&#10;&#10;描述已自动生成">
            <a:extLst>
              <a:ext uri="{FF2B5EF4-FFF2-40B4-BE49-F238E27FC236}">
                <a16:creationId xmlns:a16="http://schemas.microsoft.com/office/drawing/2014/main" id="{A67BD217-7E66-48D7-91AA-BB6D0CBC451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3" t="19188" r="18887" b="15842"/>
          <a:stretch/>
        </p:blipFill>
        <p:spPr>
          <a:xfrm>
            <a:off x="8005312" y="3516060"/>
            <a:ext cx="2421432" cy="1327964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0E692083-89C1-2CB6-6484-692685A4D40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21113" b="15089"/>
          <a:stretch>
            <a:fillRect/>
          </a:stretch>
        </p:blipFill>
        <p:spPr>
          <a:xfrm>
            <a:off x="15797996" y="6111649"/>
            <a:ext cx="2639285" cy="2269128"/>
          </a:xfrm>
          <a:prstGeom prst="rect">
            <a:avLst/>
          </a:prstGeom>
        </p:spPr>
      </p:pic>
      <p:sp>
        <p:nvSpPr>
          <p:cNvPr id="73" name="矩形: 圆角 17">
            <a:extLst>
              <a:ext uri="{FF2B5EF4-FFF2-40B4-BE49-F238E27FC236}">
                <a16:creationId xmlns:a16="http://schemas.microsoft.com/office/drawing/2014/main" id="{25F7DC99-9815-FE83-DDF5-C01ED7789082}"/>
              </a:ext>
            </a:extLst>
          </p:cNvPr>
          <p:cNvSpPr/>
          <p:nvPr/>
        </p:nvSpPr>
        <p:spPr>
          <a:xfrm>
            <a:off x="865221" y="5490027"/>
            <a:ext cx="22140000" cy="3024000"/>
          </a:xfrm>
          <a:prstGeom prst="roundRect">
            <a:avLst/>
          </a:prstGeom>
          <a:noFill/>
          <a:ln w="25400" cap="flat">
            <a:solidFill>
              <a:schemeClr val="accent1"/>
            </a:solidFill>
            <a:prstDash val="lg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圆角矩形 5">
            <a:extLst>
              <a:ext uri="{FF2B5EF4-FFF2-40B4-BE49-F238E27FC236}">
                <a16:creationId xmlns:a16="http://schemas.microsoft.com/office/drawing/2014/main" id="{116CFC4B-EDE4-FB8F-2B61-60BBB998AC7A}"/>
              </a:ext>
            </a:extLst>
          </p:cNvPr>
          <p:cNvSpPr/>
          <p:nvPr/>
        </p:nvSpPr>
        <p:spPr>
          <a:xfrm>
            <a:off x="7623652" y="5792240"/>
            <a:ext cx="2952854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Glue Dispensing</a:t>
            </a:r>
          </a:p>
        </p:txBody>
      </p:sp>
      <p:sp>
        <p:nvSpPr>
          <p:cNvPr id="76" name="圆角矩形 5">
            <a:extLst>
              <a:ext uri="{FF2B5EF4-FFF2-40B4-BE49-F238E27FC236}">
                <a16:creationId xmlns:a16="http://schemas.microsoft.com/office/drawing/2014/main" id="{93082BC4-AAF2-2691-D24B-E063A692805A}"/>
              </a:ext>
            </a:extLst>
          </p:cNvPr>
          <p:cNvSpPr/>
          <p:nvPr/>
        </p:nvSpPr>
        <p:spPr>
          <a:xfrm>
            <a:off x="3621163" y="5556563"/>
            <a:ext cx="2606164" cy="10215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Loading 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Semi-Product</a:t>
            </a:r>
          </a:p>
        </p:txBody>
      </p:sp>
      <p:sp>
        <p:nvSpPr>
          <p:cNvPr id="77" name="圆角矩形 5">
            <a:extLst>
              <a:ext uri="{FF2B5EF4-FFF2-40B4-BE49-F238E27FC236}">
                <a16:creationId xmlns:a16="http://schemas.microsoft.com/office/drawing/2014/main" id="{4136B08E-D79F-D105-A741-3286E8E8ADF9}"/>
              </a:ext>
            </a:extLst>
          </p:cNvPr>
          <p:cNvSpPr/>
          <p:nvPr/>
        </p:nvSpPr>
        <p:spPr>
          <a:xfrm>
            <a:off x="11863774" y="5768738"/>
            <a:ext cx="2776248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Shunt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Loading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圆角矩形 5">
            <a:extLst>
              <a:ext uri="{FF2B5EF4-FFF2-40B4-BE49-F238E27FC236}">
                <a16:creationId xmlns:a16="http://schemas.microsoft.com/office/drawing/2014/main" id="{A5CA7D76-E636-A107-6553-2883BB391CB0}"/>
              </a:ext>
            </a:extLst>
          </p:cNvPr>
          <p:cNvSpPr/>
          <p:nvPr/>
        </p:nvSpPr>
        <p:spPr>
          <a:xfrm>
            <a:off x="16131545" y="5760875"/>
            <a:ext cx="2578483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Hot Pressing</a:t>
            </a:r>
          </a:p>
        </p:txBody>
      </p:sp>
      <p:sp>
        <p:nvSpPr>
          <p:cNvPr id="82" name="圆角矩形 23">
            <a:extLst>
              <a:ext uri="{FF2B5EF4-FFF2-40B4-BE49-F238E27FC236}">
                <a16:creationId xmlns:a16="http://schemas.microsoft.com/office/drawing/2014/main" id="{5A849E6A-35C5-892A-10F5-60AFC07D4B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05891" y="6095899"/>
            <a:ext cx="2017110" cy="1021547"/>
          </a:xfrm>
          <a:prstGeom prst="roundRect">
            <a:avLst>
              <a:gd name="adj" fmla="val 16667"/>
            </a:avLst>
          </a:prstGeom>
          <a:noFill/>
          <a:ln w="28575">
            <a:noFill/>
            <a:prstDash val="sysDash"/>
            <a:round/>
          </a:ln>
          <a:effectLst/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ClrTx/>
              <a:buSzTx/>
              <a:buFontTx/>
            </a:pPr>
            <a:r>
              <a:rPr kumimoji="1" lang="en-US" altLang="zh-CN" sz="32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STEP-2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1" name="圆角矩形 5">
            <a:extLst>
              <a:ext uri="{FF2B5EF4-FFF2-40B4-BE49-F238E27FC236}">
                <a16:creationId xmlns:a16="http://schemas.microsoft.com/office/drawing/2014/main" id="{DD13F781-2309-4A1A-5740-68D374C81360}"/>
              </a:ext>
            </a:extLst>
          </p:cNvPr>
          <p:cNvSpPr/>
          <p:nvPr/>
        </p:nvSpPr>
        <p:spPr>
          <a:xfrm>
            <a:off x="19906671" y="5556566"/>
            <a:ext cx="2805849" cy="10215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Unloading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DD349D8F-9400-FA43-38E4-C3A5BEE000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3703679" y="6775451"/>
            <a:ext cx="1858307" cy="1337799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A9D6F576-A6B2-5AC0-8E0A-751098C792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12097548" y="6689098"/>
            <a:ext cx="2017109" cy="1435674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BCC55755-C9CF-C08F-13DF-360C1E07050C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8933" t="19715" r="21671" b="23283"/>
          <a:stretch/>
        </p:blipFill>
        <p:spPr>
          <a:xfrm flipH="1">
            <a:off x="7623652" y="6689098"/>
            <a:ext cx="2639284" cy="1480372"/>
          </a:xfrm>
          <a:prstGeom prst="rect">
            <a:avLst/>
          </a:prstGeom>
        </p:spPr>
      </p:pic>
      <p:sp>
        <p:nvSpPr>
          <p:cNvPr id="33" name="箭头: 右 13">
            <a:extLst>
              <a:ext uri="{FF2B5EF4-FFF2-40B4-BE49-F238E27FC236}">
                <a16:creationId xmlns:a16="http://schemas.microsoft.com/office/drawing/2014/main" id="{CAC63697-4DC1-3256-3638-4E8664E26CA5}"/>
              </a:ext>
            </a:extLst>
          </p:cNvPr>
          <p:cNvSpPr/>
          <p:nvPr/>
        </p:nvSpPr>
        <p:spPr>
          <a:xfrm>
            <a:off x="6638678" y="5928072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箭头: 右 12">
            <a:extLst>
              <a:ext uri="{FF2B5EF4-FFF2-40B4-BE49-F238E27FC236}">
                <a16:creationId xmlns:a16="http://schemas.microsoft.com/office/drawing/2014/main" id="{3A7A7478-C27A-8FEB-FBF7-A2F2ED9D3C65}"/>
              </a:ext>
            </a:extLst>
          </p:cNvPr>
          <p:cNvSpPr/>
          <p:nvPr/>
        </p:nvSpPr>
        <p:spPr>
          <a:xfrm>
            <a:off x="10929090" y="5928072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箭头: 右 12">
            <a:extLst>
              <a:ext uri="{FF2B5EF4-FFF2-40B4-BE49-F238E27FC236}">
                <a16:creationId xmlns:a16="http://schemas.microsoft.com/office/drawing/2014/main" id="{E2D77198-EE53-CE3D-63F9-EC29874C9C41}"/>
              </a:ext>
            </a:extLst>
          </p:cNvPr>
          <p:cNvSpPr/>
          <p:nvPr/>
        </p:nvSpPr>
        <p:spPr>
          <a:xfrm>
            <a:off x="15129135" y="5890186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箭头: 右 12">
            <a:extLst>
              <a:ext uri="{FF2B5EF4-FFF2-40B4-BE49-F238E27FC236}">
                <a16:creationId xmlns:a16="http://schemas.microsoft.com/office/drawing/2014/main" id="{336EDB36-0709-0BB5-13C7-0DF68332FC6A}"/>
              </a:ext>
            </a:extLst>
          </p:cNvPr>
          <p:cNvSpPr/>
          <p:nvPr/>
        </p:nvSpPr>
        <p:spPr>
          <a:xfrm>
            <a:off x="19045541" y="5890186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箭头: 右 12">
            <a:extLst>
              <a:ext uri="{FF2B5EF4-FFF2-40B4-BE49-F238E27FC236}">
                <a16:creationId xmlns:a16="http://schemas.microsoft.com/office/drawing/2014/main" id="{7D26DA48-86E9-28D7-DEC6-DF1A0BB5DE99}"/>
              </a:ext>
            </a:extLst>
          </p:cNvPr>
          <p:cNvSpPr/>
          <p:nvPr/>
        </p:nvSpPr>
        <p:spPr>
          <a:xfrm rot="5400000">
            <a:off x="21081500" y="8788001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圆角矩形 5">
            <a:extLst>
              <a:ext uri="{FF2B5EF4-FFF2-40B4-BE49-F238E27FC236}">
                <a16:creationId xmlns:a16="http://schemas.microsoft.com/office/drawing/2014/main" id="{EF823135-DC52-49D2-59A4-5A0D7F19EBE9}"/>
              </a:ext>
            </a:extLst>
          </p:cNvPr>
          <p:cNvSpPr/>
          <p:nvPr/>
        </p:nvSpPr>
        <p:spPr>
          <a:xfrm>
            <a:off x="20108345" y="9326131"/>
            <a:ext cx="2805849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Glue Cleaning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12">
            <a:extLst>
              <a:ext uri="{FF2B5EF4-FFF2-40B4-BE49-F238E27FC236}">
                <a16:creationId xmlns:a16="http://schemas.microsoft.com/office/drawing/2014/main" id="{EE7C1FFB-D5EB-4EF8-8175-753AFED49446}"/>
              </a:ext>
            </a:extLst>
          </p:cNvPr>
          <p:cNvSpPr/>
          <p:nvPr/>
        </p:nvSpPr>
        <p:spPr>
          <a:xfrm rot="10800000">
            <a:off x="19157117" y="9448488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B0C7C8FB-6E59-2003-71E6-0EF20CD6C782}"/>
              </a:ext>
            </a:extLst>
          </p:cNvPr>
          <p:cNvSpPr/>
          <p:nvPr/>
        </p:nvSpPr>
        <p:spPr>
          <a:xfrm>
            <a:off x="16138755" y="9312190"/>
            <a:ext cx="2805849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Inspection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箭头: 右 12">
            <a:extLst>
              <a:ext uri="{FF2B5EF4-FFF2-40B4-BE49-F238E27FC236}">
                <a16:creationId xmlns:a16="http://schemas.microsoft.com/office/drawing/2014/main" id="{F129183F-46A4-6207-A9C3-96F47D890E5A}"/>
              </a:ext>
            </a:extLst>
          </p:cNvPr>
          <p:cNvSpPr/>
          <p:nvPr/>
        </p:nvSpPr>
        <p:spPr>
          <a:xfrm rot="10800000">
            <a:off x="15189701" y="9448489"/>
            <a:ext cx="552102" cy="340327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圆角矩形 5">
            <a:extLst>
              <a:ext uri="{FF2B5EF4-FFF2-40B4-BE49-F238E27FC236}">
                <a16:creationId xmlns:a16="http://schemas.microsoft.com/office/drawing/2014/main" id="{F9AA9435-B3E9-8EB0-7DA7-54F6E040732C}"/>
              </a:ext>
            </a:extLst>
          </p:cNvPr>
          <p:cNvSpPr/>
          <p:nvPr/>
        </p:nvSpPr>
        <p:spPr>
          <a:xfrm>
            <a:off x="11910934" y="9312189"/>
            <a:ext cx="2805849" cy="612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91436" tIns="91436" rIns="91436" bIns="91436" numCol="1" spcCol="38100" rtlCol="0" anchor="ctr" anchorCtr="1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Packaging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像" descr="图像">
            <a:extLst>
              <a:ext uri="{FF2B5EF4-FFF2-40B4-BE49-F238E27FC236}">
                <a16:creationId xmlns:a16="http://schemas.microsoft.com/office/drawing/2014/main" id="{7DF57FCB-84EC-4EDD-9727-2F9A6F6CC45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98698" y="10232549"/>
            <a:ext cx="1825471" cy="14121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72194BE-2AB5-BF41-1EB7-11F48729550D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71957" y="10182917"/>
            <a:ext cx="1229433" cy="133429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2FAB839-5D5B-D41D-185B-A37B53451D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1504"/>
          <a:stretch/>
        </p:blipFill>
        <p:spPr>
          <a:xfrm>
            <a:off x="20749252" y="10061128"/>
            <a:ext cx="1524033" cy="1583550"/>
          </a:xfrm>
          <a:prstGeom prst="rect">
            <a:avLst/>
          </a:prstGeom>
        </p:spPr>
      </p:pic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A13A93F7-4FD7-9F80-04BE-FD81A92289F3}"/>
              </a:ext>
            </a:extLst>
          </p:cNvPr>
          <p:cNvCxnSpPr>
            <a:cxnSpLocks/>
            <a:stCxn id="70" idx="3"/>
            <a:endCxn id="73" idx="1"/>
          </p:cNvCxnSpPr>
          <p:nvPr/>
        </p:nvCxnSpPr>
        <p:spPr>
          <a:xfrm flipH="1">
            <a:off x="865221" y="3619515"/>
            <a:ext cx="22158671" cy="3382512"/>
          </a:xfrm>
          <a:prstGeom prst="bentConnector5">
            <a:avLst>
              <a:gd name="adj1" fmla="val -2211"/>
              <a:gd name="adj2" fmla="val 50000"/>
              <a:gd name="adj3" fmla="val 101874"/>
            </a:avLst>
          </a:prstGeom>
          <a:noFill/>
          <a:ln w="28575" cap="flat">
            <a:solidFill>
              <a:schemeClr val="accent1"/>
            </a:solidFill>
            <a:prstDash val="solid"/>
            <a:round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74F95C51-8A2B-F9A7-99BF-E44D266B73A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5057" y="6877072"/>
            <a:ext cx="1284853" cy="119496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30F818E-7245-2C66-5525-D874657766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9104" y="3659976"/>
            <a:ext cx="1285979" cy="94404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24E3A12-8712-D8C1-C883-A35D90ED0B5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651902" y="6866510"/>
            <a:ext cx="1284853" cy="119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5810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20FFD9D0-1D32-18B1-DFF1-4FBD5C06FD71}"/>
              </a:ext>
            </a:extLst>
          </p:cNvPr>
          <p:cNvGrpSpPr>
            <a:grpSpLocks noChangeAspect="1"/>
          </p:cNvGrpSpPr>
          <p:nvPr/>
        </p:nvGrpSpPr>
        <p:grpSpPr>
          <a:xfrm>
            <a:off x="1750063" y="2801967"/>
            <a:ext cx="20402573" cy="9567060"/>
            <a:chOff x="1936953" y="2992755"/>
            <a:chExt cx="11913868" cy="5986780"/>
          </a:xfrm>
        </p:grpSpPr>
        <p:sp>
          <p:nvSpPr>
            <p:cNvPr id="7" name="圆角矩形 4">
              <a:extLst>
                <a:ext uri="{FF2B5EF4-FFF2-40B4-BE49-F238E27FC236}">
                  <a16:creationId xmlns:a16="http://schemas.microsoft.com/office/drawing/2014/main" id="{BBED0DE8-4C67-423A-6E22-E60B6E98C412}"/>
                </a:ext>
              </a:extLst>
            </p:cNvPr>
            <p:cNvSpPr/>
            <p:nvPr/>
          </p:nvSpPr>
          <p:spPr>
            <a:xfrm>
              <a:off x="11257924" y="2992755"/>
              <a:ext cx="2592897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>
                <a:spcBef>
                  <a:spcPts val="0"/>
                </a:spcBef>
              </a:pPr>
              <a:r>
                <a:rPr lang="en-US" altLang="zh-CN" sz="2400" dirty="0">
                  <a:sym typeface="+mn-ea"/>
                </a:rPr>
                <a:t>Glue cleaning &amp; Unloading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EFA69F9-D5DA-F097-564D-F1E21BD0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2900680" y="3515360"/>
              <a:ext cx="2206625" cy="4354830"/>
            </a:xfrm>
            <a:prstGeom prst="rect">
              <a:avLst/>
            </a:prstGeom>
          </p:spPr>
        </p:pic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4F851EAF-3994-B238-F0C1-B946F0F75ED9}"/>
                </a:ext>
              </a:extLst>
            </p:cNvPr>
            <p:cNvCxnSpPr/>
            <p:nvPr/>
          </p:nvCxnSpPr>
          <p:spPr>
            <a:xfrm flipH="1">
              <a:off x="2338157" y="4198351"/>
              <a:ext cx="31750" cy="3571240"/>
            </a:xfrm>
            <a:prstGeom prst="straightConnector1">
              <a:avLst/>
            </a:prstGeom>
            <a:ln w="31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1B5CB42-AA2E-D26D-57C0-A95A046CB46B}"/>
                </a:ext>
              </a:extLst>
            </p:cNvPr>
            <p:cNvSpPr txBox="1"/>
            <p:nvPr/>
          </p:nvSpPr>
          <p:spPr>
            <a:xfrm rot="16200000">
              <a:off x="1614081" y="5936180"/>
              <a:ext cx="928080" cy="2823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1800</a:t>
              </a:r>
            </a:p>
          </p:txBody>
        </p:sp>
        <p:sp>
          <p:nvSpPr>
            <p:cNvPr id="11" name="文本框 3">
              <a:extLst>
                <a:ext uri="{FF2B5EF4-FFF2-40B4-BE49-F238E27FC236}">
                  <a16:creationId xmlns:a16="http://schemas.microsoft.com/office/drawing/2014/main" id="{5A4FF647-1323-EEB2-CE6C-BC444BB4ADD3}"/>
                </a:ext>
              </a:extLst>
            </p:cNvPr>
            <p:cNvSpPr txBox="1"/>
            <p:nvPr/>
          </p:nvSpPr>
          <p:spPr>
            <a:xfrm>
              <a:off x="3583074" y="8411233"/>
              <a:ext cx="825139" cy="3025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1500</a:t>
              </a:r>
              <a:endParaRPr lang="en-US" altLang="zh-CN" sz="240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箭头连接符 2">
              <a:extLst>
                <a:ext uri="{FF2B5EF4-FFF2-40B4-BE49-F238E27FC236}">
                  <a16:creationId xmlns:a16="http://schemas.microsoft.com/office/drawing/2014/main" id="{60B34187-1958-1DEA-04AE-902D0842310F}"/>
                </a:ext>
              </a:extLst>
            </p:cNvPr>
            <p:cNvCxnSpPr/>
            <p:nvPr/>
          </p:nvCxnSpPr>
          <p:spPr>
            <a:xfrm flipV="1">
              <a:off x="5140265" y="8341797"/>
              <a:ext cx="1927860" cy="190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9E90082-0100-698B-22E1-73AE04202421}"/>
                </a:ext>
              </a:extLst>
            </p:cNvPr>
            <p:cNvCxnSpPr/>
            <p:nvPr/>
          </p:nvCxnSpPr>
          <p:spPr>
            <a:xfrm flipH="1">
              <a:off x="6087170" y="7641669"/>
              <a:ext cx="610870" cy="57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33C2A48-B293-FF0A-4D17-4433F06B7BCD}"/>
                </a:ext>
              </a:extLst>
            </p:cNvPr>
            <p:cNvCxnSpPr/>
            <p:nvPr/>
          </p:nvCxnSpPr>
          <p:spPr>
            <a:xfrm flipH="1">
              <a:off x="2262841" y="4225959"/>
              <a:ext cx="42683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FB1A9BA-78A3-0873-D134-C5990C49C344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rot="5400000" flipV="1">
              <a:off x="2218055" y="8236585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E50F3C3-F7A3-4DB6-8583-43536C3257DE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rot="5400000" flipV="1">
              <a:off x="6506210" y="8160385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62709117-966D-6642-5E52-6C5B8D2FE1CB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rot="5400000" flipV="1">
              <a:off x="4457700" y="8183880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2">
              <a:extLst>
                <a:ext uri="{FF2B5EF4-FFF2-40B4-BE49-F238E27FC236}">
                  <a16:creationId xmlns:a16="http://schemas.microsoft.com/office/drawing/2014/main" id="{045DA0E0-273D-07C5-F24D-EAA1BB23DA53}"/>
                </a:ext>
              </a:extLst>
            </p:cNvPr>
            <p:cNvCxnSpPr/>
            <p:nvPr/>
          </p:nvCxnSpPr>
          <p:spPr>
            <a:xfrm>
              <a:off x="2959040" y="8347512"/>
              <a:ext cx="2077720" cy="101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圆角矩形 4">
              <a:extLst>
                <a:ext uri="{FF2B5EF4-FFF2-40B4-BE49-F238E27FC236}">
                  <a16:creationId xmlns:a16="http://schemas.microsoft.com/office/drawing/2014/main" id="{CF67CFE1-C57C-F393-0F2F-F64416DCAC73}"/>
                </a:ext>
              </a:extLst>
            </p:cNvPr>
            <p:cNvSpPr/>
            <p:nvPr/>
          </p:nvSpPr>
          <p:spPr>
            <a:xfrm>
              <a:off x="3128645" y="2992755"/>
              <a:ext cx="1908175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/>
              <a:r>
                <a:rPr lang="en-US" altLang="zh-CN" sz="2400" dirty="0">
                  <a:sym typeface="+mn-ea"/>
                </a:rPr>
                <a:t>MAG</a:t>
              </a:r>
              <a:r>
                <a:rPr lang="zh-CN" altLang="en-US" sz="2400" dirty="0">
                  <a:sym typeface="+mn-ea"/>
                </a:rPr>
                <a:t> </a:t>
              </a:r>
              <a:r>
                <a:rPr lang="en-US" altLang="zh-CN" sz="2400" dirty="0">
                  <a:sym typeface="+mn-ea"/>
                </a:rPr>
                <a:t>4&amp;3</a:t>
              </a:r>
              <a:r>
                <a:rPr lang="zh-CN" altLang="en-US" sz="2400" dirty="0">
                  <a:sym typeface="+mn-ea"/>
                </a:rPr>
                <a:t> </a:t>
              </a:r>
              <a:r>
                <a:rPr lang="en-US" altLang="zh-CN" sz="2400" dirty="0">
                  <a:sym typeface="+mn-ea"/>
                </a:rPr>
                <a:t>Loading </a:t>
              </a:r>
            </a:p>
          </p:txBody>
        </p:sp>
        <p:sp>
          <p:nvSpPr>
            <p:cNvPr id="20" name="右大括号 19">
              <a:extLst>
                <a:ext uri="{FF2B5EF4-FFF2-40B4-BE49-F238E27FC236}">
                  <a16:creationId xmlns:a16="http://schemas.microsoft.com/office/drawing/2014/main" id="{FDDEBBFD-8394-6831-5798-0FAB5996189B}"/>
                </a:ext>
              </a:extLst>
            </p:cNvPr>
            <p:cNvSpPr/>
            <p:nvPr/>
          </p:nvSpPr>
          <p:spPr>
            <a:xfrm rot="16200000">
              <a:off x="381254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F84B3C7-ACA2-2B75-1C93-7A6705961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5093970" y="3529965"/>
              <a:ext cx="2110740" cy="4354830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1FE59AF-9186-3E7A-35A3-5C993F800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7133590" y="3515360"/>
              <a:ext cx="2206625" cy="435483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ADFCE24E-1D8D-8348-91C6-4A0D0D5C4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9326880" y="3529965"/>
              <a:ext cx="2110740" cy="435483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1A87F8C5-A1B4-CBE0-16F1-7C4FC4EA0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rcRect l="20595" r="52205" b="2808"/>
            <a:stretch>
              <a:fillRect/>
            </a:stretch>
          </p:blipFill>
          <p:spPr>
            <a:xfrm>
              <a:off x="11442700" y="3516630"/>
              <a:ext cx="2206625" cy="4354830"/>
            </a:xfrm>
            <a:prstGeom prst="rect">
              <a:avLst/>
            </a:prstGeom>
          </p:spPr>
        </p:pic>
        <p:sp>
          <p:nvSpPr>
            <p:cNvPr id="25" name="文本框 3">
              <a:extLst>
                <a:ext uri="{FF2B5EF4-FFF2-40B4-BE49-F238E27FC236}">
                  <a16:creationId xmlns:a16="http://schemas.microsoft.com/office/drawing/2014/main" id="{AEEC1B42-0158-7978-063D-F55ACE038B2C}"/>
                </a:ext>
              </a:extLst>
            </p:cNvPr>
            <p:cNvSpPr txBox="1"/>
            <p:nvPr/>
          </p:nvSpPr>
          <p:spPr>
            <a:xfrm>
              <a:off x="12224921" y="8411233"/>
              <a:ext cx="751658" cy="3025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1800</a:t>
              </a:r>
            </a:p>
          </p:txBody>
        </p:sp>
        <p:sp>
          <p:nvSpPr>
            <p:cNvPr id="26" name="文本框 3">
              <a:extLst>
                <a:ext uri="{FF2B5EF4-FFF2-40B4-BE49-F238E27FC236}">
                  <a16:creationId xmlns:a16="http://schemas.microsoft.com/office/drawing/2014/main" id="{7E5C9A1D-6EA8-C3E5-BAD9-D5E860BB3C86}"/>
                </a:ext>
              </a:extLst>
            </p:cNvPr>
            <p:cNvSpPr txBox="1"/>
            <p:nvPr/>
          </p:nvSpPr>
          <p:spPr>
            <a:xfrm>
              <a:off x="10035188" y="8411233"/>
              <a:ext cx="854023" cy="3025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1600</a:t>
              </a:r>
              <a:endParaRPr lang="en-US" altLang="zh-CN" sz="240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7" name="直接箭头连接符 2">
              <a:extLst>
                <a:ext uri="{FF2B5EF4-FFF2-40B4-BE49-F238E27FC236}">
                  <a16:creationId xmlns:a16="http://schemas.microsoft.com/office/drawing/2014/main" id="{928D9ED2-59DB-AF7E-D1A6-29AB993706E6}"/>
                </a:ext>
              </a:extLst>
            </p:cNvPr>
            <p:cNvCxnSpPr/>
            <p:nvPr/>
          </p:nvCxnSpPr>
          <p:spPr>
            <a:xfrm flipV="1">
              <a:off x="11604565" y="8320784"/>
              <a:ext cx="1927860" cy="1905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0A47D02-7701-FFF8-2621-EAD52211867D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rot="5400000" flipV="1">
              <a:off x="8712835" y="8312785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EF4A7DF-226E-67A1-746F-9C9A1B854172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rot="5400000" flipV="1">
              <a:off x="12970510" y="8236585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0596E04-5F86-9612-2FEC-1F1352B8B8EF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 rot="5400000" flipV="1">
              <a:off x="10922000" y="8260080"/>
              <a:ext cx="1332230" cy="127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2">
              <a:extLst>
                <a:ext uri="{FF2B5EF4-FFF2-40B4-BE49-F238E27FC236}">
                  <a16:creationId xmlns:a16="http://schemas.microsoft.com/office/drawing/2014/main" id="{1C75B0F6-EBFE-54AF-F365-731C6A19E322}"/>
                </a:ext>
              </a:extLst>
            </p:cNvPr>
            <p:cNvCxnSpPr/>
            <p:nvPr/>
          </p:nvCxnSpPr>
          <p:spPr>
            <a:xfrm>
              <a:off x="9423339" y="8337352"/>
              <a:ext cx="2077720" cy="101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2">
              <a:extLst>
                <a:ext uri="{FF2B5EF4-FFF2-40B4-BE49-F238E27FC236}">
                  <a16:creationId xmlns:a16="http://schemas.microsoft.com/office/drawing/2014/main" id="{74D466D4-3E2F-3D4F-DE5A-15739001DB51}"/>
                </a:ext>
              </a:extLst>
            </p:cNvPr>
            <p:cNvCxnSpPr/>
            <p:nvPr/>
          </p:nvCxnSpPr>
          <p:spPr>
            <a:xfrm>
              <a:off x="7239000" y="8337352"/>
              <a:ext cx="2077720" cy="101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圆角矩形 4">
              <a:extLst>
                <a:ext uri="{FF2B5EF4-FFF2-40B4-BE49-F238E27FC236}">
                  <a16:creationId xmlns:a16="http://schemas.microsoft.com/office/drawing/2014/main" id="{4E15C774-21EB-341F-89AA-3B3E3DF79979}"/>
                </a:ext>
              </a:extLst>
            </p:cNvPr>
            <p:cNvSpPr/>
            <p:nvPr/>
          </p:nvSpPr>
          <p:spPr>
            <a:xfrm>
              <a:off x="5231130" y="2992755"/>
              <a:ext cx="1902460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/>
              <a:r>
                <a:rPr lang="en-US" altLang="zh-CN" sz="2400" dirty="0">
                  <a:sym typeface="+mn-ea"/>
                </a:rPr>
                <a:t>MAG</a:t>
              </a:r>
              <a:r>
                <a:rPr lang="zh-CN" altLang="en-US" sz="2400" dirty="0">
                  <a:sym typeface="+mn-ea"/>
                </a:rPr>
                <a:t> </a:t>
              </a:r>
              <a:r>
                <a:rPr lang="en-US" altLang="zh-CN" sz="2400" dirty="0">
                  <a:sym typeface="+mn-ea"/>
                </a:rPr>
                <a:t>2&amp;1</a:t>
              </a:r>
              <a:r>
                <a:rPr lang="zh-CN" altLang="en-US" sz="2400" dirty="0">
                  <a:sym typeface="+mn-ea"/>
                </a:rPr>
                <a:t> </a:t>
              </a:r>
              <a:r>
                <a:rPr lang="en-US" altLang="zh-CN" sz="2400" dirty="0">
                  <a:sym typeface="+mn-ea"/>
                </a:rPr>
                <a:t>Loading </a:t>
              </a:r>
            </a:p>
          </p:txBody>
        </p:sp>
        <p:sp>
          <p:nvSpPr>
            <p:cNvPr id="34" name="右大括号 33">
              <a:extLst>
                <a:ext uri="{FF2B5EF4-FFF2-40B4-BE49-F238E27FC236}">
                  <a16:creationId xmlns:a16="http://schemas.microsoft.com/office/drawing/2014/main" id="{9E696868-3873-6FF3-684A-A1AED12DEC55}"/>
                </a:ext>
              </a:extLst>
            </p:cNvPr>
            <p:cNvSpPr/>
            <p:nvPr/>
          </p:nvSpPr>
          <p:spPr>
            <a:xfrm rot="16200000">
              <a:off x="590931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圆角矩形 4">
              <a:extLst>
                <a:ext uri="{FF2B5EF4-FFF2-40B4-BE49-F238E27FC236}">
                  <a16:creationId xmlns:a16="http://schemas.microsoft.com/office/drawing/2014/main" id="{24FB6F68-75F6-3769-49C5-F377A45F4CAF}"/>
                </a:ext>
              </a:extLst>
            </p:cNvPr>
            <p:cNvSpPr/>
            <p:nvPr/>
          </p:nvSpPr>
          <p:spPr>
            <a:xfrm>
              <a:off x="7326630" y="2992755"/>
              <a:ext cx="1902460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/>
                <a:t>Glue Dispensing</a:t>
              </a:r>
            </a:p>
          </p:txBody>
        </p:sp>
        <p:sp>
          <p:nvSpPr>
            <p:cNvPr id="36" name="右大括号 35">
              <a:extLst>
                <a:ext uri="{FF2B5EF4-FFF2-40B4-BE49-F238E27FC236}">
                  <a16:creationId xmlns:a16="http://schemas.microsoft.com/office/drawing/2014/main" id="{823042BC-D98A-8EFC-8758-50DACDF9661A}"/>
                </a:ext>
              </a:extLst>
            </p:cNvPr>
            <p:cNvSpPr/>
            <p:nvPr/>
          </p:nvSpPr>
          <p:spPr>
            <a:xfrm rot="16200000">
              <a:off x="800481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圆角矩形 4">
              <a:extLst>
                <a:ext uri="{FF2B5EF4-FFF2-40B4-BE49-F238E27FC236}">
                  <a16:creationId xmlns:a16="http://schemas.microsoft.com/office/drawing/2014/main" id="{EAAC72C6-B4CF-E284-5A66-1C4C11558BB8}"/>
                </a:ext>
              </a:extLst>
            </p:cNvPr>
            <p:cNvSpPr/>
            <p:nvPr/>
          </p:nvSpPr>
          <p:spPr>
            <a:xfrm>
              <a:off x="9544299" y="2992755"/>
              <a:ext cx="1576304" cy="52260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/>
                <a:t>Hot Pressing</a:t>
              </a:r>
            </a:p>
          </p:txBody>
        </p:sp>
        <p:sp>
          <p:nvSpPr>
            <p:cNvPr id="38" name="右大括号 37">
              <a:extLst>
                <a:ext uri="{FF2B5EF4-FFF2-40B4-BE49-F238E27FC236}">
                  <a16:creationId xmlns:a16="http://schemas.microsoft.com/office/drawing/2014/main" id="{DD79C1E3-6A77-3580-B51F-A514A6DB3098}"/>
                </a:ext>
              </a:extLst>
            </p:cNvPr>
            <p:cNvSpPr/>
            <p:nvPr/>
          </p:nvSpPr>
          <p:spPr>
            <a:xfrm rot="16200000">
              <a:off x="1010158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右大括号 38">
              <a:extLst>
                <a:ext uri="{FF2B5EF4-FFF2-40B4-BE49-F238E27FC236}">
                  <a16:creationId xmlns:a16="http://schemas.microsoft.com/office/drawing/2014/main" id="{7DE0C623-E8F2-025E-D41A-CBECA5E8F011}"/>
                </a:ext>
              </a:extLst>
            </p:cNvPr>
            <p:cNvSpPr/>
            <p:nvPr/>
          </p:nvSpPr>
          <p:spPr>
            <a:xfrm rot="16200000">
              <a:off x="12319000" y="2835910"/>
              <a:ext cx="459105" cy="2163445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59791F8-12D9-859D-2D2C-0ADDC4A7139D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2084070" y="7818120"/>
              <a:ext cx="936625" cy="158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1" name="文本框 3">
            <a:extLst>
              <a:ext uri="{FF2B5EF4-FFF2-40B4-BE49-F238E27FC236}">
                <a16:creationId xmlns:a16="http://schemas.microsoft.com/office/drawing/2014/main" id="{3A37DAD2-3514-E618-E1D8-02A84CC1FD0A}"/>
              </a:ext>
            </a:extLst>
          </p:cNvPr>
          <p:cNvSpPr txBox="1"/>
          <p:nvPr/>
        </p:nvSpPr>
        <p:spPr>
          <a:xfrm>
            <a:off x="7991623" y="11460862"/>
            <a:ext cx="141305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1500</a:t>
            </a:r>
            <a:endParaRPr lang="en-US" altLang="zh-CN" sz="240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3">
            <a:extLst>
              <a:ext uri="{FF2B5EF4-FFF2-40B4-BE49-F238E27FC236}">
                <a16:creationId xmlns:a16="http://schemas.microsoft.com/office/drawing/2014/main" id="{9DC80594-C50E-9C79-BDA1-70A20D417B9F}"/>
              </a:ext>
            </a:extLst>
          </p:cNvPr>
          <p:cNvSpPr txBox="1"/>
          <p:nvPr/>
        </p:nvSpPr>
        <p:spPr>
          <a:xfrm>
            <a:off x="11802389" y="11460862"/>
            <a:ext cx="141305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2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1500</a:t>
            </a:r>
            <a:endParaRPr lang="en-US" altLang="zh-CN" sz="240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X1758 / Revision list："/>
          <p:cNvSpPr txBox="1"/>
          <p:nvPr/>
        </p:nvSpPr>
        <p:spPr>
          <a:xfrm>
            <a:off x="322685" y="946718"/>
            <a:ext cx="11547890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/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latin typeface="Arial" panose="020B0604020202020204"/>
                <a:cs typeface="Arial" panose="020B0604020202020204"/>
                <a:sym typeface="+mn-ea"/>
              </a:rPr>
              <a:t>Overview-STEP-1</a:t>
            </a:r>
            <a:endParaRPr lang="zh-CN" altLang="en-US" sz="4800" dirty="0"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084487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X1758 / Revision list："/>
          <p:cNvSpPr txBox="1"/>
          <p:nvPr/>
        </p:nvSpPr>
        <p:spPr>
          <a:xfrm>
            <a:off x="322685" y="946718"/>
            <a:ext cx="11547890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/>
            <a:r>
              <a:rPr lang="en-US" altLang="zh-CN" sz="4800" dirty="0">
                <a:solidFill>
                  <a:schemeClr val="tx1"/>
                </a:solidFill>
              </a:rPr>
              <a:t>B747 BUD </a:t>
            </a:r>
            <a:r>
              <a:rPr lang="en-US" sz="4800" dirty="0">
                <a:solidFill>
                  <a:srgbClr val="00B0F0"/>
                </a:solidFill>
              </a:rPr>
              <a:t>|</a:t>
            </a:r>
            <a:r>
              <a:rPr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latin typeface="Arial" panose="020B0604020202020204"/>
                <a:cs typeface="Arial" panose="020B0604020202020204"/>
                <a:sym typeface="+mn-ea"/>
              </a:rPr>
              <a:t>Overview-STEP-2</a:t>
            </a:r>
            <a:endParaRPr lang="zh-CN" altLang="en-US" sz="4800" dirty="0">
              <a:latin typeface="Arial" panose="020B0604020202020204"/>
              <a:cs typeface="Arial" panose="020B0604020202020204"/>
              <a:sym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C23F02-E8C1-BCFE-3C04-1ECB7C6D43F9}"/>
              </a:ext>
            </a:extLst>
          </p:cNvPr>
          <p:cNvGrpSpPr/>
          <p:nvPr/>
        </p:nvGrpSpPr>
        <p:grpSpPr>
          <a:xfrm>
            <a:off x="1963971" y="2632599"/>
            <a:ext cx="18842944" cy="10065485"/>
            <a:chOff x="1739682" y="2391058"/>
            <a:chExt cx="14161850" cy="730800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3C061E9-E322-898D-9431-C045B11BBF6B}"/>
                </a:ext>
              </a:extLst>
            </p:cNvPr>
            <p:cNvGrpSpPr/>
            <p:nvPr/>
          </p:nvGrpSpPr>
          <p:grpSpPr>
            <a:xfrm>
              <a:off x="1739682" y="3879989"/>
              <a:ext cx="517111" cy="4352578"/>
              <a:chOff x="1933676" y="4365033"/>
              <a:chExt cx="404481" cy="3404558"/>
            </a:xfrm>
          </p:grpSpPr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5F50ABD4-100A-62F4-124D-E6843F28B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8157" y="4365033"/>
                <a:ext cx="0" cy="340455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7951969-E642-DCE2-B735-F81F1534FAEB}"/>
                  </a:ext>
                </a:extLst>
              </p:cNvPr>
              <p:cNvSpPr txBox="1"/>
              <p:nvPr/>
            </p:nvSpPr>
            <p:spPr>
              <a:xfrm rot="16200000">
                <a:off x="1612072" y="5934912"/>
                <a:ext cx="932098" cy="2888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  <a:scene3d>
                  <a:camera prst="orthographicFront"/>
                  <a:lightRig rig="threePt" dir="t"/>
                </a:scene3d>
              </a:bodyPr>
              <a:lstStyle/>
              <a:p>
                <a:r>
                  <a:rPr lang="en-US" altLang="zh-CN" sz="24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1800</a:t>
                </a:r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E9A6ED8-3085-6AD2-F66A-A0D85A5D979C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>
            <a:xfrm rot="5400000" flipV="1">
              <a:off x="1865385" y="8627455"/>
              <a:ext cx="1703198" cy="162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BA01213-CB6B-83FB-ABEF-87707B7E8F1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 rot="5400000" flipV="1">
              <a:off x="11842652" y="8836092"/>
              <a:ext cx="1703198" cy="162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圆角矩形 4">
              <a:extLst>
                <a:ext uri="{FF2B5EF4-FFF2-40B4-BE49-F238E27FC236}">
                  <a16:creationId xmlns:a16="http://schemas.microsoft.com/office/drawing/2014/main" id="{6EB3978C-431F-A4D9-FE98-59A82375A91B}"/>
                </a:ext>
              </a:extLst>
            </p:cNvPr>
            <p:cNvSpPr/>
            <p:nvPr/>
          </p:nvSpPr>
          <p:spPr>
            <a:xfrm>
              <a:off x="12763867" y="2410455"/>
              <a:ext cx="2902268" cy="638548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/>
                <a:t>Hot Pressing</a:t>
              </a:r>
            </a:p>
          </p:txBody>
        </p:sp>
        <p:sp>
          <p:nvSpPr>
            <p:cNvPr id="9" name="圆角矩形 4">
              <a:extLst>
                <a:ext uri="{FF2B5EF4-FFF2-40B4-BE49-F238E27FC236}">
                  <a16:creationId xmlns:a16="http://schemas.microsoft.com/office/drawing/2014/main" id="{AC301341-DA26-4B94-CF38-B1D84A9BB02C}"/>
                </a:ext>
              </a:extLst>
            </p:cNvPr>
            <p:cNvSpPr/>
            <p:nvPr/>
          </p:nvSpPr>
          <p:spPr>
            <a:xfrm>
              <a:off x="3052508" y="2391058"/>
              <a:ext cx="2902268" cy="638548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r>
                <a:rPr lang="en-US" altLang="zh-CN" sz="2400" dirty="0">
                  <a:sym typeface="+mn-ea"/>
                </a:rPr>
                <a:t>Semi-product loading</a:t>
              </a:r>
              <a:endParaRPr lang="zh-CN" altLang="en-US" sz="2400" dirty="0">
                <a:sym typeface="+mn-ea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ED4C01F-33C7-B219-AA84-F072B187C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rcRect l="20595" r="52205" b="2808"/>
            <a:stretch>
              <a:fillRect/>
            </a:stretch>
          </p:blipFill>
          <p:spPr>
            <a:xfrm>
              <a:off x="2750269" y="3031158"/>
              <a:ext cx="3366282" cy="532097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84D1BDB-D5EF-E1D5-8013-1FFFE5BA4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rcRect l="20595" r="52205" b="2808"/>
            <a:stretch>
              <a:fillRect/>
            </a:stretch>
          </p:blipFill>
          <p:spPr>
            <a:xfrm>
              <a:off x="6096208" y="3049003"/>
              <a:ext cx="3220006" cy="5320975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A24C3C35-5094-FC29-FD4A-FE3CE9726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rcRect l="20595" r="52205" b="2808"/>
            <a:stretch>
              <a:fillRect/>
            </a:stretch>
          </p:blipFill>
          <p:spPr>
            <a:xfrm>
              <a:off x="9335588" y="3031158"/>
              <a:ext cx="3366282" cy="5320975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2DD60033-A4E4-C4F5-52ED-D228314AD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rcRect l="20595" r="52205" b="2808"/>
            <a:stretch>
              <a:fillRect/>
            </a:stretch>
          </p:blipFill>
          <p:spPr>
            <a:xfrm>
              <a:off x="12681526" y="3049003"/>
              <a:ext cx="3220006" cy="5320975"/>
            </a:xfrm>
            <a:prstGeom prst="rect">
              <a:avLst/>
            </a:prstGeom>
          </p:spPr>
        </p:pic>
        <p:sp>
          <p:nvSpPr>
            <p:cNvPr id="14" name="文本框 3">
              <a:extLst>
                <a:ext uri="{FF2B5EF4-FFF2-40B4-BE49-F238E27FC236}">
                  <a16:creationId xmlns:a16="http://schemas.microsoft.com/office/drawing/2014/main" id="{324780D6-7AAD-C5CE-9D41-5912BE13A4C1}"/>
                </a:ext>
              </a:extLst>
            </p:cNvPr>
            <p:cNvSpPr txBox="1"/>
            <p:nvPr/>
          </p:nvSpPr>
          <p:spPr>
            <a:xfrm>
              <a:off x="3874012" y="9179420"/>
              <a:ext cx="118739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1800</a:t>
              </a:r>
            </a:p>
          </p:txBody>
        </p:sp>
        <p:cxnSp>
          <p:nvCxnSpPr>
            <p:cNvPr id="15" name="直接箭头连接符 2">
              <a:extLst>
                <a:ext uri="{FF2B5EF4-FFF2-40B4-BE49-F238E27FC236}">
                  <a16:creationId xmlns:a16="http://schemas.microsoft.com/office/drawing/2014/main" id="{174E7A7F-3D2D-4C77-A3F1-F4070F6A00D7}"/>
                </a:ext>
              </a:extLst>
            </p:cNvPr>
            <p:cNvCxnSpPr/>
            <p:nvPr/>
          </p:nvCxnSpPr>
          <p:spPr>
            <a:xfrm flipV="1">
              <a:off x="2997200" y="9019922"/>
              <a:ext cx="2941016" cy="2327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1AE048A2-604F-3400-618C-655D4DF3F677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rot="5400000" flipV="1">
              <a:off x="5283280" y="8798070"/>
              <a:ext cx="1627793" cy="19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2">
              <a:extLst>
                <a:ext uri="{FF2B5EF4-FFF2-40B4-BE49-F238E27FC236}">
                  <a16:creationId xmlns:a16="http://schemas.microsoft.com/office/drawing/2014/main" id="{03CDF6A0-DA7E-74AB-4EA9-53CBF8FE612A}"/>
                </a:ext>
              </a:extLst>
            </p:cNvPr>
            <p:cNvCxnSpPr/>
            <p:nvPr/>
          </p:nvCxnSpPr>
          <p:spPr>
            <a:xfrm flipV="1">
              <a:off x="12725027" y="8991215"/>
              <a:ext cx="2941016" cy="2327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59118418-5410-7BA8-977E-074361B0C9E7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rot="5400000" flipV="1">
              <a:off x="15011107" y="8884193"/>
              <a:ext cx="1627793" cy="193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2">
              <a:extLst>
                <a:ext uri="{FF2B5EF4-FFF2-40B4-BE49-F238E27FC236}">
                  <a16:creationId xmlns:a16="http://schemas.microsoft.com/office/drawing/2014/main" id="{577B4FC7-2635-55A0-CF59-91D51A4B6E15}"/>
                </a:ext>
              </a:extLst>
            </p:cNvPr>
            <p:cNvCxnSpPr/>
            <p:nvPr/>
          </p:nvCxnSpPr>
          <p:spPr>
            <a:xfrm>
              <a:off x="9397494" y="9014491"/>
              <a:ext cx="3169633" cy="1241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2">
              <a:extLst>
                <a:ext uri="{FF2B5EF4-FFF2-40B4-BE49-F238E27FC236}">
                  <a16:creationId xmlns:a16="http://schemas.microsoft.com/office/drawing/2014/main" id="{86038CE5-DE49-2B4E-F92D-D426EB1B4D00}"/>
                </a:ext>
              </a:extLst>
            </p:cNvPr>
            <p:cNvCxnSpPr/>
            <p:nvPr/>
          </p:nvCxnSpPr>
          <p:spPr>
            <a:xfrm flipV="1">
              <a:off x="6251110" y="8996646"/>
              <a:ext cx="2941016" cy="2327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3">
              <a:extLst>
                <a:ext uri="{FF2B5EF4-FFF2-40B4-BE49-F238E27FC236}">
                  <a16:creationId xmlns:a16="http://schemas.microsoft.com/office/drawing/2014/main" id="{E9CAD476-4B7C-3C8E-F462-BDD9965F3EF5}"/>
                </a:ext>
              </a:extLst>
            </p:cNvPr>
            <p:cNvSpPr txBox="1"/>
            <p:nvPr/>
          </p:nvSpPr>
          <p:spPr>
            <a:xfrm>
              <a:off x="10501308" y="9134598"/>
              <a:ext cx="962006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1000</a:t>
              </a:r>
            </a:p>
          </p:txBody>
        </p:sp>
        <p:sp>
          <p:nvSpPr>
            <p:cNvPr id="22" name="文本框 3">
              <a:extLst>
                <a:ext uri="{FF2B5EF4-FFF2-40B4-BE49-F238E27FC236}">
                  <a16:creationId xmlns:a16="http://schemas.microsoft.com/office/drawing/2014/main" id="{6D118F51-462A-897D-3520-8ED7F7E9CED3}"/>
                </a:ext>
              </a:extLst>
            </p:cNvPr>
            <p:cNvSpPr txBox="1"/>
            <p:nvPr/>
          </p:nvSpPr>
          <p:spPr>
            <a:xfrm>
              <a:off x="13731829" y="9134598"/>
              <a:ext cx="92741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1400</a:t>
              </a:r>
            </a:p>
          </p:txBody>
        </p:sp>
        <p:sp>
          <p:nvSpPr>
            <p:cNvPr id="23" name="右大括号 22">
              <a:extLst>
                <a:ext uri="{FF2B5EF4-FFF2-40B4-BE49-F238E27FC236}">
                  <a16:creationId xmlns:a16="http://schemas.microsoft.com/office/drawing/2014/main" id="{914FED5B-4D35-1EBE-3FB6-E61F15A339B6}"/>
                </a:ext>
              </a:extLst>
            </p:cNvPr>
            <p:cNvSpPr/>
            <p:nvPr/>
          </p:nvSpPr>
          <p:spPr>
            <a:xfrm rot="16200000">
              <a:off x="4156805" y="1870921"/>
              <a:ext cx="560960" cy="3300409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圆角矩形 4">
              <a:extLst>
                <a:ext uri="{FF2B5EF4-FFF2-40B4-BE49-F238E27FC236}">
                  <a16:creationId xmlns:a16="http://schemas.microsoft.com/office/drawing/2014/main" id="{077378C1-F890-C499-9288-7BE3A3EF980D}"/>
                </a:ext>
              </a:extLst>
            </p:cNvPr>
            <p:cNvSpPr/>
            <p:nvPr/>
          </p:nvSpPr>
          <p:spPr>
            <a:xfrm>
              <a:off x="6251202" y="2391058"/>
              <a:ext cx="2902268" cy="638548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/>
                <a:t>Glue Dispensing</a:t>
              </a:r>
            </a:p>
          </p:txBody>
        </p:sp>
        <p:sp>
          <p:nvSpPr>
            <p:cNvPr id="25" name="右大括号 24">
              <a:extLst>
                <a:ext uri="{FF2B5EF4-FFF2-40B4-BE49-F238E27FC236}">
                  <a16:creationId xmlns:a16="http://schemas.microsoft.com/office/drawing/2014/main" id="{281BADA2-3752-3BCF-BC52-7DA14EBE9983}"/>
                </a:ext>
              </a:extLst>
            </p:cNvPr>
            <p:cNvSpPr/>
            <p:nvPr/>
          </p:nvSpPr>
          <p:spPr>
            <a:xfrm rot="16200000">
              <a:off x="7355499" y="1870921"/>
              <a:ext cx="560960" cy="3300409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圆角矩形 4">
              <a:extLst>
                <a:ext uri="{FF2B5EF4-FFF2-40B4-BE49-F238E27FC236}">
                  <a16:creationId xmlns:a16="http://schemas.microsoft.com/office/drawing/2014/main" id="{C055F638-2BC6-730E-FDD5-304B38D092A9}"/>
                </a:ext>
              </a:extLst>
            </p:cNvPr>
            <p:cNvSpPr/>
            <p:nvPr/>
          </p:nvSpPr>
          <p:spPr>
            <a:xfrm>
              <a:off x="9565173" y="2410455"/>
              <a:ext cx="2902268" cy="638548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r>
                <a:rPr lang="en-US" altLang="zh-CN" sz="2400" dirty="0">
                  <a:sym typeface="+mn-ea"/>
                </a:rPr>
                <a:t>Shunt</a:t>
              </a:r>
              <a:r>
                <a:rPr lang="zh-CN" altLang="en-US" sz="2400" dirty="0"/>
                <a:t> </a:t>
              </a:r>
              <a:r>
                <a:rPr lang="en-US" altLang="zh-CN" sz="2400" dirty="0">
                  <a:sym typeface="+mn-ea"/>
                </a:rPr>
                <a:t>Loading</a:t>
              </a:r>
              <a:endParaRPr lang="zh-CN" altLang="en-US" sz="2400" dirty="0"/>
            </a:p>
          </p:txBody>
        </p:sp>
        <p:sp>
          <p:nvSpPr>
            <p:cNvPr id="27" name="右大括号 26">
              <a:extLst>
                <a:ext uri="{FF2B5EF4-FFF2-40B4-BE49-F238E27FC236}">
                  <a16:creationId xmlns:a16="http://schemas.microsoft.com/office/drawing/2014/main" id="{391C040D-886D-39DE-70DF-E8ADB996E13B}"/>
                </a:ext>
              </a:extLst>
            </p:cNvPr>
            <p:cNvSpPr/>
            <p:nvPr/>
          </p:nvSpPr>
          <p:spPr>
            <a:xfrm rot="16200000">
              <a:off x="10669470" y="1890318"/>
              <a:ext cx="560960" cy="3300409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右大括号 27">
              <a:extLst>
                <a:ext uri="{FF2B5EF4-FFF2-40B4-BE49-F238E27FC236}">
                  <a16:creationId xmlns:a16="http://schemas.microsoft.com/office/drawing/2014/main" id="{FD276463-EF9D-FEC3-284D-4CA18C1EB4D6}"/>
                </a:ext>
              </a:extLst>
            </p:cNvPr>
            <p:cNvSpPr/>
            <p:nvPr/>
          </p:nvSpPr>
          <p:spPr>
            <a:xfrm rot="16200000">
              <a:off x="13868164" y="1890318"/>
              <a:ext cx="560960" cy="3300409"/>
            </a:xfrm>
            <a:prstGeom prst="rightBrac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19007D1-1C5B-5C16-3787-6CFA21E39486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rot="5400000" flipV="1">
              <a:off x="8505260" y="8789007"/>
              <a:ext cx="1703198" cy="162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文本框 3">
              <a:extLst>
                <a:ext uri="{FF2B5EF4-FFF2-40B4-BE49-F238E27FC236}">
                  <a16:creationId xmlns:a16="http://schemas.microsoft.com/office/drawing/2014/main" id="{B0E29E9F-6913-C9BF-A026-B73CC1E881ED}"/>
                </a:ext>
              </a:extLst>
            </p:cNvPr>
            <p:cNvSpPr txBox="1"/>
            <p:nvPr/>
          </p:nvSpPr>
          <p:spPr>
            <a:xfrm>
              <a:off x="7068935" y="9110534"/>
              <a:ext cx="118739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</a:bodyPr>
            <a:lstStyle/>
            <a:p>
              <a:r>
                <a:rPr lang="en-US" altLang="zh-CN" sz="240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1500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EDCCAD9-0A7C-4F49-B85C-019A544C5AB1}"/>
                </a:ext>
              </a:extLst>
            </p:cNvPr>
            <p:cNvCxnSpPr/>
            <p:nvPr/>
          </p:nvCxnSpPr>
          <p:spPr>
            <a:xfrm flipH="1">
              <a:off x="2021092" y="3879989"/>
              <a:ext cx="5583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C1049CC-3798-FE6C-2879-8D5C0DA606E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1787236" y="8264903"/>
              <a:ext cx="1225231" cy="1937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11324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X1758 / Revision list："/>
          <p:cNvSpPr txBox="1"/>
          <p:nvPr/>
        </p:nvSpPr>
        <p:spPr>
          <a:xfrm>
            <a:off x="408258" y="977002"/>
            <a:ext cx="17021419" cy="892544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400" dirty="0">
                <a:solidFill>
                  <a:srgbClr val="00B0F0"/>
                </a:solidFill>
              </a:rPr>
              <a:t>|</a:t>
            </a:r>
            <a:r>
              <a:rPr lang="en-US" altLang="zh-CN" sz="4400" dirty="0">
                <a:solidFill>
                  <a:schemeClr val="tx1"/>
                </a:solidFill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STEP1-</a:t>
            </a:r>
            <a:r>
              <a:rPr lang="zh-CN" altLang="en-US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Loading Mag 1/2/3/4</a:t>
            </a:r>
          </a:p>
        </p:txBody>
      </p:sp>
      <p:sp>
        <p:nvSpPr>
          <p:cNvPr id="5" name="箭头: 右 13">
            <a:extLst>
              <a:ext uri="{FF2B5EF4-FFF2-40B4-BE49-F238E27FC236}">
                <a16:creationId xmlns:a16="http://schemas.microsoft.com/office/drawing/2014/main" id="{4D04D399-1CD5-69E9-4899-1715935E5A4A}"/>
              </a:ext>
            </a:extLst>
          </p:cNvPr>
          <p:cNvSpPr/>
          <p:nvPr/>
        </p:nvSpPr>
        <p:spPr>
          <a:xfrm>
            <a:off x="9643476" y="11043895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13">
            <a:extLst>
              <a:ext uri="{FF2B5EF4-FFF2-40B4-BE49-F238E27FC236}">
                <a16:creationId xmlns:a16="http://schemas.microsoft.com/office/drawing/2014/main" id="{A304F2C8-6EF3-CDD9-0A31-EC94AFF17134}"/>
              </a:ext>
            </a:extLst>
          </p:cNvPr>
          <p:cNvSpPr/>
          <p:nvPr/>
        </p:nvSpPr>
        <p:spPr>
          <a:xfrm>
            <a:off x="3507967" y="11030831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箭头: 右 13">
            <a:extLst>
              <a:ext uri="{FF2B5EF4-FFF2-40B4-BE49-F238E27FC236}">
                <a16:creationId xmlns:a16="http://schemas.microsoft.com/office/drawing/2014/main" id="{B0937D3E-5A1B-B90F-9898-5DD8C424CDDD}"/>
              </a:ext>
            </a:extLst>
          </p:cNvPr>
          <p:cNvSpPr/>
          <p:nvPr/>
        </p:nvSpPr>
        <p:spPr>
          <a:xfrm>
            <a:off x="6010845" y="11067650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AF5FED-0484-CABE-76EA-FE41CAA75C54}"/>
              </a:ext>
            </a:extLst>
          </p:cNvPr>
          <p:cNvSpPr txBox="1"/>
          <p:nvPr/>
        </p:nvSpPr>
        <p:spPr>
          <a:xfrm>
            <a:off x="1099136" y="12418806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 4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Loading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2AA00D-DB2C-C5D2-F6CE-D50C341179E0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393127" y="9950916"/>
            <a:ext cx="1136358" cy="212598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2DD2C23-548D-3649-F061-AFF723DCC97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9864" t="36393" r="15097"/>
          <a:stretch/>
        </p:blipFill>
        <p:spPr>
          <a:xfrm>
            <a:off x="1038640" y="10113586"/>
            <a:ext cx="1756421" cy="1991717"/>
          </a:xfrm>
          <a:prstGeom prst="rect">
            <a:avLst/>
          </a:prstGeom>
        </p:spPr>
      </p:pic>
      <p:sp>
        <p:nvSpPr>
          <p:cNvPr id="12" name="箭头: 右 13">
            <a:extLst>
              <a:ext uri="{FF2B5EF4-FFF2-40B4-BE49-F238E27FC236}">
                <a16:creationId xmlns:a16="http://schemas.microsoft.com/office/drawing/2014/main" id="{E793225D-74A3-8C92-1B6B-1B1725FBFFF2}"/>
              </a:ext>
            </a:extLst>
          </p:cNvPr>
          <p:cNvSpPr/>
          <p:nvPr/>
        </p:nvSpPr>
        <p:spPr>
          <a:xfrm>
            <a:off x="10816994" y="11053629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3D4AA0-2921-85DE-D412-9FA15C617B03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540886" y="9836139"/>
            <a:ext cx="1136358" cy="21259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87884F7-3FA6-70E5-EC9C-8F9DA2CA1B5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9864" t="36393" r="15097"/>
          <a:stretch/>
        </p:blipFill>
        <p:spPr>
          <a:xfrm>
            <a:off x="7121554" y="10100992"/>
            <a:ext cx="1756421" cy="199171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24FB093-70B4-3036-5749-3553FFBE25AD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6907958" y="9518110"/>
            <a:ext cx="1647044" cy="2762037"/>
          </a:xfrm>
          <a:prstGeom prst="rect">
            <a:avLst/>
          </a:prstGeom>
        </p:spPr>
      </p:pic>
      <p:sp>
        <p:nvSpPr>
          <p:cNvPr id="16" name="箭头: 右 13">
            <a:extLst>
              <a:ext uri="{FF2B5EF4-FFF2-40B4-BE49-F238E27FC236}">
                <a16:creationId xmlns:a16="http://schemas.microsoft.com/office/drawing/2014/main" id="{C0C350F6-E7D2-4D96-1750-7C793CEFD677}"/>
              </a:ext>
            </a:extLst>
          </p:cNvPr>
          <p:cNvSpPr/>
          <p:nvPr/>
        </p:nvSpPr>
        <p:spPr>
          <a:xfrm>
            <a:off x="19065960" y="10990632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BE6A96-DC3B-6532-0201-FA35969271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98611" y="10440290"/>
            <a:ext cx="2146904" cy="166501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7EF23677-B0AE-1761-43DD-B6298706A996}"/>
              </a:ext>
            </a:extLst>
          </p:cNvPr>
          <p:cNvSpPr txBox="1"/>
          <p:nvPr/>
        </p:nvSpPr>
        <p:spPr>
          <a:xfrm>
            <a:off x="13484488" y="12439001"/>
            <a:ext cx="1690996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Accurate</a:t>
            </a:r>
          </a:p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position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E5395F-B703-FC14-800E-BBF75596556A}"/>
              </a:ext>
            </a:extLst>
          </p:cNvPr>
          <p:cNvSpPr txBox="1"/>
          <p:nvPr/>
        </p:nvSpPr>
        <p:spPr>
          <a:xfrm>
            <a:off x="16966135" y="12450516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Polarity</a:t>
            </a:r>
          </a:p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detection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2621ECE-28FC-9C5D-0257-DE2C8CA620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39309" y="10640367"/>
            <a:ext cx="1981354" cy="969493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70B495A4-B4F7-F883-2E79-27806FCD22FE}"/>
              </a:ext>
            </a:extLst>
          </p:cNvPr>
          <p:cNvGrpSpPr>
            <a:grpSpLocks noChangeAspect="1"/>
          </p:cNvGrpSpPr>
          <p:nvPr/>
        </p:nvGrpSpPr>
        <p:grpSpPr>
          <a:xfrm>
            <a:off x="3394911" y="2065903"/>
            <a:ext cx="14994608" cy="7314243"/>
            <a:chOff x="252813" y="1554647"/>
            <a:chExt cx="22649754" cy="11021589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237068" y="2782801"/>
              <a:ext cx="16560468" cy="9793435"/>
            </a:xfrm>
            <a:prstGeom prst="rect">
              <a:avLst/>
            </a:prstGeom>
          </p:spPr>
        </p:pic>
        <p:sp>
          <p:nvSpPr>
            <p:cNvPr id="26" name="矩形标注 25"/>
            <p:cNvSpPr/>
            <p:nvPr/>
          </p:nvSpPr>
          <p:spPr>
            <a:xfrm>
              <a:off x="14556928" y="2264446"/>
              <a:ext cx="1601330" cy="1374660"/>
            </a:xfrm>
            <a:prstGeom prst="wedgeRectCallout">
              <a:avLst>
                <a:gd name="adj1" fmla="val -52909"/>
                <a:gd name="adj2" fmla="val 167320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6" tIns="91436" rIns="91436" bIns="91436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32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矩形标注 26"/>
            <p:cNvSpPr/>
            <p:nvPr/>
          </p:nvSpPr>
          <p:spPr>
            <a:xfrm>
              <a:off x="12440412" y="2287596"/>
              <a:ext cx="951683" cy="1386989"/>
            </a:xfrm>
            <a:prstGeom prst="wedgeRectCallout">
              <a:avLst>
                <a:gd name="adj1" fmla="val -46374"/>
                <a:gd name="adj2" fmla="val 214382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6" tIns="91436" rIns="91436" bIns="91436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32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矩形标注 27"/>
            <p:cNvSpPr/>
            <p:nvPr/>
          </p:nvSpPr>
          <p:spPr>
            <a:xfrm>
              <a:off x="9218315" y="2220821"/>
              <a:ext cx="951683" cy="1386989"/>
            </a:xfrm>
            <a:prstGeom prst="wedgeRectCallout">
              <a:avLst>
                <a:gd name="adj1" fmla="val 8356"/>
                <a:gd name="adj2" fmla="val 125089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6" tIns="91436" rIns="91436" bIns="91436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32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矩形标注 28"/>
            <p:cNvSpPr/>
            <p:nvPr/>
          </p:nvSpPr>
          <p:spPr>
            <a:xfrm>
              <a:off x="6734362" y="2220821"/>
              <a:ext cx="951683" cy="1386989"/>
            </a:xfrm>
            <a:prstGeom prst="wedgeRectCallout">
              <a:avLst>
                <a:gd name="adj1" fmla="val 27816"/>
                <a:gd name="adj2" fmla="val 226066"/>
              </a:avLst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6" tIns="91436" rIns="91436" bIns="91436" numCol="1" spcCol="38100" rtlCol="0" anchor="t">
              <a:spAutoFit/>
            </a:bodyPr>
            <a:lstStyle/>
            <a:p>
              <a:pPr marL="0" marR="0" indent="0" algn="l" defTabSz="1828800" rtl="0" fontAlgn="auto" latinLnBrk="0" hangingPunct="0">
                <a:lnSpc>
                  <a:spcPct val="100000"/>
                </a:lnSpc>
                <a:spcBef>
                  <a:spcPts val="32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6989543" y="6510972"/>
              <a:ext cx="5913024" cy="1410970"/>
              <a:chOff x="3266" y="14057"/>
              <a:chExt cx="10232" cy="2222"/>
            </a:xfrm>
          </p:grpSpPr>
          <p:sp>
            <p:nvSpPr>
              <p:cNvPr id="60" name="圆角矩形 23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8480" y="14057"/>
                <a:ext cx="5018" cy="2222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Polarity</a:t>
                </a:r>
              </a:p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detection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61" name="肘形连接符 60"/>
              <p:cNvCxnSpPr/>
              <p:nvPr/>
            </p:nvCxnSpPr>
            <p:spPr>
              <a:xfrm rot="10800000">
                <a:off x="3266" y="15121"/>
                <a:ext cx="5204" cy="33"/>
              </a:xfrm>
              <a:prstGeom prst="bentConnector3">
                <a:avLst>
                  <a:gd name="adj1" fmla="val 50000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31" name="组合 30"/>
            <p:cNvGrpSpPr/>
            <p:nvPr/>
          </p:nvGrpSpPr>
          <p:grpSpPr>
            <a:xfrm>
              <a:off x="15723180" y="3787457"/>
              <a:ext cx="7135495" cy="3271520"/>
              <a:chOff x="2114" y="7242"/>
              <a:chExt cx="11237" cy="5152"/>
            </a:xfrm>
          </p:grpSpPr>
          <p:sp>
            <p:nvSpPr>
              <p:cNvPr id="58" name="圆角矩形 23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8844" y="7242"/>
                <a:ext cx="4507" cy="2295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kern="1200" noProof="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Accurate</a:t>
                </a:r>
              </a:p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kern="1200" noProof="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position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59" name="肘形连接符 58"/>
              <p:cNvCxnSpPr>
                <a:stCxn id="58" idx="1"/>
              </p:cNvCxnSpPr>
              <p:nvPr/>
            </p:nvCxnSpPr>
            <p:spPr>
              <a:xfrm rot="10800000" flipV="1">
                <a:off x="2114" y="8390"/>
                <a:ext cx="6730" cy="4004"/>
              </a:xfrm>
              <a:prstGeom prst="bentConnector3">
                <a:avLst>
                  <a:gd name="adj1" fmla="val 100005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312503" y="6179820"/>
              <a:ext cx="9489440" cy="4375785"/>
              <a:chOff x="6954" y="6231"/>
              <a:chExt cx="14944" cy="6891"/>
            </a:xfrm>
          </p:grpSpPr>
          <p:sp>
            <p:nvSpPr>
              <p:cNvPr id="52" name="圆角矩形 23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6954" y="11714"/>
                <a:ext cx="4507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kern="1200" noProof="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Clamp 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01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53" name="肘形连接符 52"/>
              <p:cNvCxnSpPr/>
              <p:nvPr/>
            </p:nvCxnSpPr>
            <p:spPr>
              <a:xfrm flipV="1">
                <a:off x="11560" y="6231"/>
                <a:ext cx="10338" cy="6187"/>
              </a:xfrm>
              <a:prstGeom prst="bentConnector3">
                <a:avLst>
                  <a:gd name="adj1" fmla="val 79774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35" name="组合 34"/>
            <p:cNvGrpSpPr/>
            <p:nvPr/>
          </p:nvGrpSpPr>
          <p:grpSpPr>
            <a:xfrm>
              <a:off x="252813" y="7073900"/>
              <a:ext cx="6470015" cy="1635760"/>
              <a:chOff x="6860" y="10546"/>
              <a:chExt cx="10189" cy="2576"/>
            </a:xfrm>
          </p:grpSpPr>
          <p:sp>
            <p:nvSpPr>
              <p:cNvPr id="50" name="圆角矩形 23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6860" y="11714"/>
                <a:ext cx="4507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T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ray 01</a:t>
                </a:r>
              </a:p>
            </p:txBody>
          </p:sp>
          <p:cxnSp>
            <p:nvCxnSpPr>
              <p:cNvPr id="51" name="肘形连接符 50"/>
              <p:cNvCxnSpPr>
                <a:stCxn id="50" idx="3"/>
              </p:cNvCxnSpPr>
              <p:nvPr/>
            </p:nvCxnSpPr>
            <p:spPr>
              <a:xfrm flipV="1">
                <a:off x="11367" y="10546"/>
                <a:ext cx="5682" cy="1872"/>
              </a:xfrm>
              <a:prstGeom prst="bentConnector3">
                <a:avLst>
                  <a:gd name="adj1" fmla="val 45798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grpSp>
          <p:nvGrpSpPr>
            <p:cNvPr id="36" name="组合 35"/>
            <p:cNvGrpSpPr/>
            <p:nvPr/>
          </p:nvGrpSpPr>
          <p:grpSpPr>
            <a:xfrm>
              <a:off x="12070025" y="8316912"/>
              <a:ext cx="10788650" cy="3423920"/>
              <a:chOff x="-3639" y="12058"/>
              <a:chExt cx="16990" cy="5392"/>
            </a:xfrm>
          </p:grpSpPr>
          <p:sp>
            <p:nvSpPr>
              <p:cNvPr id="48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8844" y="16042"/>
                <a:ext cx="4507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57150">
                <a:solidFill>
                  <a:srgbClr val="FF0000"/>
                </a:solidFill>
                <a:prstDash val="solid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Tray 02</a:t>
                </a:r>
                <a:endParaRPr kumimoji="1" lang="zh-CN" altLang="en-US" sz="2400" kern="1200" dirty="0">
                  <a:solidFill>
                    <a:prstClr val="black"/>
                  </a:solidFill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49" name="肘形连接符 48"/>
              <p:cNvCxnSpPr>
                <a:stCxn id="48" idx="1"/>
              </p:cNvCxnSpPr>
              <p:nvPr/>
            </p:nvCxnSpPr>
            <p:spPr>
              <a:xfrm rot="10800000">
                <a:off x="-3639" y="12058"/>
                <a:ext cx="12483" cy="4688"/>
              </a:xfrm>
              <a:prstGeom prst="bentConnector3">
                <a:avLst>
                  <a:gd name="adj1" fmla="val 65452"/>
                </a:avLst>
              </a:prstGeom>
              <a:noFill/>
              <a:ln w="57150" cap="flat">
                <a:solidFill>
                  <a:srgbClr val="FF0000"/>
                </a:solidFill>
                <a:prstDash val="solid"/>
                <a:round/>
                <a:tailEnd type="arrow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p:sp>
          <p:nvSpPr>
            <p:cNvPr id="46" name="圆角矩形 2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9996729" y="9100087"/>
              <a:ext cx="2861945" cy="8940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57150">
              <a:solidFill>
                <a:srgbClr val="FF0000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>
              <a:no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400" kern="1200" dirty="0">
                  <a:solidFill>
                    <a:prstClr val="black"/>
                  </a:solidFill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Clamp 02</a:t>
              </a:r>
              <a:endParaRPr kumimoji="1" lang="zh-CN" altLang="en-US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pic>
          <p:nvPicPr>
            <p:cNvPr id="38" name="Picture 2"/>
            <p:cNvPicPr>
              <a:picLocks noChangeAspect="1" noChangeArrowheads="1"/>
            </p:cNvPicPr>
            <p:nvPr/>
          </p:nvPicPr>
          <p:blipFill rotWithShape="1">
            <a:blip r:embed="rId14" cstate="print"/>
            <a:srcRect t="35239" r="70396" b="15276"/>
            <a:stretch/>
          </p:blipFill>
          <p:spPr bwMode="auto">
            <a:xfrm>
              <a:off x="14681485" y="2305127"/>
              <a:ext cx="1357974" cy="12224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9" name="Picture 2"/>
            <p:cNvPicPr>
              <a:picLocks noChangeAspect="1" noChangeArrowheads="1"/>
            </p:cNvPicPr>
            <p:nvPr/>
          </p:nvPicPr>
          <p:blipFill rotWithShape="1">
            <a:blip r:embed="rId14" cstate="print"/>
            <a:srcRect l="27757" t="32348" r="51643" b="18167"/>
            <a:stretch/>
          </p:blipFill>
          <p:spPr bwMode="auto">
            <a:xfrm>
              <a:off x="12481867" y="2342687"/>
              <a:ext cx="869813" cy="12766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0" name="Picture 2"/>
            <p:cNvPicPr>
              <a:picLocks noChangeAspect="1" noChangeArrowheads="1"/>
            </p:cNvPicPr>
            <p:nvPr/>
          </p:nvPicPr>
          <p:blipFill rotWithShape="1">
            <a:blip r:embed="rId14" cstate="print"/>
            <a:srcRect l="51476" t="29045" r="27924" b="21470"/>
            <a:stretch/>
          </p:blipFill>
          <p:spPr bwMode="auto">
            <a:xfrm>
              <a:off x="9275655" y="2287596"/>
              <a:ext cx="844815" cy="1240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 rotWithShape="1">
            <a:blip r:embed="rId14" cstate="print"/>
            <a:srcRect l="73933" t="22850" r="5467" b="27664"/>
            <a:stretch/>
          </p:blipFill>
          <p:spPr bwMode="auto">
            <a:xfrm>
              <a:off x="6787795" y="2264444"/>
              <a:ext cx="844815" cy="12400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矩形 42"/>
            <p:cNvSpPr/>
            <p:nvPr/>
          </p:nvSpPr>
          <p:spPr>
            <a:xfrm>
              <a:off x="8771518" y="1572488"/>
              <a:ext cx="1845277" cy="6029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+mj-ea"/>
                  <a:cs typeface="微软雅黑" panose="020B0503020204020204" pitchFamily="34" charset="-122"/>
                  <a:sym typeface="+mn-ea"/>
                </a:rPr>
                <a:t>Mag 3</a:t>
              </a:r>
              <a:endParaRPr lang="zh-CN" altLang="en-US" sz="2000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6272451" y="1554647"/>
              <a:ext cx="1875498" cy="6029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chemeClr val="tx1"/>
                  </a:solidFill>
                  <a:latin typeface="+mj-ea"/>
                  <a:cs typeface="微软雅黑" panose="020B0503020204020204" pitchFamily="34" charset="-122"/>
                  <a:sym typeface="+mn-ea"/>
                </a:rPr>
                <a:t>Mag 4</a:t>
              </a:r>
              <a:endParaRPr lang="zh-CN" altLang="en-US" sz="2000" dirty="0"/>
            </a:p>
          </p:txBody>
        </p:sp>
      </p:grp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149785AE-833C-2AF0-4438-DCAB3D97D6D1}"/>
              </a:ext>
            </a:extLst>
          </p:cNvPr>
          <p:cNvCxnSpPr>
            <a:cxnSpLocks/>
          </p:cNvCxnSpPr>
          <p:nvPr/>
        </p:nvCxnSpPr>
        <p:spPr>
          <a:xfrm flipH="1">
            <a:off x="22239956" y="10802505"/>
            <a:ext cx="143477" cy="820582"/>
          </a:xfrm>
          <a:prstGeom prst="straightConnector1">
            <a:avLst/>
          </a:prstGeom>
          <a:ln w="19050">
            <a:solidFill>
              <a:srgbClr val="0000FF"/>
            </a:solidFill>
            <a:prstDash val="lgDash"/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Magnet Loading">
            <a:extLst>
              <a:ext uri="{FF2B5EF4-FFF2-40B4-BE49-F238E27FC236}">
                <a16:creationId xmlns:a16="http://schemas.microsoft.com/office/drawing/2014/main" id="{EF6083B5-693B-D651-97DA-C4FA2EA3340F}"/>
              </a:ext>
            </a:extLst>
          </p:cNvPr>
          <p:cNvSpPr txBox="1"/>
          <p:nvPr/>
        </p:nvSpPr>
        <p:spPr>
          <a:xfrm>
            <a:off x="21399418" y="10424927"/>
            <a:ext cx="2615239" cy="4308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altLang="zh-CN" sz="1600" dirty="0"/>
              <a:t>Fixture Material : SKD 11</a:t>
            </a:r>
            <a:endParaRPr lang="zh-CN" altLang="en-US" sz="1600" dirty="0"/>
          </a:p>
        </p:txBody>
      </p:sp>
      <p:sp>
        <p:nvSpPr>
          <p:cNvPr id="67" name="矩形 66"/>
          <p:cNvSpPr/>
          <p:nvPr/>
        </p:nvSpPr>
        <p:spPr>
          <a:xfrm>
            <a:off x="11002606" y="2099289"/>
            <a:ext cx="15515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+mj-ea"/>
                <a:cs typeface="微软雅黑" panose="020B0503020204020204" pitchFamily="34" charset="-122"/>
                <a:sym typeface="+mn-ea"/>
              </a:rPr>
              <a:t>Mag 2</a:t>
            </a:r>
            <a:endParaRPr lang="zh-CN" altLang="en-US" sz="2000" dirty="0"/>
          </a:p>
        </p:txBody>
      </p:sp>
      <p:sp>
        <p:nvSpPr>
          <p:cNvPr id="68" name="矩形 67"/>
          <p:cNvSpPr/>
          <p:nvPr/>
        </p:nvSpPr>
        <p:spPr>
          <a:xfrm>
            <a:off x="12692080" y="2099289"/>
            <a:ext cx="14050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/>
                </a:solidFill>
                <a:latin typeface="+mj-ea"/>
                <a:cs typeface="微软雅黑" panose="020B0503020204020204" pitchFamily="34" charset="-122"/>
                <a:sym typeface="+mn-ea"/>
              </a:rPr>
              <a:t>Mag 1</a:t>
            </a:r>
            <a:endParaRPr lang="zh-CN" altLang="en-US" sz="2000" dirty="0"/>
          </a:p>
        </p:txBody>
      </p:sp>
      <p:cxnSp>
        <p:nvCxnSpPr>
          <p:cNvPr id="75" name="肘形连接符 74"/>
          <p:cNvCxnSpPr/>
          <p:nvPr/>
        </p:nvCxnSpPr>
        <p:spPr>
          <a:xfrm rot="10800000">
            <a:off x="12864533" y="6237352"/>
            <a:ext cx="3601262" cy="1146644"/>
          </a:xfrm>
          <a:prstGeom prst="bentConnector3">
            <a:avLst>
              <a:gd name="adj1" fmla="val 50000"/>
            </a:avLst>
          </a:prstGeom>
          <a:noFill/>
          <a:ln w="57150" cap="flat">
            <a:solidFill>
              <a:srgbClr val="FF0000"/>
            </a:solidFill>
            <a:prstDash val="solid"/>
            <a:round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B8AF5FED-0484-CABE-76EA-FE41CAA75C54}"/>
              </a:ext>
            </a:extLst>
          </p:cNvPr>
          <p:cNvSpPr txBox="1"/>
          <p:nvPr/>
        </p:nvSpPr>
        <p:spPr>
          <a:xfrm>
            <a:off x="4111673" y="12414853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 3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Loading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B8AF5FED-0484-CABE-76EA-FE41CAA75C54}"/>
              </a:ext>
            </a:extLst>
          </p:cNvPr>
          <p:cNvSpPr txBox="1"/>
          <p:nvPr/>
        </p:nvSpPr>
        <p:spPr>
          <a:xfrm>
            <a:off x="7257880" y="12439001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 2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Loading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B8AF5FED-0484-CABE-76EA-FE41CAA75C54}"/>
              </a:ext>
            </a:extLst>
          </p:cNvPr>
          <p:cNvSpPr txBox="1"/>
          <p:nvPr/>
        </p:nvSpPr>
        <p:spPr>
          <a:xfrm>
            <a:off x="10343720" y="12465855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 1</a:t>
            </a:r>
            <a:endParaRPr kumimoji="0" lang="en-US" altLang="zh-C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Loading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20" name="箭头: 右 13">
            <a:extLst>
              <a:ext uri="{FF2B5EF4-FFF2-40B4-BE49-F238E27FC236}">
                <a16:creationId xmlns:a16="http://schemas.microsoft.com/office/drawing/2014/main" id="{4D04D399-1CD5-69E9-4899-1715935E5A4A}"/>
              </a:ext>
            </a:extLst>
          </p:cNvPr>
          <p:cNvSpPr/>
          <p:nvPr/>
        </p:nvSpPr>
        <p:spPr>
          <a:xfrm>
            <a:off x="12262972" y="11043895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箭头: 右 13">
            <a:extLst>
              <a:ext uri="{FF2B5EF4-FFF2-40B4-BE49-F238E27FC236}">
                <a16:creationId xmlns:a16="http://schemas.microsoft.com/office/drawing/2014/main" id="{4D04D399-1CD5-69E9-4899-1715935E5A4A}"/>
              </a:ext>
            </a:extLst>
          </p:cNvPr>
          <p:cNvSpPr/>
          <p:nvPr/>
        </p:nvSpPr>
        <p:spPr>
          <a:xfrm>
            <a:off x="15995681" y="10995407"/>
            <a:ext cx="401319" cy="29029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6EE5395F-B703-FC14-800E-BBF75596556A}"/>
              </a:ext>
            </a:extLst>
          </p:cNvPr>
          <p:cNvSpPr txBox="1"/>
          <p:nvPr/>
        </p:nvSpPr>
        <p:spPr>
          <a:xfrm>
            <a:off x="20634073" y="12414853"/>
            <a:ext cx="153069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Magnets loaded</a:t>
            </a:r>
          </a:p>
        </p:txBody>
      </p:sp>
    </p:spTree>
    <p:extLst>
      <p:ext uri="{BB962C8B-B14F-4D97-AF65-F5344CB8AC3E}">
        <p14:creationId xmlns:p14="http://schemas.microsoft.com/office/powerpoint/2010/main" val="235809573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47" y="2183307"/>
            <a:ext cx="7524750" cy="7010400"/>
          </a:xfrm>
          <a:prstGeom prst="rect">
            <a:avLst/>
          </a:prstGeom>
        </p:spPr>
      </p:pic>
      <p:sp>
        <p:nvSpPr>
          <p:cNvPr id="27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981386" y="2678368"/>
            <a:ext cx="1938328" cy="89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Glue path detection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6" name="X1758 / Revision list："/>
          <p:cNvSpPr txBox="1"/>
          <p:nvPr/>
        </p:nvSpPr>
        <p:spPr>
          <a:xfrm>
            <a:off x="322685" y="946718"/>
            <a:ext cx="17067540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STEP1-</a:t>
            </a:r>
            <a:r>
              <a:rPr lang="zh-CN" altLang="en-US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4800" dirty="0">
                <a:solidFill>
                  <a:schemeClr val="tx1"/>
                </a:solidFill>
              </a:rPr>
              <a:t>Glue Dispensing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5148" y="4690627"/>
            <a:ext cx="261010" cy="592449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2410FE1A-9D57-D7B0-37DF-E80099B9F8F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9379" y="10157538"/>
            <a:ext cx="3017972" cy="2694244"/>
          </a:xfrm>
          <a:prstGeom prst="rect">
            <a:avLst/>
          </a:prstGeom>
        </p:spPr>
      </p:pic>
      <p:grpSp>
        <p:nvGrpSpPr>
          <p:cNvPr id="60" name="组合 59">
            <a:extLst>
              <a:ext uri="{FF2B5EF4-FFF2-40B4-BE49-F238E27FC236}">
                <a16:creationId xmlns:a16="http://schemas.microsoft.com/office/drawing/2014/main" id="{FECCA439-FB56-70E1-65D3-C6CC5E2F8FB4}"/>
              </a:ext>
            </a:extLst>
          </p:cNvPr>
          <p:cNvGrpSpPr/>
          <p:nvPr/>
        </p:nvGrpSpPr>
        <p:grpSpPr>
          <a:xfrm>
            <a:off x="3978365" y="10404703"/>
            <a:ext cx="6937369" cy="1686606"/>
            <a:chOff x="10956062" y="10092397"/>
            <a:chExt cx="8659434" cy="2718003"/>
          </a:xfrm>
        </p:grpSpPr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27933263-CAA5-69FC-BF2B-D4F4B1896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75989" y="10627739"/>
              <a:ext cx="3430737" cy="1603927"/>
            </a:xfrm>
            <a:prstGeom prst="straightConnector1">
              <a:avLst/>
            </a:prstGeom>
            <a:noFill/>
            <a:ln w="25400" cap="flat">
              <a:solidFill>
                <a:srgbClr val="0066FF"/>
              </a:solidFill>
              <a:prstDash val="solid"/>
              <a:round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CBC6D46E-BFB7-AE3D-A3F3-DDCB23A3C2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6062" y="10627739"/>
              <a:ext cx="3950664" cy="865882"/>
            </a:xfrm>
            <a:prstGeom prst="straightConnector1">
              <a:avLst/>
            </a:prstGeom>
            <a:noFill/>
            <a:ln w="25400" cap="flat">
              <a:solidFill>
                <a:srgbClr val="0066FF"/>
              </a:solidFill>
              <a:prstDash val="solid"/>
              <a:round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64C3A08B-0A07-EFF3-38E8-DE2F228382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06229" y="10627740"/>
              <a:ext cx="2800497" cy="2182660"/>
            </a:xfrm>
            <a:prstGeom prst="straightConnector1">
              <a:avLst/>
            </a:prstGeom>
            <a:noFill/>
            <a:ln w="25400" cap="flat">
              <a:solidFill>
                <a:srgbClr val="0066FF"/>
              </a:solidFill>
              <a:prstDash val="solid"/>
              <a:round/>
              <a:tailEnd type="triangle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F71CBC2-3F2B-0612-C980-E092081CE6E3}"/>
                </a:ext>
              </a:extLst>
            </p:cNvPr>
            <p:cNvSpPr/>
            <p:nvPr/>
          </p:nvSpPr>
          <p:spPr>
            <a:xfrm>
              <a:off x="14601749" y="10092397"/>
              <a:ext cx="5013747" cy="17359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</a:pPr>
              <a:r>
                <a:rPr lang="zh-CN" altLang="en-US" sz="3200" dirty="0"/>
                <a:t>Glue path diagram</a:t>
              </a:r>
              <a:endParaRPr lang="en-US" altLang="zh-CN" sz="3200" dirty="0"/>
            </a:p>
            <a:p>
              <a:pPr>
                <a:spcBef>
                  <a:spcPts val="0"/>
                </a:spcBef>
              </a:pPr>
              <a:r>
                <a:rPr lang="en-US" altLang="zh-CN" sz="3200" dirty="0"/>
                <a:t>(yellow area)</a:t>
              </a:r>
              <a:endParaRPr lang="zh-CN" altLang="en-US" sz="3200" dirty="0"/>
            </a:p>
          </p:txBody>
        </p:sp>
      </p:grpSp>
      <p:graphicFrame>
        <p:nvGraphicFramePr>
          <p:cNvPr id="65" name="表格"/>
          <p:cNvGraphicFramePr/>
          <p:nvPr>
            <p:extLst>
              <p:ext uri="{D42A27DB-BD31-4B8C-83A1-F6EECF244321}">
                <p14:modId xmlns:p14="http://schemas.microsoft.com/office/powerpoint/2010/main" val="2117132329"/>
              </p:ext>
            </p:extLst>
          </p:nvPr>
        </p:nvGraphicFramePr>
        <p:xfrm>
          <a:off x="9878478" y="2367817"/>
          <a:ext cx="12924789" cy="7116946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378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5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0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706">
                <a:tc gridSpan="3"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altLang="zh-CN" sz="3000" b="1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The Step1 </a:t>
                      </a:r>
                      <a:r>
                        <a:rPr sz="3000" b="1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Glue </a:t>
                      </a:r>
                      <a:r>
                        <a:rPr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Dispensing </a:t>
                      </a:r>
                      <a:r>
                        <a:rPr lang="en-US"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arameter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530">
                <a:tc rowSpan="5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HD 8540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Storage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2-8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℃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amount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22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defRPr>
                      </a:pPr>
                      <a:r>
                        <a:rPr lang="en-US" altLang="zh-CN" sz="2400" dirty="0"/>
                        <a:t>0.75 ± 0.15 mg 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(a product)</a:t>
                      </a:r>
                      <a:endParaRPr lang="en-US" altLang="zh-CN" sz="24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position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As picture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point in center)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Open time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 60 S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530">
                <a:tc rowSpan="3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Dispensing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MK-451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SZ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Mix nozzle elements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253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Needle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22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9" name="肘形连接符 8"/>
          <p:cNvCxnSpPr/>
          <p:nvPr/>
        </p:nvCxnSpPr>
        <p:spPr>
          <a:xfrm rot="5400000">
            <a:off x="6187156" y="3415460"/>
            <a:ext cx="1062551" cy="525908"/>
          </a:xfrm>
          <a:prstGeom prst="bentConnector3">
            <a:avLst>
              <a:gd name="adj1" fmla="val 128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3071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1950" y="10954257"/>
            <a:ext cx="261010" cy="592449"/>
          </a:xfrm>
          <a:prstGeom prst="rect">
            <a:avLst/>
          </a:prstGeom>
        </p:spPr>
      </p:pic>
      <p:sp>
        <p:nvSpPr>
          <p:cNvPr id="16" name="X1758 / Revision list："/>
          <p:cNvSpPr txBox="1"/>
          <p:nvPr/>
        </p:nvSpPr>
        <p:spPr>
          <a:xfrm>
            <a:off x="322684" y="946718"/>
            <a:ext cx="20229721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STEP1-</a:t>
            </a:r>
            <a:r>
              <a:rPr lang="zh-CN" altLang="en-US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4800" dirty="0">
                <a:solidFill>
                  <a:schemeClr val="tx1"/>
                </a:solidFill>
              </a:rPr>
              <a:t>Hot Pressing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F38DB1B-D4B1-486D-07AB-5E74B56FA5F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113" t="4261" r="29977" b="9239"/>
          <a:stretch/>
        </p:blipFill>
        <p:spPr>
          <a:xfrm>
            <a:off x="8481106" y="9363400"/>
            <a:ext cx="2208871" cy="2367749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9231D0C9-F4C2-C94F-E4BE-9736E1362F70}"/>
              </a:ext>
            </a:extLst>
          </p:cNvPr>
          <p:cNvGrpSpPr/>
          <p:nvPr/>
        </p:nvGrpSpPr>
        <p:grpSpPr>
          <a:xfrm>
            <a:off x="1118266" y="2212287"/>
            <a:ext cx="10691495" cy="6502798"/>
            <a:chOff x="10442850" y="2057400"/>
            <a:chExt cx="10691495" cy="6502798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6"/>
            <a:srcRect t="5963"/>
            <a:stretch/>
          </p:blipFill>
          <p:spPr>
            <a:xfrm>
              <a:off x="10442850" y="2057400"/>
              <a:ext cx="5838825" cy="6502798"/>
            </a:xfrm>
            <a:prstGeom prst="rect">
              <a:avLst/>
            </a:prstGeom>
          </p:spPr>
        </p:pic>
        <p:grpSp>
          <p:nvGrpSpPr>
            <p:cNvPr id="22" name="组合 21"/>
            <p:cNvGrpSpPr/>
            <p:nvPr/>
          </p:nvGrpSpPr>
          <p:grpSpPr>
            <a:xfrm>
              <a:off x="14220465" y="4434920"/>
              <a:ext cx="6913880" cy="1466215"/>
              <a:chOff x="1637" y="10641"/>
              <a:chExt cx="10888" cy="2309"/>
            </a:xfrm>
          </p:grpSpPr>
          <p:sp>
            <p:nvSpPr>
              <p:cNvPr id="29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6316" y="11102"/>
                <a:ext cx="6209" cy="184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Hot pressing chamber</a:t>
                </a:r>
              </a:p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X12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30" name="肘形连接符 29"/>
              <p:cNvCxnSpPr>
                <a:stCxn id="29" idx="1"/>
              </p:cNvCxnSpPr>
              <p:nvPr/>
            </p:nvCxnSpPr>
            <p:spPr>
              <a:xfrm rot="10800000">
                <a:off x="1637" y="10641"/>
                <a:ext cx="4679" cy="1385"/>
              </a:xfrm>
              <a:prstGeom prst="bentConnector3">
                <a:avLst>
                  <a:gd name="adj1" fmla="val 31999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5258690" y="3168611"/>
              <a:ext cx="5313680" cy="1149985"/>
              <a:chOff x="3272" y="10645"/>
              <a:chExt cx="8368" cy="1811"/>
            </a:xfrm>
          </p:grpSpPr>
          <p:sp>
            <p:nvSpPr>
              <p:cNvPr id="25" name="圆角矩形 23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7133" y="11048"/>
                <a:ext cx="4507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Robot</a:t>
                </a:r>
                <a:endParaRPr kumimoji="1" 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26" name="肘形连接符 25"/>
              <p:cNvCxnSpPr/>
              <p:nvPr/>
            </p:nvCxnSpPr>
            <p:spPr>
              <a:xfrm rot="10800000">
                <a:off x="3272" y="10645"/>
                <a:ext cx="3887" cy="1095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箭头: 右 13">
            <a:extLst>
              <a:ext uri="{FF2B5EF4-FFF2-40B4-BE49-F238E27FC236}">
                <a16:creationId xmlns:a16="http://schemas.microsoft.com/office/drawing/2014/main" id="{6B81771A-A061-E49A-6898-FA540B6EED1F}"/>
              </a:ext>
            </a:extLst>
          </p:cNvPr>
          <p:cNvSpPr/>
          <p:nvPr/>
        </p:nvSpPr>
        <p:spPr>
          <a:xfrm>
            <a:off x="11315266" y="10406026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箭头: 右 13">
            <a:extLst>
              <a:ext uri="{FF2B5EF4-FFF2-40B4-BE49-F238E27FC236}">
                <a16:creationId xmlns:a16="http://schemas.microsoft.com/office/drawing/2014/main" id="{98C31776-130D-6205-7F3C-DED7CE03962E}"/>
              </a:ext>
            </a:extLst>
          </p:cNvPr>
          <p:cNvSpPr/>
          <p:nvPr/>
        </p:nvSpPr>
        <p:spPr>
          <a:xfrm>
            <a:off x="7317023" y="10370103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EAC836F-23D7-AF9B-793D-B85BA78783D1}"/>
              </a:ext>
            </a:extLst>
          </p:cNvPr>
          <p:cNvSpPr txBox="1"/>
          <p:nvPr/>
        </p:nvSpPr>
        <p:spPr>
          <a:xfrm>
            <a:off x="4523698" y="11878331"/>
            <a:ext cx="1931614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Prepressing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0312363-89CD-D5DA-305D-5A8ADDA44972}"/>
              </a:ext>
            </a:extLst>
          </p:cNvPr>
          <p:cNvSpPr txBox="1"/>
          <p:nvPr/>
        </p:nvSpPr>
        <p:spPr>
          <a:xfrm>
            <a:off x="8604483" y="11894292"/>
            <a:ext cx="1828800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Side push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E93415F-BF27-C7DD-0134-808E2391C5A9}"/>
              </a:ext>
            </a:extLst>
          </p:cNvPr>
          <p:cNvSpPr txBox="1"/>
          <p:nvPr/>
        </p:nvSpPr>
        <p:spPr>
          <a:xfrm>
            <a:off x="12974062" y="11894292"/>
            <a:ext cx="1530690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Pressing</a:t>
            </a:r>
          </a:p>
        </p:txBody>
      </p:sp>
      <p:pic>
        <p:nvPicPr>
          <p:cNvPr id="38" name="Picture 3">
            <a:extLst>
              <a:ext uri="{FF2B5EF4-FFF2-40B4-BE49-F238E27FC236}">
                <a16:creationId xmlns:a16="http://schemas.microsoft.com/office/drawing/2014/main" id="{5592C599-D3C3-4861-A220-4CF54BD98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69600" y="9363400"/>
            <a:ext cx="2479587" cy="212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箭头: 右 13">
            <a:extLst>
              <a:ext uri="{FF2B5EF4-FFF2-40B4-BE49-F238E27FC236}">
                <a16:creationId xmlns:a16="http://schemas.microsoft.com/office/drawing/2014/main" id="{6692DB9F-8EB9-75A5-4FE2-3D9B324D346F}"/>
              </a:ext>
            </a:extLst>
          </p:cNvPr>
          <p:cNvSpPr/>
          <p:nvPr/>
        </p:nvSpPr>
        <p:spPr>
          <a:xfrm>
            <a:off x="15820014" y="10406026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F949C68-2990-C477-7CC1-ECA3B6DF1C5E}"/>
              </a:ext>
            </a:extLst>
          </p:cNvPr>
          <p:cNvSpPr txBox="1"/>
          <p:nvPr/>
        </p:nvSpPr>
        <p:spPr>
          <a:xfrm>
            <a:off x="17387873" y="11923487"/>
            <a:ext cx="1530690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/>
              <a:t>Heating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pic>
        <p:nvPicPr>
          <p:cNvPr id="44" name="Picture 2">
            <a:extLst>
              <a:ext uri="{FF2B5EF4-FFF2-40B4-BE49-F238E27FC236}">
                <a16:creationId xmlns:a16="http://schemas.microsoft.com/office/drawing/2014/main" id="{A8B1498D-0E3F-BF8A-EAB5-A12D3B6C1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699652" y="9079083"/>
            <a:ext cx="2907132" cy="271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8F0FC64A-0767-9195-601D-A1AB17734F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649" y="9363400"/>
            <a:ext cx="2449169" cy="1899432"/>
          </a:xfrm>
          <a:prstGeom prst="rect">
            <a:avLst/>
          </a:prstGeom>
        </p:spPr>
      </p:pic>
      <p:sp>
        <p:nvSpPr>
          <p:cNvPr id="46" name="箭头: 右 13">
            <a:extLst>
              <a:ext uri="{FF2B5EF4-FFF2-40B4-BE49-F238E27FC236}">
                <a16:creationId xmlns:a16="http://schemas.microsoft.com/office/drawing/2014/main" id="{01E75570-C936-0ADD-4989-9AD69FE71C6D}"/>
              </a:ext>
            </a:extLst>
          </p:cNvPr>
          <p:cNvSpPr/>
          <p:nvPr/>
        </p:nvSpPr>
        <p:spPr>
          <a:xfrm>
            <a:off x="3194880" y="10249219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箭头: 右 13">
            <a:extLst>
              <a:ext uri="{FF2B5EF4-FFF2-40B4-BE49-F238E27FC236}">
                <a16:creationId xmlns:a16="http://schemas.microsoft.com/office/drawing/2014/main" id="{BD787813-01AA-FFC5-0F62-9A92E4231DD5}"/>
              </a:ext>
            </a:extLst>
          </p:cNvPr>
          <p:cNvSpPr/>
          <p:nvPr/>
        </p:nvSpPr>
        <p:spPr>
          <a:xfrm>
            <a:off x="20021602" y="10370103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9B8B9702-F148-FD44-1D4E-DE9043F1F6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5566" y="9464290"/>
            <a:ext cx="2460285" cy="1883472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2431356A-A171-BEDD-437D-85CC021B4837}"/>
              </a:ext>
            </a:extLst>
          </p:cNvPr>
          <p:cNvSpPr txBox="1"/>
          <p:nvPr/>
        </p:nvSpPr>
        <p:spPr>
          <a:xfrm>
            <a:off x="291537" y="11724443"/>
            <a:ext cx="3564726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Put the fixture into the  hot pressing chamber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948FBF8-2882-1AA8-3A6B-33AE16BB526C}"/>
              </a:ext>
            </a:extLst>
          </p:cNvPr>
          <p:cNvSpPr txBox="1"/>
          <p:nvPr/>
        </p:nvSpPr>
        <p:spPr>
          <a:xfrm>
            <a:off x="20225740" y="11724443"/>
            <a:ext cx="3699936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Take the fixture out of the hot pressing chamber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FC0A6555-1982-934F-CE23-78080A451D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01870" y="9363400"/>
            <a:ext cx="3103326" cy="2149073"/>
          </a:xfrm>
          <a:prstGeom prst="rect">
            <a:avLst/>
          </a:prstGeom>
        </p:spPr>
      </p:pic>
      <p:graphicFrame>
        <p:nvGraphicFramePr>
          <p:cNvPr id="52" name="表格">
            <a:extLst>
              <a:ext uri="{FF2B5EF4-FFF2-40B4-BE49-F238E27FC236}">
                <a16:creationId xmlns:a16="http://schemas.microsoft.com/office/drawing/2014/main" id="{E50704BA-2BF2-956A-86B4-ACF80991D2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0594560"/>
              </p:ext>
            </p:extLst>
          </p:nvPr>
        </p:nvGraphicFramePr>
        <p:xfrm>
          <a:off x="13350216" y="3065231"/>
          <a:ext cx="6698872" cy="392862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3382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6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2157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Air cylinder 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TCM20X30S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157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Input air pressure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0.</a:t>
                      </a:r>
                      <a:r>
                        <a:rPr lang="en-US" sz="2400" dirty="0">
                          <a:sym typeface="Arial"/>
                        </a:rPr>
                        <a:t>4</a:t>
                      </a:r>
                      <a:r>
                        <a:rPr sz="2400" dirty="0">
                          <a:sym typeface="Arial"/>
                        </a:rPr>
                        <a:t>-0.</a:t>
                      </a:r>
                      <a:r>
                        <a:rPr lang="en-US" sz="2400" dirty="0">
                          <a:sym typeface="Arial"/>
                        </a:rPr>
                        <a:t>6</a:t>
                      </a:r>
                      <a:r>
                        <a:rPr sz="2400" dirty="0">
                          <a:sym typeface="Arial"/>
                        </a:rPr>
                        <a:t>Mpa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2157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Time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2400" dirty="0">
                          <a:sym typeface="Arial"/>
                        </a:rPr>
                        <a:t>80</a:t>
                      </a:r>
                      <a:r>
                        <a:rPr lang="en-US" altLang="zh-CN" sz="2400" dirty="0">
                          <a:sym typeface="Arial"/>
                        </a:rPr>
                        <a:t>s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2157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altLang="zh-CN" sz="2400" dirty="0">
                          <a:sym typeface="Arial"/>
                        </a:rPr>
                        <a:t>Temperature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2400" dirty="0">
                          <a:sym typeface="Arial"/>
                        </a:rPr>
                        <a:t>80</a:t>
                      </a:r>
                      <a:r>
                        <a:rPr lang="en-US" altLang="zh-CN" sz="2400" dirty="0">
                          <a:sym typeface="Arial"/>
                        </a:rPr>
                        <a:t>±5</a:t>
                      </a:r>
                      <a:r>
                        <a:rPr lang="zh-CN" altLang="en-US" sz="2400" dirty="0">
                          <a:sym typeface="Arial"/>
                        </a:rPr>
                        <a:t>℃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52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3036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X1758 / Revision list："/>
          <p:cNvSpPr txBox="1"/>
          <p:nvPr/>
        </p:nvSpPr>
        <p:spPr>
          <a:xfrm>
            <a:off x="339938" y="855440"/>
            <a:ext cx="19621588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400" dirty="0">
                <a:solidFill>
                  <a:srgbClr val="00B0F0"/>
                </a:solidFill>
              </a:rPr>
              <a:t>|</a:t>
            </a:r>
            <a:r>
              <a:rPr lang="en-US" altLang="zh-CN" sz="4400" dirty="0">
                <a:solidFill>
                  <a:schemeClr val="tx1"/>
                </a:solidFill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STEP1-</a:t>
            </a:r>
            <a:r>
              <a:rPr lang="zh-CN" altLang="en-US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</a:rPr>
              <a:t>Product glue cleaning </a:t>
            </a:r>
            <a:r>
              <a:rPr lang="en-US" altLang="zh-CN" sz="4600" dirty="0">
                <a:solidFill>
                  <a:schemeClr val="tx1"/>
                </a:solidFill>
                <a:ea typeface="宋体" panose="02010600030101010101" pitchFamily="2" charset="-122"/>
              </a:rPr>
              <a:t>and tray loading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A21709D-95A0-E354-3FDB-0D094FD0108F}"/>
              </a:ext>
            </a:extLst>
          </p:cNvPr>
          <p:cNvGrpSpPr/>
          <p:nvPr/>
        </p:nvGrpSpPr>
        <p:grpSpPr>
          <a:xfrm>
            <a:off x="607847" y="2355165"/>
            <a:ext cx="12919781" cy="6497380"/>
            <a:chOff x="-402455" y="1780867"/>
            <a:chExt cx="20552996" cy="11243587"/>
          </a:xfrm>
        </p:grpSpPr>
        <p:pic>
          <p:nvPicPr>
            <p:cNvPr id="70" name="图片 6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10795" y="1780867"/>
              <a:ext cx="10662235" cy="11243587"/>
            </a:xfrm>
            <a:prstGeom prst="rect">
              <a:avLst/>
            </a:prstGeom>
          </p:spPr>
        </p:pic>
        <p:grpSp>
          <p:nvGrpSpPr>
            <p:cNvPr id="71" name="组合 70"/>
            <p:cNvGrpSpPr/>
            <p:nvPr/>
          </p:nvGrpSpPr>
          <p:grpSpPr>
            <a:xfrm>
              <a:off x="15015673" y="6296491"/>
              <a:ext cx="5134705" cy="1792605"/>
              <a:chOff x="5756" y="10676"/>
              <a:chExt cx="7456" cy="2823"/>
            </a:xfrm>
          </p:grpSpPr>
          <p:sp>
            <p:nvSpPr>
              <p:cNvPr id="123" name="圆角矩形 23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853" y="10676"/>
                <a:ext cx="5359" cy="282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Full</a:t>
                </a:r>
                <a:r>
                  <a:rPr kumimoji="1" lang="en-US" altLang="zh-CN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Tray </a:t>
                </a:r>
              </a:p>
              <a:p>
                <a:pPr algn="ctr">
                  <a:spcBef>
                    <a:spcPts val="0"/>
                  </a:spcBef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with products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124" name="肘形连接符 123"/>
              <p:cNvCxnSpPr>
                <a:stCxn id="123" idx="1"/>
              </p:cNvCxnSpPr>
              <p:nvPr/>
            </p:nvCxnSpPr>
            <p:spPr>
              <a:xfrm rot="10800000">
                <a:off x="5756" y="10987"/>
                <a:ext cx="2097" cy="110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73" name="组合 72"/>
            <p:cNvGrpSpPr/>
            <p:nvPr/>
          </p:nvGrpSpPr>
          <p:grpSpPr>
            <a:xfrm>
              <a:off x="-402322" y="4974050"/>
              <a:ext cx="7219823" cy="2039375"/>
              <a:chOff x="3842" y="11714"/>
              <a:chExt cx="14795" cy="3381"/>
            </a:xfrm>
          </p:grpSpPr>
          <p:sp>
            <p:nvSpPr>
              <p:cNvPr id="119" name="圆角矩形 23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842" y="11714"/>
                <a:ext cx="10148" cy="252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Return</a:t>
                </a:r>
                <a:r>
                  <a:rPr kumimoji="1" lang="en-US" altLang="zh-CN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the empty fixtures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120" name="肘形连接符 119"/>
              <p:cNvCxnSpPr>
                <a:stCxn id="119" idx="3"/>
              </p:cNvCxnSpPr>
              <p:nvPr/>
            </p:nvCxnSpPr>
            <p:spPr>
              <a:xfrm>
                <a:off x="13990" y="12974"/>
                <a:ext cx="4647" cy="2121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76" name="组合 75"/>
            <p:cNvGrpSpPr/>
            <p:nvPr/>
          </p:nvGrpSpPr>
          <p:grpSpPr>
            <a:xfrm>
              <a:off x="-402455" y="8263453"/>
              <a:ext cx="8415020" cy="2943225"/>
              <a:chOff x="4769" y="8764"/>
              <a:chExt cx="13252" cy="4635"/>
            </a:xfrm>
          </p:grpSpPr>
          <p:sp>
            <p:nvSpPr>
              <p:cNvPr id="115" name="圆角矩形 23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4769" y="11050"/>
                <a:ext cx="7380" cy="234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Incoming</a:t>
                </a:r>
                <a:r>
                  <a:rPr kumimoji="1" lang="en-US" altLang="zh-CN" sz="24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fixtures with products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116" name="肘形连接符 115"/>
              <p:cNvCxnSpPr>
                <a:stCxn id="115" idx="3"/>
              </p:cNvCxnSpPr>
              <p:nvPr/>
            </p:nvCxnSpPr>
            <p:spPr>
              <a:xfrm flipV="1">
                <a:off x="12149" y="8764"/>
                <a:ext cx="5872" cy="3460"/>
              </a:xfrm>
              <a:prstGeom prst="bentConnector3">
                <a:avLst>
                  <a:gd name="adj1" fmla="val 58833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78" name="组合 77"/>
            <p:cNvGrpSpPr/>
            <p:nvPr/>
          </p:nvGrpSpPr>
          <p:grpSpPr>
            <a:xfrm>
              <a:off x="12698927" y="8138891"/>
              <a:ext cx="7451614" cy="2069465"/>
              <a:chOff x="2464" y="11271"/>
              <a:chExt cx="10744" cy="3259"/>
            </a:xfrm>
          </p:grpSpPr>
          <p:sp>
            <p:nvSpPr>
              <p:cNvPr id="111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7887" y="12991"/>
                <a:ext cx="5321" cy="153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Empty Tray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112" name="肘形连接符 111"/>
              <p:cNvCxnSpPr>
                <a:stCxn id="111" idx="1"/>
              </p:cNvCxnSpPr>
              <p:nvPr/>
            </p:nvCxnSpPr>
            <p:spPr>
              <a:xfrm rot="10800000">
                <a:off x="2464" y="11271"/>
                <a:ext cx="5423" cy="2489"/>
              </a:xfrm>
              <a:prstGeom prst="bentConnector3">
                <a:avLst>
                  <a:gd name="adj1" fmla="val 69702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79"/>
            <p:cNvGrpSpPr/>
            <p:nvPr/>
          </p:nvGrpSpPr>
          <p:grpSpPr>
            <a:xfrm>
              <a:off x="10522804" y="2834893"/>
              <a:ext cx="9627572" cy="2627420"/>
              <a:chOff x="-615" y="11714"/>
              <a:chExt cx="13980" cy="4430"/>
            </a:xfrm>
          </p:grpSpPr>
          <p:sp>
            <p:nvSpPr>
              <p:cNvPr id="81" name="圆角矩形 23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7890" y="11714"/>
                <a:ext cx="5475" cy="320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defTabSz="914400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dirty="0">
                    <a:cs typeface="Arial" panose="020B0604020202020204" pitchFamily="34" charset="0"/>
                  </a:rPr>
                  <a:t>Laser device</a:t>
                </a:r>
              </a:p>
            </p:txBody>
          </p:sp>
          <p:cxnSp>
            <p:nvCxnSpPr>
              <p:cNvPr id="82" name="肘形连接符 81"/>
              <p:cNvCxnSpPr>
                <a:stCxn id="81" idx="1"/>
              </p:cNvCxnSpPr>
              <p:nvPr/>
            </p:nvCxnSpPr>
            <p:spPr>
              <a:xfrm rot="10800000" flipV="1">
                <a:off x="-615" y="13315"/>
                <a:ext cx="8505" cy="2829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箭头: 右 13">
            <a:extLst>
              <a:ext uri="{FF2B5EF4-FFF2-40B4-BE49-F238E27FC236}">
                <a16:creationId xmlns:a16="http://schemas.microsoft.com/office/drawing/2014/main" id="{49062413-8F6F-198A-2902-39DD2CE98538}"/>
              </a:ext>
            </a:extLst>
          </p:cNvPr>
          <p:cNvSpPr/>
          <p:nvPr/>
        </p:nvSpPr>
        <p:spPr>
          <a:xfrm>
            <a:off x="14391658" y="10913631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箭头: 右 13">
            <a:extLst>
              <a:ext uri="{FF2B5EF4-FFF2-40B4-BE49-F238E27FC236}">
                <a16:creationId xmlns:a16="http://schemas.microsoft.com/office/drawing/2014/main" id="{A3D981D8-E734-713C-FBF5-7919E809542B}"/>
              </a:ext>
            </a:extLst>
          </p:cNvPr>
          <p:cNvSpPr/>
          <p:nvPr/>
        </p:nvSpPr>
        <p:spPr>
          <a:xfrm>
            <a:off x="9367321" y="10941681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B6865BB-C1A2-8F0D-EC8A-F3A9B9C2B49B}"/>
              </a:ext>
            </a:extLst>
          </p:cNvPr>
          <p:cNvSpPr txBox="1"/>
          <p:nvPr/>
        </p:nvSpPr>
        <p:spPr>
          <a:xfrm>
            <a:off x="4499794" y="12516009"/>
            <a:ext cx="4485418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Draw the product from the fixture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DA38DC58-1D9D-516C-65D6-3D7058904B94}"/>
              </a:ext>
            </a:extLst>
          </p:cNvPr>
          <p:cNvSpPr txBox="1"/>
          <p:nvPr/>
        </p:nvSpPr>
        <p:spPr>
          <a:xfrm>
            <a:off x="10599373" y="12519862"/>
            <a:ext cx="3168385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Glue cleaning by laser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DBEDA7B9-1403-3B43-9381-4D458808D50E}"/>
              </a:ext>
            </a:extLst>
          </p:cNvPr>
          <p:cNvSpPr txBox="1"/>
          <p:nvPr/>
        </p:nvSpPr>
        <p:spPr>
          <a:xfrm>
            <a:off x="20272074" y="12502607"/>
            <a:ext cx="3313786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/>
              <a:t>Full t</a:t>
            </a: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ray with products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130" name="箭头: 右 13">
            <a:extLst>
              <a:ext uri="{FF2B5EF4-FFF2-40B4-BE49-F238E27FC236}">
                <a16:creationId xmlns:a16="http://schemas.microsoft.com/office/drawing/2014/main" id="{D2233CB0-595F-9C77-54F1-E48C73CC4392}"/>
              </a:ext>
            </a:extLst>
          </p:cNvPr>
          <p:cNvSpPr/>
          <p:nvPr/>
        </p:nvSpPr>
        <p:spPr>
          <a:xfrm>
            <a:off x="3968806" y="10913631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" name="图片 130">
            <a:extLst>
              <a:ext uri="{FF2B5EF4-FFF2-40B4-BE49-F238E27FC236}">
                <a16:creationId xmlns:a16="http://schemas.microsoft.com/office/drawing/2014/main" id="{7FDEE8EA-FD66-C77E-036E-29D00A4457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587" y="10113030"/>
            <a:ext cx="2460285" cy="1883472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7AD7E233-A352-50B7-3889-80BAFEBF3D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5146371" y="9428948"/>
            <a:ext cx="3297325" cy="2880000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12825237-7449-DF54-88DF-8755F1560F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20797980" y="9470171"/>
            <a:ext cx="2406570" cy="316919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17962"/>
              </p:ext>
            </p:extLst>
          </p:nvPr>
        </p:nvGraphicFramePr>
        <p:xfrm>
          <a:off x="14103272" y="2313796"/>
          <a:ext cx="9627185" cy="5917209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323803">
                  <a:extLst>
                    <a:ext uri="{9D8B030D-6E8A-4147-A177-3AD203B41FA5}">
                      <a16:colId xmlns:a16="http://schemas.microsoft.com/office/drawing/2014/main" val="2787967383"/>
                    </a:ext>
                  </a:extLst>
                </a:gridCol>
                <a:gridCol w="2912124">
                  <a:extLst>
                    <a:ext uri="{9D8B030D-6E8A-4147-A177-3AD203B41FA5}">
                      <a16:colId xmlns:a16="http://schemas.microsoft.com/office/drawing/2014/main" val="1033458575"/>
                    </a:ext>
                  </a:extLst>
                </a:gridCol>
                <a:gridCol w="4391258">
                  <a:extLst>
                    <a:ext uri="{9D8B030D-6E8A-4147-A177-3AD203B41FA5}">
                      <a16:colId xmlns:a16="http://schemas.microsoft.com/office/drawing/2014/main" val="1431514249"/>
                    </a:ext>
                  </a:extLst>
                </a:gridCol>
              </a:tblGrid>
              <a:tr h="1020209">
                <a:tc gridSpan="3"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3000" b="1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Glue cleaning parameter</a:t>
                      </a:r>
                      <a:r>
                        <a:rPr lang="en-US" altLang="zh-CN" sz="3000" b="1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s</a:t>
                      </a:r>
                      <a:endParaRPr lang="en-US" sz="3000" b="1" dirty="0">
                        <a:latin typeface="Arial" panose="020B0604020202020204" pitchFamily="34" charset="0"/>
                        <a:ea typeface="Arial" panose="020B060402020202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669997"/>
                  </a:ext>
                </a:extLst>
              </a:tr>
              <a:tr h="612125">
                <a:tc rowSpan="4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Glue cleaning Machine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cleaning machine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14478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GM-C02-60-MR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876716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Vendor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Guoyu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470263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Rated power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60 W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654781"/>
                  </a:ext>
                </a:extLst>
              </a:tr>
              <a:tr h="612125">
                <a:tc rowSpan="4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Parameter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s</a:t>
                      </a:r>
                      <a:endParaRPr sz="2400" dirty="0">
                        <a:latin typeface="Arial" panose="020B0604020202020204" pitchFamily="34" charset="0"/>
                        <a:ea typeface="Arial" panose="020B060402020202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power 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42~54 W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074570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speed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2500~4000 mm/s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241583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Q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frequency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10~20 KHz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960755"/>
                  </a:ext>
                </a:extLst>
              </a:tr>
              <a:tr h="6121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Fill the gap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0.025~0.04 mm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631854"/>
                  </a:ext>
                </a:extLst>
              </a:tr>
            </a:tbl>
          </a:graphicData>
        </a:graphic>
      </p:graphicFrame>
      <p:pic>
        <p:nvPicPr>
          <p:cNvPr id="135" name="图片 134"/>
          <p:cNvPicPr>
            <a:picLocks noChangeAspect="1"/>
          </p:cNvPicPr>
          <p:nvPr/>
        </p:nvPicPr>
        <p:blipFill rotWithShape="1">
          <a:blip r:embed="rId11"/>
          <a:srcRect b="11504"/>
          <a:stretch/>
        </p:blipFill>
        <p:spPr>
          <a:xfrm>
            <a:off x="10755767" y="9455309"/>
            <a:ext cx="2771757" cy="2880000"/>
          </a:xfrm>
          <a:prstGeom prst="rect">
            <a:avLst/>
          </a:prstGeom>
        </p:spPr>
      </p:pic>
      <p:pic>
        <p:nvPicPr>
          <p:cNvPr id="142" name="图片 1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20613" y="9437595"/>
            <a:ext cx="3196251" cy="28800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9B6865BB-C1A2-8F0D-EC8A-F3A9B9C2B49B}"/>
              </a:ext>
            </a:extLst>
          </p:cNvPr>
          <p:cNvSpPr txBox="1"/>
          <p:nvPr/>
        </p:nvSpPr>
        <p:spPr>
          <a:xfrm>
            <a:off x="607847" y="12532304"/>
            <a:ext cx="2949916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Products in the fixture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BEDA7B9-1403-3B43-9381-4D458808D50E}"/>
              </a:ext>
            </a:extLst>
          </p:cNvPr>
          <p:cNvSpPr txBox="1"/>
          <p:nvPr/>
        </p:nvSpPr>
        <p:spPr>
          <a:xfrm>
            <a:off x="14844625" y="12502608"/>
            <a:ext cx="4712898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000" dirty="0"/>
              <a:t>Put the cleaned products into the tray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46" name="箭头: 右 13">
            <a:extLst>
              <a:ext uri="{FF2B5EF4-FFF2-40B4-BE49-F238E27FC236}">
                <a16:creationId xmlns:a16="http://schemas.microsoft.com/office/drawing/2014/main" id="{49062413-8F6F-198A-2902-39DD2CE98538}"/>
              </a:ext>
            </a:extLst>
          </p:cNvPr>
          <p:cNvSpPr/>
          <p:nvPr/>
        </p:nvSpPr>
        <p:spPr>
          <a:xfrm>
            <a:off x="19485149" y="10941681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63688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X1758 / Revision list："/>
          <p:cNvSpPr txBox="1"/>
          <p:nvPr/>
        </p:nvSpPr>
        <p:spPr>
          <a:xfrm>
            <a:off x="339938" y="924451"/>
            <a:ext cx="15376606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6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600" dirty="0">
                <a:solidFill>
                  <a:schemeClr val="tx1"/>
                </a:solidFill>
                <a:ea typeface="宋体" panose="02010600030101010101" pitchFamily="2" charset="-122"/>
              </a:rPr>
              <a:t>STEP2 – Semi-product loading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0DB3051-53B4-934F-1188-398695E3DB10}"/>
              </a:ext>
            </a:extLst>
          </p:cNvPr>
          <p:cNvGrpSpPr/>
          <p:nvPr/>
        </p:nvGrpSpPr>
        <p:grpSpPr>
          <a:xfrm>
            <a:off x="436338" y="2122536"/>
            <a:ext cx="10933254" cy="6945796"/>
            <a:chOff x="2581883" y="2733357"/>
            <a:chExt cx="14403732" cy="903140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81883" y="2733357"/>
              <a:ext cx="10789963" cy="9031408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/>
          </p:nvGrpSpPr>
          <p:grpSpPr>
            <a:xfrm>
              <a:off x="9722485" y="5260975"/>
              <a:ext cx="7216140" cy="1631950"/>
              <a:chOff x="-4362" y="9108"/>
              <a:chExt cx="11364" cy="2570"/>
            </a:xfrm>
          </p:grpSpPr>
          <p:sp>
            <p:nvSpPr>
              <p:cNvPr id="28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282" y="10168"/>
                <a:ext cx="6720" cy="151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Shortage detection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29" name="肘形连接符 28"/>
              <p:cNvCxnSpPr/>
              <p:nvPr/>
            </p:nvCxnSpPr>
            <p:spPr>
              <a:xfrm rot="10800000">
                <a:off x="-4362" y="9108"/>
                <a:ext cx="4639" cy="177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/>
            <p:cNvGrpSpPr/>
            <p:nvPr/>
          </p:nvGrpSpPr>
          <p:grpSpPr>
            <a:xfrm>
              <a:off x="7198995" y="6915785"/>
              <a:ext cx="9786620" cy="2192655"/>
              <a:chOff x="14407" y="7875"/>
              <a:chExt cx="15412" cy="3453"/>
            </a:xfrm>
          </p:grpSpPr>
          <p:sp>
            <p:nvSpPr>
              <p:cNvPr id="20" name="圆角矩形 23"/>
              <p:cNvSpPr>
                <a:spLocks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23020" y="9920"/>
                <a:ext cx="6799" cy="14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ClrTx/>
                  <a:buSzTx/>
                  <a:buFontTx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Semi-product tray</a:t>
                </a: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21" name="肘形连接符 20"/>
              <p:cNvCxnSpPr>
                <a:stCxn id="20" idx="1"/>
              </p:cNvCxnSpPr>
              <p:nvPr/>
            </p:nvCxnSpPr>
            <p:spPr>
              <a:xfrm rot="10800000">
                <a:off x="14407" y="7875"/>
                <a:ext cx="8613" cy="2749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箭头: 右 13">
            <a:extLst>
              <a:ext uri="{FF2B5EF4-FFF2-40B4-BE49-F238E27FC236}">
                <a16:creationId xmlns:a16="http://schemas.microsoft.com/office/drawing/2014/main" id="{655D5DAB-5513-0041-F536-B0222C3E51C3}"/>
              </a:ext>
            </a:extLst>
          </p:cNvPr>
          <p:cNvSpPr/>
          <p:nvPr/>
        </p:nvSpPr>
        <p:spPr>
          <a:xfrm>
            <a:off x="13050996" y="10731973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4524941" y="12437476"/>
            <a:ext cx="3232042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Draw the </a:t>
            </a:r>
            <a:r>
              <a:rPr lang="en-US" altLang="zh-CN" sz="2000" dirty="0" err="1"/>
              <a:t>smei</a:t>
            </a:r>
            <a:r>
              <a:rPr lang="en-US" altLang="zh-CN" sz="2000" dirty="0"/>
              <a:t>-product from the tray</a:t>
            </a:r>
          </a:p>
        </p:txBody>
      </p:sp>
      <p:sp>
        <p:nvSpPr>
          <p:cNvPr id="35" name="箭头: 右 13">
            <a:extLst>
              <a:ext uri="{FF2B5EF4-FFF2-40B4-BE49-F238E27FC236}">
                <a16:creationId xmlns:a16="http://schemas.microsoft.com/office/drawing/2014/main" id="{59EB144A-9CE2-59EF-F982-27D587D8629D}"/>
              </a:ext>
            </a:extLst>
          </p:cNvPr>
          <p:cNvSpPr/>
          <p:nvPr/>
        </p:nvSpPr>
        <p:spPr>
          <a:xfrm>
            <a:off x="3702770" y="10731972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3622F767-7E95-74FB-BC2C-F83C9A88A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32" y="9770078"/>
            <a:ext cx="2181348" cy="207213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84B5709C-8701-378F-7CF8-8A3BCB438BF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768" t="6758" r="35940" b="22738"/>
          <a:stretch/>
        </p:blipFill>
        <p:spPr>
          <a:xfrm>
            <a:off x="5008958" y="9085913"/>
            <a:ext cx="2268842" cy="307865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987A72B-21A6-109A-3AB6-447B74F8E6FC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107374" y="8998376"/>
            <a:ext cx="2067540" cy="3467195"/>
          </a:xfrm>
          <a:prstGeom prst="rect">
            <a:avLst/>
          </a:prstGeom>
        </p:spPr>
      </p:pic>
      <p:sp>
        <p:nvSpPr>
          <p:cNvPr id="39" name="箭头: 右 13">
            <a:extLst>
              <a:ext uri="{FF2B5EF4-FFF2-40B4-BE49-F238E27FC236}">
                <a16:creationId xmlns:a16="http://schemas.microsoft.com/office/drawing/2014/main" id="{5AC3A5A3-42C6-03EC-F99A-2FC57072F139}"/>
              </a:ext>
            </a:extLst>
          </p:cNvPr>
          <p:cNvSpPr/>
          <p:nvPr/>
        </p:nvSpPr>
        <p:spPr>
          <a:xfrm>
            <a:off x="18395776" y="10737198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F1B503C-3522-30FC-44D7-60F9FF5830DC}"/>
              </a:ext>
            </a:extLst>
          </p:cNvPr>
          <p:cNvGrpSpPr/>
          <p:nvPr/>
        </p:nvGrpSpPr>
        <p:grpSpPr>
          <a:xfrm>
            <a:off x="15708117" y="2299045"/>
            <a:ext cx="5840137" cy="1089953"/>
            <a:chOff x="322685" y="3326856"/>
            <a:chExt cx="2885360" cy="1080000"/>
          </a:xfrm>
        </p:grpSpPr>
        <p:sp>
          <p:nvSpPr>
            <p:cNvPr id="42" name="圆角矩形">
              <a:extLst>
                <a:ext uri="{FF2B5EF4-FFF2-40B4-BE49-F238E27FC236}">
                  <a16:creationId xmlns:a16="http://schemas.microsoft.com/office/drawing/2014/main" id="{79849B07-BEB8-4807-F896-B2A65F67E979}"/>
                </a:ext>
              </a:extLst>
            </p:cNvPr>
            <p:cNvSpPr/>
            <p:nvPr/>
          </p:nvSpPr>
          <p:spPr>
            <a:xfrm>
              <a:off x="322685" y="3326856"/>
              <a:ext cx="2885360" cy="1080000"/>
            </a:xfrm>
            <a:prstGeom prst="roundRect">
              <a:avLst>
                <a:gd name="adj" fmla="val 21269"/>
              </a:avLst>
            </a:prstGeom>
            <a:solidFill>
              <a:srgbClr val="FFFFCC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>
                <a:spcBef>
                  <a:spcPts val="2000"/>
                </a:spcBef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000" dirty="0"/>
            </a:p>
          </p:txBody>
        </p:sp>
        <p:sp>
          <p:nvSpPr>
            <p:cNvPr id="43" name="Magnet Loading">
              <a:extLst>
                <a:ext uri="{FF2B5EF4-FFF2-40B4-BE49-F238E27FC236}">
                  <a16:creationId xmlns:a16="http://schemas.microsoft.com/office/drawing/2014/main" id="{61D3EF80-2A4C-20EA-B784-44F715547AF2}"/>
                </a:ext>
              </a:extLst>
            </p:cNvPr>
            <p:cNvSpPr txBox="1"/>
            <p:nvPr/>
          </p:nvSpPr>
          <p:spPr>
            <a:xfrm>
              <a:off x="415371" y="3592388"/>
              <a:ext cx="2792674" cy="5489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altLang="zh-CN" sz="2400" dirty="0"/>
                <a:t>The Step-2 fixture design overview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A8105CA-6BA0-D65D-9A57-1F710F1C81EC}"/>
              </a:ext>
            </a:extLst>
          </p:cNvPr>
          <p:cNvGrpSpPr/>
          <p:nvPr/>
        </p:nvGrpSpPr>
        <p:grpSpPr>
          <a:xfrm flipH="1">
            <a:off x="15155251" y="4210103"/>
            <a:ext cx="7800160" cy="3682052"/>
            <a:chOff x="-2115032" y="4301403"/>
            <a:chExt cx="9484754" cy="5328343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1A3B366D-7E08-1ED3-5D68-AA9982777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26401" y="4688310"/>
              <a:ext cx="4681361" cy="4941436"/>
            </a:xfrm>
            <a:prstGeom prst="rect">
              <a:avLst/>
            </a:prstGeom>
          </p:spPr>
        </p:pic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C298C952-75F6-5578-0161-BA3EF69F717E}"/>
                </a:ext>
              </a:extLst>
            </p:cNvPr>
            <p:cNvGrpSpPr/>
            <p:nvPr/>
          </p:nvGrpSpPr>
          <p:grpSpPr>
            <a:xfrm flipH="1">
              <a:off x="-2115032" y="4301403"/>
              <a:ext cx="9484754" cy="4159447"/>
              <a:chOff x="404868" y="4301403"/>
              <a:chExt cx="9484754" cy="4159447"/>
            </a:xfrm>
          </p:grpSpPr>
          <p:cxnSp>
            <p:nvCxnSpPr>
              <p:cNvPr id="47" name="直接箭头连接符 46">
                <a:extLst>
                  <a:ext uri="{FF2B5EF4-FFF2-40B4-BE49-F238E27FC236}">
                    <a16:creationId xmlns:a16="http://schemas.microsoft.com/office/drawing/2014/main" id="{310C6073-1E6A-1FF4-D75F-16A6957CA9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74199" y="7377105"/>
                <a:ext cx="949349" cy="467922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prstDash val="lgDash"/>
                <a:tailEnd type="triangle"/>
              </a:ln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Magnet Loading">
                <a:extLst>
                  <a:ext uri="{FF2B5EF4-FFF2-40B4-BE49-F238E27FC236}">
                    <a16:creationId xmlns:a16="http://schemas.microsoft.com/office/drawing/2014/main" id="{56E4A8FD-E5E0-3666-DD57-51F71AF4C6AE}"/>
                  </a:ext>
                </a:extLst>
              </p:cNvPr>
              <p:cNvSpPr txBox="1"/>
              <p:nvPr/>
            </p:nvSpPr>
            <p:spPr>
              <a:xfrm flipH="1">
                <a:off x="6823547" y="7481010"/>
                <a:ext cx="2989089" cy="9798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Fixture base</a:t>
                </a:r>
              </a:p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Material:SUS304</a:t>
                </a:r>
                <a:endParaRPr lang="zh-CN" altLang="en-US" sz="1600" dirty="0"/>
              </a:p>
            </p:txBody>
          </p:sp>
          <p:sp>
            <p:nvSpPr>
              <p:cNvPr id="52" name="Magnet Loading">
                <a:extLst>
                  <a:ext uri="{FF2B5EF4-FFF2-40B4-BE49-F238E27FC236}">
                    <a16:creationId xmlns:a16="http://schemas.microsoft.com/office/drawing/2014/main" id="{2754FFCC-4BEC-9DEF-514E-FBCB6798B133}"/>
                  </a:ext>
                </a:extLst>
              </p:cNvPr>
              <p:cNvSpPr txBox="1"/>
              <p:nvPr/>
            </p:nvSpPr>
            <p:spPr>
              <a:xfrm flipH="1">
                <a:off x="6936410" y="5966131"/>
                <a:ext cx="2953212" cy="9798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Fixture Cover</a:t>
                </a:r>
              </a:p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Material: SUS304</a:t>
                </a:r>
              </a:p>
            </p:txBody>
          </p:sp>
          <p:sp>
            <p:nvSpPr>
              <p:cNvPr id="53" name="Magnet Loading">
                <a:extLst>
                  <a:ext uri="{FF2B5EF4-FFF2-40B4-BE49-F238E27FC236}">
                    <a16:creationId xmlns:a16="http://schemas.microsoft.com/office/drawing/2014/main" id="{D42C24EA-5E7F-0881-A67D-A6C1C0D3C2A0}"/>
                  </a:ext>
                </a:extLst>
              </p:cNvPr>
              <p:cNvSpPr txBox="1"/>
              <p:nvPr/>
            </p:nvSpPr>
            <p:spPr>
              <a:xfrm flipH="1">
                <a:off x="404868" y="4301403"/>
                <a:ext cx="3764727" cy="6235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600" dirty="0"/>
                  <a:t>18x fool-proofing magnets</a:t>
                </a:r>
                <a:endParaRPr lang="zh-CN" altLang="en-US" sz="1600" dirty="0"/>
              </a:p>
            </p:txBody>
          </p:sp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99BCA3BD-0F9C-2EA1-E994-D737581CB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0143" y="4924933"/>
                <a:ext cx="899452" cy="495979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prstDash val="lgDash"/>
                <a:tailEnd type="triangle"/>
              </a:ln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B70907C-B4E1-24B4-42B9-29EB267EEABC}"/>
              </a:ext>
            </a:extLst>
          </p:cNvPr>
          <p:cNvCxnSpPr/>
          <p:nvPr/>
        </p:nvCxnSpPr>
        <p:spPr>
          <a:xfrm>
            <a:off x="13262422" y="2240189"/>
            <a:ext cx="0" cy="6334076"/>
          </a:xfrm>
          <a:prstGeom prst="line">
            <a:avLst/>
          </a:prstGeom>
          <a:noFill/>
          <a:ln w="19050" cap="flat">
            <a:solidFill>
              <a:schemeClr val="bg1">
                <a:lumMod val="50000"/>
              </a:schemeClr>
            </a:solidFill>
            <a:prstDash val="lgDash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6" name="图片 55">
            <a:extLst>
              <a:ext uri="{FF2B5EF4-FFF2-40B4-BE49-F238E27FC236}">
                <a16:creationId xmlns:a16="http://schemas.microsoft.com/office/drawing/2014/main" id="{00D49E9A-F20C-FA43-C716-D92742570BF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6378" y="9570793"/>
            <a:ext cx="2912166" cy="2271422"/>
          </a:xfrm>
          <a:prstGeom prst="rect">
            <a:avLst/>
          </a:prstGeom>
        </p:spPr>
      </p:pic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D9E9D24-BDAA-234D-3C6D-5D22CEACE88C}"/>
              </a:ext>
            </a:extLst>
          </p:cNvPr>
          <p:cNvCxnSpPr/>
          <p:nvPr/>
        </p:nvCxnSpPr>
        <p:spPr>
          <a:xfrm flipH="1">
            <a:off x="10936803" y="9225917"/>
            <a:ext cx="2042" cy="319918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2" name="图片 61">
            <a:extLst>
              <a:ext uri="{FF2B5EF4-FFF2-40B4-BE49-F238E27FC236}">
                <a16:creationId xmlns:a16="http://schemas.microsoft.com/office/drawing/2014/main" id="{9827203A-522C-C217-0091-3E8F9599D3C3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99390" y="9989477"/>
            <a:ext cx="2982154" cy="1903357"/>
          </a:xfrm>
          <a:prstGeom prst="rect">
            <a:avLst/>
          </a:prstGeom>
        </p:spPr>
      </p:pic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310C6073-1E6A-1FF4-D75F-16A6957CA9CE}"/>
              </a:ext>
            </a:extLst>
          </p:cNvPr>
          <p:cNvCxnSpPr>
            <a:cxnSpLocks/>
          </p:cNvCxnSpPr>
          <p:nvPr/>
        </p:nvCxnSpPr>
        <p:spPr>
          <a:xfrm flipH="1" flipV="1">
            <a:off x="19745987" y="5368032"/>
            <a:ext cx="780734" cy="323349"/>
          </a:xfrm>
          <a:prstGeom prst="straightConnector1">
            <a:avLst/>
          </a:prstGeom>
          <a:ln w="19050">
            <a:solidFill>
              <a:srgbClr val="0000FF"/>
            </a:solidFill>
            <a:prstDash val="lgDash"/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826102" y="12437476"/>
            <a:ext cx="2181348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 panose="020B0604020202030204"/>
              </a:rPr>
              <a:t>Empty fixture</a:t>
            </a:r>
            <a:endParaRPr kumimoji="0" lang="zh-CN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 panose="020B0604020202030204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9274474" y="12380727"/>
            <a:ext cx="2987450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put the </a:t>
            </a:r>
            <a:r>
              <a:rPr lang="en-US" altLang="zh-CN" sz="2000" dirty="0" err="1"/>
              <a:t>smei</a:t>
            </a:r>
            <a:r>
              <a:rPr lang="en-US" altLang="zh-CN" sz="2000" dirty="0"/>
              <a:t>-product into the fixture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4024007" y="12380727"/>
            <a:ext cx="3669164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The </a:t>
            </a:r>
            <a:r>
              <a:rPr lang="en-US" altLang="zh-CN" sz="2000" dirty="0" err="1"/>
              <a:t>smei</a:t>
            </a:r>
            <a:r>
              <a:rPr lang="en-US" altLang="zh-CN" sz="2000" dirty="0"/>
              <a:t>-product loaded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8860596" y="12380727"/>
            <a:ext cx="4679916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Detect the shortage by Hall Coil</a:t>
            </a:r>
            <a:endParaRPr kumimoji="1" lang="zh-CN" altLang="zh-CN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6" name="箭头: 右 13">
            <a:extLst>
              <a:ext uri="{FF2B5EF4-FFF2-40B4-BE49-F238E27FC236}">
                <a16:creationId xmlns:a16="http://schemas.microsoft.com/office/drawing/2014/main" id="{59EB144A-9CE2-59EF-F982-27D587D8629D}"/>
              </a:ext>
            </a:extLst>
          </p:cNvPr>
          <p:cNvSpPr/>
          <p:nvPr/>
        </p:nvSpPr>
        <p:spPr>
          <a:xfrm>
            <a:off x="8192032" y="10731972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60443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X1758 / Revision list："/>
          <p:cNvSpPr txBox="1"/>
          <p:nvPr/>
        </p:nvSpPr>
        <p:spPr>
          <a:xfrm>
            <a:off x="322684" y="855440"/>
            <a:ext cx="15753057" cy="1990280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4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400" dirty="0">
                <a:solidFill>
                  <a:srgbClr val="00B0F0"/>
                </a:solidFill>
              </a:rPr>
              <a:t>|</a:t>
            </a:r>
            <a:r>
              <a:rPr lang="en-US" altLang="zh-CN" sz="4400" dirty="0">
                <a:solidFill>
                  <a:schemeClr val="tx1"/>
                </a:solidFill>
              </a:rPr>
              <a:t> </a:t>
            </a:r>
            <a:r>
              <a:rPr lang="en-US" altLang="zh-CN" sz="4400" dirty="0">
                <a:solidFill>
                  <a:schemeClr val="tx1"/>
                </a:solidFill>
                <a:ea typeface="宋体" panose="02010600030101010101" pitchFamily="2" charset="-122"/>
              </a:rPr>
              <a:t>STEP2 -</a:t>
            </a:r>
            <a:r>
              <a:rPr lang="en-US" altLang="zh-CN" sz="46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</a:rPr>
              <a:t>Glue Dispensing</a:t>
            </a:r>
          </a:p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zh-CN" altLang="en-US" sz="46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78" y="2317630"/>
            <a:ext cx="7524750" cy="7010400"/>
          </a:xfrm>
          <a:prstGeom prst="rect">
            <a:avLst/>
          </a:prstGeom>
        </p:spPr>
      </p:pic>
      <p:graphicFrame>
        <p:nvGraphicFramePr>
          <p:cNvPr id="40" name="表格"/>
          <p:cNvGraphicFramePr/>
          <p:nvPr>
            <p:extLst>
              <p:ext uri="{D42A27DB-BD31-4B8C-83A1-F6EECF244321}">
                <p14:modId xmlns:p14="http://schemas.microsoft.com/office/powerpoint/2010/main" val="1814183926"/>
              </p:ext>
            </p:extLst>
          </p:nvPr>
        </p:nvGraphicFramePr>
        <p:xfrm>
          <a:off x="10077985" y="2484270"/>
          <a:ext cx="13489381" cy="7246325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99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91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5189">
                <a:tc gridSpan="3"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altLang="zh-CN" sz="3000" b="1" i="0" u="none" strike="noStrike" cap="none" spc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uFillTx/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The Step2 </a:t>
                      </a:r>
                      <a:r>
                        <a:rPr lang="en-US" altLang="zh-CN"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Dispensing </a:t>
                      </a:r>
                      <a:r>
                        <a:rPr lang="en-US"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3000" b="1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arameter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392">
                <a:tc rowSpan="5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HD 8540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Storage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2-8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℃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amount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2200" b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defRPr>
                      </a:pPr>
                      <a:r>
                        <a:rPr lang="en-US" altLang="zh-CN" sz="2400" dirty="0"/>
                        <a:t>1.10 ± 0.2 mg 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(a product)</a:t>
                      </a:r>
                      <a:endParaRPr lang="en-US" altLang="zh-CN" sz="24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position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As picture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altLang="zh-CN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point in center)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Open time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&lt; 60 S</a:t>
                      </a:r>
                      <a:endParaRPr sz="2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6392">
                <a:tc rowSpan="3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Glue Dispensing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MK-451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SZ</a:t>
                      </a:r>
                      <a:r>
                        <a:rPr sz="2400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Mix nozzle elements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16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639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Needle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22</a:t>
                      </a:r>
                      <a:r>
                        <a:rPr lang="en-US"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1" name="图片 40">
            <a:extLst>
              <a:ext uri="{FF2B5EF4-FFF2-40B4-BE49-F238E27FC236}">
                <a16:creationId xmlns:a16="http://schemas.microsoft.com/office/drawing/2014/main" id="{16D2048F-9124-D60B-9E41-A480B76EB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179" y="10385361"/>
            <a:ext cx="3514725" cy="2219325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7069A2EB-E4C2-9C8E-E3C9-80D25395EE09}"/>
              </a:ext>
            </a:extLst>
          </p:cNvPr>
          <p:cNvSpPr/>
          <p:nvPr/>
        </p:nvSpPr>
        <p:spPr>
          <a:xfrm>
            <a:off x="7348492" y="11853561"/>
            <a:ext cx="355417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3200" dirty="0"/>
              <a:t>Glue path diagram</a:t>
            </a:r>
            <a:endParaRPr lang="en-US" altLang="zh-CN" sz="3200" dirty="0"/>
          </a:p>
          <a:p>
            <a:pPr>
              <a:spcBef>
                <a:spcPts val="0"/>
              </a:spcBef>
            </a:pPr>
            <a:r>
              <a:rPr lang="en-US" altLang="zh-CN" sz="3200" dirty="0"/>
              <a:t>(yellow area)</a:t>
            </a:r>
            <a:endParaRPr lang="zh-CN" altLang="en-US" sz="3200" dirty="0"/>
          </a:p>
        </p:txBody>
      </p:sp>
      <p:sp>
        <p:nvSpPr>
          <p:cNvPr id="14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348492" y="2776589"/>
            <a:ext cx="1938328" cy="89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Glue path detection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5" name="肘形连接符 14"/>
          <p:cNvCxnSpPr/>
          <p:nvPr/>
        </p:nvCxnSpPr>
        <p:spPr>
          <a:xfrm rot="5400000">
            <a:off x="6554262" y="3513681"/>
            <a:ext cx="1062551" cy="525908"/>
          </a:xfrm>
          <a:prstGeom prst="bentConnector3">
            <a:avLst>
              <a:gd name="adj1" fmla="val 128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 flipV="1">
            <a:off x="4986068" y="11853561"/>
            <a:ext cx="2362425" cy="53861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23538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X1758 / Revision list："/>
          <p:cNvSpPr txBox="1"/>
          <p:nvPr/>
        </p:nvSpPr>
        <p:spPr>
          <a:xfrm>
            <a:off x="231245" y="860271"/>
            <a:ext cx="13742450" cy="101565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6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ea typeface="宋体" panose="02010600030101010101" pitchFamily="2" charset="-122"/>
              </a:rPr>
              <a:t>STEP2 –</a:t>
            </a:r>
            <a:r>
              <a:rPr lang="en-US" altLang="zh-CN" sz="54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600" dirty="0">
                <a:solidFill>
                  <a:schemeClr val="tx1"/>
                </a:solidFill>
                <a:ea typeface="宋体" panose="02010600030101010101" pitchFamily="2" charset="-122"/>
              </a:rPr>
              <a:t>Shunt loading</a:t>
            </a:r>
            <a:endParaRPr lang="zh-CN" altLang="en-US" sz="46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5CA7E0A-3E1D-670F-B496-F449A4FBF6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265"/>
          <a:stretch/>
        </p:blipFill>
        <p:spPr>
          <a:xfrm>
            <a:off x="7390233" y="9417940"/>
            <a:ext cx="2528003" cy="284884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9FC8378-25A5-6ED5-112F-446083FBB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4149" y="9370175"/>
            <a:ext cx="2113439" cy="3004549"/>
          </a:xfrm>
          <a:prstGeom prst="rect">
            <a:avLst/>
          </a:prstGeom>
        </p:spPr>
      </p:pic>
      <p:sp>
        <p:nvSpPr>
          <p:cNvPr id="17" name="箭头: 右 13">
            <a:extLst>
              <a:ext uri="{FF2B5EF4-FFF2-40B4-BE49-F238E27FC236}">
                <a16:creationId xmlns:a16="http://schemas.microsoft.com/office/drawing/2014/main" id="{BD6C5ECB-494C-CBBF-C67D-ECA46D82A98E}"/>
              </a:ext>
            </a:extLst>
          </p:cNvPr>
          <p:cNvSpPr/>
          <p:nvPr/>
        </p:nvSpPr>
        <p:spPr>
          <a:xfrm>
            <a:off x="5511867" y="10732273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箭头: 右 13">
            <a:extLst>
              <a:ext uri="{FF2B5EF4-FFF2-40B4-BE49-F238E27FC236}">
                <a16:creationId xmlns:a16="http://schemas.microsoft.com/office/drawing/2014/main" id="{3F9613E3-5E3E-E27C-D7E3-20653ED8F798}"/>
              </a:ext>
            </a:extLst>
          </p:cNvPr>
          <p:cNvSpPr/>
          <p:nvPr/>
        </p:nvSpPr>
        <p:spPr>
          <a:xfrm>
            <a:off x="11331782" y="10720820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箭头: 右 13">
            <a:extLst>
              <a:ext uri="{FF2B5EF4-FFF2-40B4-BE49-F238E27FC236}">
                <a16:creationId xmlns:a16="http://schemas.microsoft.com/office/drawing/2014/main" id="{8021084E-18CD-8B5E-690F-37BCC6CA13F9}"/>
              </a:ext>
            </a:extLst>
          </p:cNvPr>
          <p:cNvSpPr/>
          <p:nvPr/>
        </p:nvSpPr>
        <p:spPr>
          <a:xfrm>
            <a:off x="16873540" y="10684548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76BA1D8-D152-439C-A7FF-C96C733C4427}"/>
              </a:ext>
            </a:extLst>
          </p:cNvPr>
          <p:cNvGrpSpPr/>
          <p:nvPr/>
        </p:nvGrpSpPr>
        <p:grpSpPr>
          <a:xfrm>
            <a:off x="248523" y="2182595"/>
            <a:ext cx="9661167" cy="6317232"/>
            <a:chOff x="3088395" y="2850909"/>
            <a:chExt cx="19293978" cy="10200865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88395" y="2850909"/>
              <a:ext cx="12376992" cy="10200865"/>
            </a:xfrm>
            <a:prstGeom prst="rect">
              <a:avLst/>
            </a:prstGeom>
          </p:spPr>
        </p:pic>
        <p:grpSp>
          <p:nvGrpSpPr>
            <p:cNvPr id="29" name="组合 28"/>
            <p:cNvGrpSpPr/>
            <p:nvPr/>
          </p:nvGrpSpPr>
          <p:grpSpPr>
            <a:xfrm>
              <a:off x="11497590" y="6533515"/>
              <a:ext cx="10884783" cy="1116965"/>
              <a:chOff x="-6930" y="10434"/>
              <a:chExt cx="19643" cy="1759"/>
            </a:xfrm>
          </p:grpSpPr>
          <p:sp>
            <p:nvSpPr>
              <p:cNvPr id="33" name="圆角矩形 23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>
                <a:off x="-345" y="10445"/>
                <a:ext cx="13058" cy="174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FF3300"/>
                </a:solidFill>
                <a:prstDash val="sysDash"/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170" tIns="46990" rIns="90170" bIns="46990" anchor="ctr">
                <a:no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1" lang="en-US" altLang="zh-CN" sz="2400" kern="1200" dirty="0">
                    <a:solidFill>
                      <a:prstClr val="black"/>
                    </a:solidFill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Shunt S</a:t>
                </a:r>
                <a:r>
                  <a:rPr kumimoji="1" lang="en-US" altLang="zh-CN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uction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 Nozzle</a:t>
                </a:r>
                <a:endParaRPr kumimoji="1" 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34" name="肘形连接符 33"/>
              <p:cNvCxnSpPr/>
              <p:nvPr/>
            </p:nvCxnSpPr>
            <p:spPr>
              <a:xfrm rot="10800000">
                <a:off x="-6930" y="10434"/>
                <a:ext cx="6585" cy="855"/>
              </a:xfrm>
              <a:prstGeom prst="bentConnector3">
                <a:avLst>
                  <a:gd name="adj1" fmla="val 38669"/>
                </a:avLst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3" name="直接连接符 73">
            <a:extLst>
              <a:ext uri="{FF2B5EF4-FFF2-40B4-BE49-F238E27FC236}">
                <a16:creationId xmlns:a16="http://schemas.microsoft.com/office/drawing/2014/main" id="{2A943ED0-E424-43BE-39FE-1070FFB68810}"/>
              </a:ext>
            </a:extLst>
          </p:cNvPr>
          <p:cNvCxnSpPr/>
          <p:nvPr/>
        </p:nvCxnSpPr>
        <p:spPr>
          <a:xfrm>
            <a:off x="11452840" y="2285271"/>
            <a:ext cx="0" cy="6737959"/>
          </a:xfrm>
          <a:prstGeom prst="line">
            <a:avLst/>
          </a:prstGeom>
          <a:noFill/>
          <a:ln w="19050" cap="flat">
            <a:solidFill>
              <a:schemeClr val="bg1">
                <a:lumMod val="50000"/>
              </a:schemeClr>
            </a:solidFill>
            <a:prstDash val="lgDash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16A622C-C6F4-FAC7-2FCE-649C08D7C5AF}"/>
              </a:ext>
            </a:extLst>
          </p:cNvPr>
          <p:cNvGrpSpPr/>
          <p:nvPr/>
        </p:nvGrpSpPr>
        <p:grpSpPr>
          <a:xfrm>
            <a:off x="17042087" y="2401389"/>
            <a:ext cx="5600349" cy="916377"/>
            <a:chOff x="322685" y="3326856"/>
            <a:chExt cx="2885360" cy="1080000"/>
          </a:xfrm>
        </p:grpSpPr>
        <p:sp>
          <p:nvSpPr>
            <p:cNvPr id="45" name="圆角矩形">
              <a:extLst>
                <a:ext uri="{FF2B5EF4-FFF2-40B4-BE49-F238E27FC236}">
                  <a16:creationId xmlns:a16="http://schemas.microsoft.com/office/drawing/2014/main" id="{486CF07E-8B73-7E79-A3A6-61DED475F85C}"/>
                </a:ext>
              </a:extLst>
            </p:cNvPr>
            <p:cNvSpPr/>
            <p:nvPr/>
          </p:nvSpPr>
          <p:spPr>
            <a:xfrm>
              <a:off x="322685" y="3326856"/>
              <a:ext cx="2885360" cy="1080000"/>
            </a:xfrm>
            <a:prstGeom prst="roundRect">
              <a:avLst>
                <a:gd name="adj" fmla="val 21269"/>
              </a:avLst>
            </a:prstGeom>
            <a:solidFill>
              <a:srgbClr val="FFFFCC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>
                <a:spcBef>
                  <a:spcPts val="2000"/>
                </a:spcBef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000" dirty="0"/>
            </a:p>
          </p:txBody>
        </p:sp>
        <p:sp>
          <p:nvSpPr>
            <p:cNvPr id="46" name="Magnet Loading">
              <a:extLst>
                <a:ext uri="{FF2B5EF4-FFF2-40B4-BE49-F238E27FC236}">
                  <a16:creationId xmlns:a16="http://schemas.microsoft.com/office/drawing/2014/main" id="{0727544C-9C01-52FC-2669-79A2403CF8C8}"/>
                </a:ext>
              </a:extLst>
            </p:cNvPr>
            <p:cNvSpPr txBox="1"/>
            <p:nvPr/>
          </p:nvSpPr>
          <p:spPr>
            <a:xfrm>
              <a:off x="415371" y="3405194"/>
              <a:ext cx="2792674" cy="9233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altLang="zh-CN" sz="2400" dirty="0"/>
                <a:t>Shunt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Carrier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design overview</a:t>
              </a: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CEA156FF-528C-9093-D103-4DF823A44CB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7042087" y="4917889"/>
            <a:ext cx="2263123" cy="2069602"/>
          </a:xfrm>
          <a:prstGeom prst="rect">
            <a:avLst/>
          </a:prstGeom>
        </p:spPr>
      </p:pic>
      <p:sp>
        <p:nvSpPr>
          <p:cNvPr id="48" name="Magnet Loading">
            <a:extLst>
              <a:ext uri="{FF2B5EF4-FFF2-40B4-BE49-F238E27FC236}">
                <a16:creationId xmlns:a16="http://schemas.microsoft.com/office/drawing/2014/main" id="{026DBEF1-0493-BD78-18A1-0B0EFFCDCF83}"/>
              </a:ext>
            </a:extLst>
          </p:cNvPr>
          <p:cNvSpPr txBox="1"/>
          <p:nvPr/>
        </p:nvSpPr>
        <p:spPr>
          <a:xfrm>
            <a:off x="17382775" y="7473844"/>
            <a:ext cx="1922435" cy="492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" altLang="zh-CN" sz="2000" dirty="0"/>
              <a:t>Local view A</a:t>
            </a:r>
            <a:endParaRPr lang="en-US" altLang="zh-CN" sz="2000" dirty="0"/>
          </a:p>
        </p:txBody>
      </p:sp>
      <p:sp>
        <p:nvSpPr>
          <p:cNvPr id="49" name="Magnet Loading">
            <a:extLst>
              <a:ext uri="{FF2B5EF4-FFF2-40B4-BE49-F238E27FC236}">
                <a16:creationId xmlns:a16="http://schemas.microsoft.com/office/drawing/2014/main" id="{41FDE69C-DC91-1A73-6B61-3FD3CB643801}"/>
              </a:ext>
            </a:extLst>
          </p:cNvPr>
          <p:cNvSpPr txBox="1"/>
          <p:nvPr/>
        </p:nvSpPr>
        <p:spPr>
          <a:xfrm>
            <a:off x="19923067" y="7473844"/>
            <a:ext cx="1749011" cy="492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" altLang="zh-CN" sz="2000" dirty="0"/>
              <a:t>Local view B</a:t>
            </a:r>
            <a:endParaRPr lang="en-US" altLang="zh-CN" sz="20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04AC8606-24B9-7D75-0543-630BE68253B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9598854" y="4799400"/>
            <a:ext cx="2397439" cy="2361223"/>
          </a:xfrm>
          <a:prstGeom prst="rect">
            <a:avLst/>
          </a:prstGeom>
        </p:spPr>
      </p:pic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5B8E3E65-37D7-B8BA-2C1F-60CE076192F2}"/>
              </a:ext>
            </a:extLst>
          </p:cNvPr>
          <p:cNvCxnSpPr>
            <a:cxnSpLocks/>
          </p:cNvCxnSpPr>
          <p:nvPr/>
        </p:nvCxnSpPr>
        <p:spPr>
          <a:xfrm flipV="1">
            <a:off x="17761183" y="4839549"/>
            <a:ext cx="412465" cy="589288"/>
          </a:xfrm>
          <a:prstGeom prst="straightConnector1">
            <a:avLst/>
          </a:prstGeom>
          <a:ln w="19050">
            <a:solidFill>
              <a:srgbClr val="0000FF"/>
            </a:solidFill>
            <a:prstDash val="lgDash"/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Magnet Loading">
            <a:extLst>
              <a:ext uri="{FF2B5EF4-FFF2-40B4-BE49-F238E27FC236}">
                <a16:creationId xmlns:a16="http://schemas.microsoft.com/office/drawing/2014/main" id="{2A0CEE25-D451-2000-876E-2D5D2AB2AA79}"/>
              </a:ext>
            </a:extLst>
          </p:cNvPr>
          <p:cNvSpPr txBox="1"/>
          <p:nvPr/>
        </p:nvSpPr>
        <p:spPr>
          <a:xfrm>
            <a:off x="17836965" y="4305165"/>
            <a:ext cx="1294821" cy="492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altLang="zh-CN" sz="2000" dirty="0"/>
              <a:t>V -CUT</a:t>
            </a: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17F93BFB-4B0B-0AC8-A464-9F853283A324}"/>
              </a:ext>
            </a:extLst>
          </p:cNvPr>
          <p:cNvCxnSpPr>
            <a:cxnSpLocks/>
          </p:cNvCxnSpPr>
          <p:nvPr/>
        </p:nvCxnSpPr>
        <p:spPr>
          <a:xfrm flipH="1" flipV="1">
            <a:off x="20575574" y="4859770"/>
            <a:ext cx="549955" cy="521577"/>
          </a:xfrm>
          <a:prstGeom prst="straightConnector1">
            <a:avLst/>
          </a:prstGeom>
          <a:ln w="19050">
            <a:solidFill>
              <a:srgbClr val="0000FF"/>
            </a:solidFill>
            <a:prstDash val="lgDash"/>
            <a:tailEnd type="triangle"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Magnet Loading">
            <a:extLst>
              <a:ext uri="{FF2B5EF4-FFF2-40B4-BE49-F238E27FC236}">
                <a16:creationId xmlns:a16="http://schemas.microsoft.com/office/drawing/2014/main" id="{7AC77732-F26A-04A9-241A-81FE15CA4A73}"/>
              </a:ext>
            </a:extLst>
          </p:cNvPr>
          <p:cNvSpPr txBox="1"/>
          <p:nvPr/>
        </p:nvSpPr>
        <p:spPr>
          <a:xfrm>
            <a:off x="20143474" y="4359905"/>
            <a:ext cx="1173391" cy="492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91436" tIns="91436" rIns="91436" bIns="91436" numCol="1" anchor="ctr">
            <a:spAutoFit/>
          </a:bodyPr>
          <a:lstStyle>
            <a:lvl1pPr>
              <a:spcBef>
                <a:spcPts val="2000"/>
              </a:spcBef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altLang="zh-CN" sz="2000" dirty="0"/>
              <a:t>V -CUT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B12A0935-FF34-3317-2206-AEC920A663A7}"/>
              </a:ext>
            </a:extLst>
          </p:cNvPr>
          <p:cNvGrpSpPr/>
          <p:nvPr/>
        </p:nvGrpSpPr>
        <p:grpSpPr>
          <a:xfrm flipH="1">
            <a:off x="12966405" y="9256594"/>
            <a:ext cx="4416370" cy="3019098"/>
            <a:chOff x="4308243" y="5166361"/>
            <a:chExt cx="6333315" cy="4140660"/>
          </a:xfrm>
        </p:grpSpPr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D970657A-BCCA-EE7F-1EB3-C1FCD0513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6671843" y="5166361"/>
              <a:ext cx="3969715" cy="4140660"/>
            </a:xfrm>
            <a:prstGeom prst="rect">
              <a:avLst/>
            </a:prstGeom>
          </p:spPr>
        </p:pic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CB77728-94A3-7E53-CCC0-34E9937F3F71}"/>
                </a:ext>
              </a:extLst>
            </p:cNvPr>
            <p:cNvCxnSpPr/>
            <p:nvPr/>
          </p:nvCxnSpPr>
          <p:spPr>
            <a:xfrm flipH="1">
              <a:off x="7596206" y="7158622"/>
              <a:ext cx="23430" cy="68339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E74F3520-B971-FE1E-A0B5-9ECF38A7502F}"/>
                </a:ext>
              </a:extLst>
            </p:cNvPr>
            <p:cNvCxnSpPr/>
            <p:nvPr/>
          </p:nvCxnSpPr>
          <p:spPr>
            <a:xfrm>
              <a:off x="7619635" y="5621238"/>
              <a:ext cx="428537" cy="492801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lgDash"/>
              <a:tailEnd type="triangle"/>
            </a:ln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Magnet Loading">
              <a:extLst>
                <a:ext uri="{FF2B5EF4-FFF2-40B4-BE49-F238E27FC236}">
                  <a16:creationId xmlns:a16="http://schemas.microsoft.com/office/drawing/2014/main" id="{64D3A2DC-2435-1056-3AF1-7CA6FCC6FBA4}"/>
                </a:ext>
              </a:extLst>
            </p:cNvPr>
            <p:cNvSpPr txBox="1"/>
            <p:nvPr/>
          </p:nvSpPr>
          <p:spPr>
            <a:xfrm>
              <a:off x="4308243" y="5264874"/>
              <a:ext cx="3339652" cy="6753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 algn="l">
                <a:spcBef>
                  <a:spcPts val="0"/>
                </a:spcBef>
              </a:pPr>
              <a:r>
                <a:rPr lang="en-US" altLang="zh-CN" sz="2000" dirty="0"/>
                <a:t>Shunt Carrier</a:t>
              </a:r>
            </a:p>
          </p:txBody>
        </p:sp>
      </p:grpSp>
      <p:pic>
        <p:nvPicPr>
          <p:cNvPr id="61" name="图片 60">
            <a:extLst>
              <a:ext uri="{FF2B5EF4-FFF2-40B4-BE49-F238E27FC236}">
                <a16:creationId xmlns:a16="http://schemas.microsoft.com/office/drawing/2014/main" id="{2525C9EC-D649-55A3-1A6F-F3C5582486D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15003" y="9870054"/>
            <a:ext cx="2746679" cy="2337670"/>
          </a:xfrm>
          <a:prstGeom prst="rect">
            <a:avLst/>
          </a:prstGeom>
        </p:spPr>
      </p:pic>
      <p:sp>
        <p:nvSpPr>
          <p:cNvPr id="65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86456" y="2874159"/>
            <a:ext cx="3623234" cy="7382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Shunt Carrier Disc</a:t>
            </a:r>
            <a:endParaRPr kumimoji="1" lang="zh-CN" altLang="en-US" sz="24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66" name="肘形连接符 65"/>
          <p:cNvCxnSpPr/>
          <p:nvPr/>
        </p:nvCxnSpPr>
        <p:spPr>
          <a:xfrm rot="10800000">
            <a:off x="3353344" y="2693486"/>
            <a:ext cx="2933112" cy="531890"/>
          </a:xfrm>
          <a:prstGeom prst="bentConnector3">
            <a:avLst>
              <a:gd name="adj1" fmla="val 35883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691286" y="12388469"/>
            <a:ext cx="3312064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 shunt carrier disc conveys the shunt carrier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6975204" y="12384827"/>
            <a:ext cx="3312064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 shunt suction nozzle draws the shunt carrier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2624956" y="12384827"/>
            <a:ext cx="3312064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Put the shunt carrier on the product fixture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7E17B48-F664-CF37-0197-18D2D4384A13}"/>
              </a:ext>
            </a:extLst>
          </p:cNvPr>
          <p:cNvSpPr txBox="1"/>
          <p:nvPr/>
        </p:nvSpPr>
        <p:spPr>
          <a:xfrm>
            <a:off x="18173648" y="12374724"/>
            <a:ext cx="3312064" cy="820738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20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The shunt carrier attached on the product fixture</a:t>
            </a:r>
            <a:endParaRPr kumimoji="1" lang="zh-CN" altLang="en-US" sz="2000" kern="1200" dirty="0">
              <a:solidFill>
                <a:prstClr val="black"/>
              </a:solidFill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D6BF5F0-CA9F-45CB-2A68-6A595150B28B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90762" y="2059956"/>
            <a:ext cx="4257799" cy="674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930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X1758 / Revision list："/>
          <p:cNvSpPr txBox="1"/>
          <p:nvPr/>
        </p:nvSpPr>
        <p:spPr>
          <a:xfrm>
            <a:off x="322684" y="860271"/>
            <a:ext cx="18788275" cy="101565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ea typeface="宋体" panose="02010600030101010101" pitchFamily="2" charset="-122"/>
              </a:rPr>
              <a:t>STEP2 –</a:t>
            </a:r>
            <a:r>
              <a:rPr lang="en-US" altLang="zh-CN" sz="54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400" dirty="0">
                <a:solidFill>
                  <a:schemeClr val="tx1"/>
                </a:solidFill>
              </a:rPr>
              <a:t>Hot Pressing </a:t>
            </a:r>
            <a:endParaRPr lang="zh-CN" altLang="en-US" sz="46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2684" y="2008413"/>
            <a:ext cx="7395945" cy="6191561"/>
          </a:xfrm>
          <a:prstGeom prst="rect">
            <a:avLst/>
          </a:prstGeom>
        </p:spPr>
      </p:pic>
      <p:sp>
        <p:nvSpPr>
          <p:cNvPr id="27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16320780" y="10164707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D9CBE8A-4473-6252-0C7F-E6528A432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88026" y="9074470"/>
            <a:ext cx="3045865" cy="216789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971005BE-B97E-74A3-AD16-114DE040CBF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6579" y="7888483"/>
            <a:ext cx="3875332" cy="3862328"/>
          </a:xfrm>
          <a:prstGeom prst="rect">
            <a:avLst/>
          </a:prstGeom>
        </p:spPr>
      </p:pic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304D017-C259-4774-89AF-A5E5914484FE}"/>
              </a:ext>
            </a:extLst>
          </p:cNvPr>
          <p:cNvCxnSpPr>
            <a:cxnSpLocks/>
          </p:cNvCxnSpPr>
          <p:nvPr/>
        </p:nvCxnSpPr>
        <p:spPr>
          <a:xfrm flipH="1" flipV="1">
            <a:off x="6200827" y="11252874"/>
            <a:ext cx="452708" cy="49793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5" name="图片 34">
            <a:extLst>
              <a:ext uri="{FF2B5EF4-FFF2-40B4-BE49-F238E27FC236}">
                <a16:creationId xmlns:a16="http://schemas.microsoft.com/office/drawing/2014/main" id="{D6D85EFB-854E-983A-09CD-B99FC82D481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4097" y="7989173"/>
            <a:ext cx="4048578" cy="3660948"/>
          </a:xfrm>
          <a:prstGeom prst="rect">
            <a:avLst/>
          </a:prstGeom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E198EC8-EAC1-AEB9-B9F6-6A20EECFE654}"/>
              </a:ext>
            </a:extLst>
          </p:cNvPr>
          <p:cNvCxnSpPr>
            <a:cxnSpLocks/>
          </p:cNvCxnSpPr>
          <p:nvPr/>
        </p:nvCxnSpPr>
        <p:spPr>
          <a:xfrm>
            <a:off x="13749063" y="9253112"/>
            <a:ext cx="0" cy="9115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8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9123466" y="10164707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4" name="表格">
            <a:extLst>
              <a:ext uri="{FF2B5EF4-FFF2-40B4-BE49-F238E27FC236}">
                <a16:creationId xmlns:a16="http://schemas.microsoft.com/office/drawing/2014/main" id="{26FA5C39-067E-80FF-5FF1-21225A283C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1024440"/>
              </p:ext>
            </p:extLst>
          </p:nvPr>
        </p:nvGraphicFramePr>
        <p:xfrm>
          <a:off x="12855042" y="3485526"/>
          <a:ext cx="7468298" cy="2781327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419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8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7109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Input air pressure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0.</a:t>
                      </a:r>
                      <a:r>
                        <a:rPr lang="en-US" sz="2400" dirty="0">
                          <a:sym typeface="Arial"/>
                        </a:rPr>
                        <a:t>4</a:t>
                      </a:r>
                      <a:r>
                        <a:rPr sz="2400" dirty="0">
                          <a:sym typeface="Arial"/>
                        </a:rPr>
                        <a:t>-0.</a:t>
                      </a:r>
                      <a:r>
                        <a:rPr lang="en-US" sz="2400" dirty="0">
                          <a:sym typeface="Arial"/>
                        </a:rPr>
                        <a:t>6 </a:t>
                      </a:r>
                      <a:r>
                        <a:rPr sz="2400" dirty="0">
                          <a:sym typeface="Arial"/>
                        </a:rPr>
                        <a:t>M</a:t>
                      </a:r>
                      <a:r>
                        <a:rPr lang="en-US" sz="2400" dirty="0">
                          <a:sym typeface="Arial"/>
                        </a:rPr>
                        <a:t>P</a:t>
                      </a:r>
                      <a:r>
                        <a:rPr sz="2400" dirty="0">
                          <a:sym typeface="Arial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109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sz="2400" dirty="0">
                          <a:sym typeface="Arial"/>
                        </a:rPr>
                        <a:t>Time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2400" dirty="0">
                          <a:sym typeface="Arial"/>
                        </a:rPr>
                        <a:t>80</a:t>
                      </a:r>
                      <a:r>
                        <a:rPr lang="en-US" altLang="zh-CN" sz="2400" dirty="0">
                          <a:sym typeface="Arial"/>
                        </a:rPr>
                        <a:t>s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109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altLang="zh-CN" sz="2400" dirty="0">
                          <a:sym typeface="Arial"/>
                        </a:rPr>
                        <a:t>Temperature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2400" dirty="0">
                          <a:sym typeface="Arial"/>
                        </a:rPr>
                        <a:t>80</a:t>
                      </a:r>
                      <a:r>
                        <a:rPr lang="en-US" altLang="zh-CN" sz="2400" dirty="0">
                          <a:sym typeface="Arial"/>
                        </a:rPr>
                        <a:t>±5</a:t>
                      </a:r>
                      <a:r>
                        <a:rPr lang="zh-CN" altLang="en-US" sz="2400" dirty="0">
                          <a:sym typeface="Arial"/>
                        </a:rPr>
                        <a:t>℃</a:t>
                      </a:r>
                      <a:endParaRPr sz="2400" dirty="0">
                        <a:sym typeface="Arial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52648"/>
                  </a:ext>
                </a:extLst>
              </a:tr>
            </a:tbl>
          </a:graphicData>
        </a:graphic>
      </p:graphicFrame>
      <p:sp>
        <p:nvSpPr>
          <p:cNvPr id="55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476846" y="4655885"/>
            <a:ext cx="3942715" cy="6728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0"/>
              </a:spcBef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Hot pressing chamber</a:t>
            </a:r>
          </a:p>
        </p:txBody>
      </p:sp>
      <p:cxnSp>
        <p:nvCxnSpPr>
          <p:cNvPr id="56" name="肘形连接符 55"/>
          <p:cNvCxnSpPr>
            <a:stCxn id="55" idx="1"/>
          </p:cNvCxnSpPr>
          <p:nvPr/>
        </p:nvCxnSpPr>
        <p:spPr>
          <a:xfrm rot="10800000">
            <a:off x="3561164" y="3948536"/>
            <a:ext cx="3915683" cy="104378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7" name="圆角矩形 2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012152" y="3485526"/>
            <a:ext cx="2861945" cy="59578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Robot</a:t>
            </a:r>
            <a:endParaRPr kumimoji="1" 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58" name="肘形连接符 57"/>
          <p:cNvCxnSpPr/>
          <p:nvPr/>
        </p:nvCxnSpPr>
        <p:spPr>
          <a:xfrm rot="10800000">
            <a:off x="5044442" y="3352747"/>
            <a:ext cx="2967710" cy="43942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1E93415F-BF27-C7DD-0134-808E2391C5A9}"/>
              </a:ext>
            </a:extLst>
          </p:cNvPr>
          <p:cNvSpPr txBox="1"/>
          <p:nvPr/>
        </p:nvSpPr>
        <p:spPr>
          <a:xfrm>
            <a:off x="11942327" y="12003961"/>
            <a:ext cx="2446533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Hot pressing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431356A-A171-BEDD-437D-85CC021B4837}"/>
              </a:ext>
            </a:extLst>
          </p:cNvPr>
          <p:cNvSpPr txBox="1"/>
          <p:nvPr/>
        </p:nvSpPr>
        <p:spPr>
          <a:xfrm>
            <a:off x="2655066" y="12009464"/>
            <a:ext cx="6430613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Put the fixture into the  hot pressing chamber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948FBF8-2882-1AA8-3A6B-33AE16BB526C}"/>
              </a:ext>
            </a:extLst>
          </p:cNvPr>
          <p:cNvSpPr txBox="1"/>
          <p:nvPr/>
        </p:nvSpPr>
        <p:spPr>
          <a:xfrm>
            <a:off x="16067807" y="12003961"/>
            <a:ext cx="6740433" cy="512961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Take the fixture out of the hot pressing chamber</a:t>
            </a:r>
          </a:p>
        </p:txBody>
      </p:sp>
    </p:spTree>
    <p:extLst>
      <p:ext uri="{BB962C8B-B14F-4D97-AF65-F5344CB8AC3E}">
        <p14:creationId xmlns:p14="http://schemas.microsoft.com/office/powerpoint/2010/main" val="32410284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X1758 / Revision list："/>
          <p:cNvSpPr txBox="1"/>
          <p:nvPr/>
        </p:nvSpPr>
        <p:spPr>
          <a:xfrm>
            <a:off x="322684" y="946718"/>
            <a:ext cx="20229721" cy="1015655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  <a:ea typeface="宋体" panose="02010600030101010101" pitchFamily="2" charset="-122"/>
              </a:rPr>
              <a:t>STEP2 -</a:t>
            </a:r>
            <a:r>
              <a:rPr lang="en-US" altLang="zh-CN" sz="54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4800" dirty="0">
                <a:solidFill>
                  <a:schemeClr val="tx1"/>
                </a:solidFill>
              </a:rPr>
              <a:t>Product Unloading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A2E7E9-77C6-81B4-9706-FB76E32642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85533" y="4778423"/>
            <a:ext cx="4356494" cy="43837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8E4DE4D-3423-E72F-4E37-9CD304C149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7692" y="5357951"/>
            <a:ext cx="3720899" cy="316681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C591ADE-5332-1055-05EF-563A0C0D1C8F}"/>
              </a:ext>
            </a:extLst>
          </p:cNvPr>
          <p:cNvGrpSpPr/>
          <p:nvPr/>
        </p:nvGrpSpPr>
        <p:grpSpPr>
          <a:xfrm>
            <a:off x="7204075" y="3090377"/>
            <a:ext cx="3627768" cy="977934"/>
            <a:chOff x="322685" y="3403800"/>
            <a:chExt cx="3366254" cy="1080000"/>
          </a:xfrm>
        </p:grpSpPr>
        <p:sp>
          <p:nvSpPr>
            <p:cNvPr id="11" name="圆角矩形">
              <a:extLst>
                <a:ext uri="{FF2B5EF4-FFF2-40B4-BE49-F238E27FC236}">
                  <a16:creationId xmlns:a16="http://schemas.microsoft.com/office/drawing/2014/main" id="{B4C6D1E5-D8A8-FEB9-CB3C-6DF69C414B3B}"/>
                </a:ext>
              </a:extLst>
            </p:cNvPr>
            <p:cNvSpPr/>
            <p:nvPr/>
          </p:nvSpPr>
          <p:spPr>
            <a:xfrm>
              <a:off x="322685" y="3403800"/>
              <a:ext cx="3366254" cy="1080000"/>
            </a:xfrm>
            <a:prstGeom prst="roundRect">
              <a:avLst>
                <a:gd name="adj" fmla="val 21269"/>
              </a:avLst>
            </a:prstGeom>
            <a:solidFill>
              <a:srgbClr val="FFFFCC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>
                <a:spcBef>
                  <a:spcPts val="2000"/>
                </a:spcBef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000" dirty="0"/>
            </a:p>
          </p:txBody>
        </p:sp>
        <p:sp>
          <p:nvSpPr>
            <p:cNvPr id="13" name="Magnet Loading">
              <a:extLst>
                <a:ext uri="{FF2B5EF4-FFF2-40B4-BE49-F238E27FC236}">
                  <a16:creationId xmlns:a16="http://schemas.microsoft.com/office/drawing/2014/main" id="{ED1021BA-B1EE-34A2-DB9A-1BFAFF618BCD}"/>
                </a:ext>
              </a:extLst>
            </p:cNvPr>
            <p:cNvSpPr txBox="1"/>
            <p:nvPr/>
          </p:nvSpPr>
          <p:spPr>
            <a:xfrm>
              <a:off x="415371" y="3697584"/>
              <a:ext cx="3180882" cy="4924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altLang="zh-CN" sz="2000" dirty="0"/>
                <a:t>Remove the carrier waste</a:t>
              </a:r>
            </a:p>
          </p:txBody>
        </p:sp>
      </p:grp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2253A0D-26C4-8BCE-C6E5-47A559F43647}"/>
              </a:ext>
            </a:extLst>
          </p:cNvPr>
          <p:cNvCxnSpPr>
            <a:cxnSpLocks/>
          </p:cNvCxnSpPr>
          <p:nvPr/>
        </p:nvCxnSpPr>
        <p:spPr>
          <a:xfrm flipH="1" flipV="1">
            <a:off x="16534042" y="5614017"/>
            <a:ext cx="0" cy="900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2195697-5237-8887-A1BB-586C3F1F4C67}"/>
              </a:ext>
            </a:extLst>
          </p:cNvPr>
          <p:cNvGrpSpPr/>
          <p:nvPr/>
        </p:nvGrpSpPr>
        <p:grpSpPr>
          <a:xfrm>
            <a:off x="12580178" y="3074355"/>
            <a:ext cx="5886516" cy="973233"/>
            <a:chOff x="322685" y="3326856"/>
            <a:chExt cx="3366254" cy="1080000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69A1D663-06F1-326F-6F8F-87AED8FD133D}"/>
                </a:ext>
              </a:extLst>
            </p:cNvPr>
            <p:cNvSpPr/>
            <p:nvPr/>
          </p:nvSpPr>
          <p:spPr>
            <a:xfrm>
              <a:off x="322685" y="3326856"/>
              <a:ext cx="3366254" cy="1080000"/>
            </a:xfrm>
            <a:prstGeom prst="roundRect">
              <a:avLst>
                <a:gd name="adj" fmla="val 21269"/>
              </a:avLst>
            </a:prstGeom>
            <a:solidFill>
              <a:srgbClr val="FFFFCC"/>
            </a:solidFill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 algn="l">
                <a:spcBef>
                  <a:spcPts val="2000"/>
                </a:spcBef>
                <a:defRPr sz="24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endParaRPr sz="2000" dirty="0"/>
            </a:p>
          </p:txBody>
        </p:sp>
        <p:sp>
          <p:nvSpPr>
            <p:cNvPr id="19" name="Magnet Loading">
              <a:extLst>
                <a:ext uri="{FF2B5EF4-FFF2-40B4-BE49-F238E27FC236}">
                  <a16:creationId xmlns:a16="http://schemas.microsoft.com/office/drawing/2014/main" id="{B33E3EA3-473D-7872-9B2B-CCC8B1464357}"/>
                </a:ext>
              </a:extLst>
            </p:cNvPr>
            <p:cNvSpPr txBox="1"/>
            <p:nvPr/>
          </p:nvSpPr>
          <p:spPr>
            <a:xfrm>
              <a:off x="415371" y="3593626"/>
              <a:ext cx="3180882" cy="5464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spAutoFit/>
            </a:bodyPr>
            <a:lstStyle>
              <a:lvl1pPr>
                <a:spcBef>
                  <a:spcPts val="200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altLang="zh-CN" sz="2000" dirty="0"/>
                <a:t>The products unloaded from the step2 fixture</a:t>
              </a:r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DE11F702-2A4D-0BEF-2F0F-23B34394551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6591" y="5614017"/>
            <a:ext cx="2922419" cy="2940915"/>
          </a:xfrm>
          <a:prstGeom prst="rect">
            <a:avLst/>
          </a:prstGeom>
        </p:spPr>
      </p:pic>
      <p:grpSp>
        <p:nvGrpSpPr>
          <p:cNvPr id="77" name="组合 76">
            <a:extLst>
              <a:ext uri="{FF2B5EF4-FFF2-40B4-BE49-F238E27FC236}">
                <a16:creationId xmlns:a16="http://schemas.microsoft.com/office/drawing/2014/main" id="{0E42178A-5B7B-EEB3-A413-E4495D237A6D}"/>
              </a:ext>
            </a:extLst>
          </p:cNvPr>
          <p:cNvGrpSpPr/>
          <p:nvPr/>
        </p:nvGrpSpPr>
        <p:grpSpPr>
          <a:xfrm flipH="1">
            <a:off x="4761924" y="4658061"/>
            <a:ext cx="11032903" cy="8285618"/>
            <a:chOff x="1289599" y="4420703"/>
            <a:chExt cx="11032903" cy="8285618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0EC248E4-A4E0-9695-2548-456BA7FEA8A9}"/>
                </a:ext>
              </a:extLst>
            </p:cNvPr>
            <p:cNvGrpSpPr/>
            <p:nvPr/>
          </p:nvGrpSpPr>
          <p:grpSpPr>
            <a:xfrm>
              <a:off x="5264877" y="4420703"/>
              <a:ext cx="4964269" cy="4610787"/>
              <a:chOff x="5264877" y="4420703"/>
              <a:chExt cx="4964269" cy="4610787"/>
            </a:xfrm>
          </p:grpSpPr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38F694B0-5732-341B-9A30-13DF2F1C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flipH="1">
                <a:off x="5872652" y="4496219"/>
                <a:ext cx="4356494" cy="4428568"/>
              </a:xfrm>
              <a:prstGeom prst="rect">
                <a:avLst/>
              </a:prstGeom>
            </p:spPr>
          </p:pic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36A5AB8-5E3F-5A9B-7DE9-6CEB625E6F9A}"/>
                  </a:ext>
                </a:extLst>
              </p:cNvPr>
              <p:cNvSpPr/>
              <p:nvPr/>
            </p:nvSpPr>
            <p:spPr>
              <a:xfrm>
                <a:off x="6887632" y="7465374"/>
                <a:ext cx="211931" cy="192881"/>
              </a:xfrm>
              <a:prstGeom prst="ellips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6" tIns="91436" rIns="91436" bIns="91436" numCol="1" spcCol="38100" rtlCol="0" anchor="t">
                <a:spAutoFit/>
              </a:bodyPr>
              <a:lstStyle/>
              <a:p>
                <a: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320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F8A0F12A-F84F-E46D-A001-8BAEB700BD5C}"/>
                  </a:ext>
                </a:extLst>
              </p:cNvPr>
              <p:cNvSpPr/>
              <p:nvPr/>
            </p:nvSpPr>
            <p:spPr>
              <a:xfrm>
                <a:off x="7147050" y="7652059"/>
                <a:ext cx="211931" cy="192881"/>
              </a:xfrm>
              <a:prstGeom prst="ellipse">
                <a:avLst/>
              </a:prstGeom>
              <a:noFill/>
              <a:ln w="12700" cap="flat">
                <a:solidFill>
                  <a:schemeClr val="accent1"/>
                </a:solidFill>
                <a:prstDash val="solid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91436" tIns="91436" rIns="91436" bIns="91436" numCol="1" spcCol="38100" rtlCol="0" anchor="t">
                <a:spAutoFit/>
              </a:bodyPr>
              <a:lstStyle/>
              <a:p>
                <a:pPr marL="0" marR="0" indent="0" algn="l" defTabSz="1828800" rtl="0" fontAlgn="auto" latinLnBrk="0" hangingPunct="0">
                  <a:lnSpc>
                    <a:spcPct val="100000"/>
                  </a:lnSpc>
                  <a:spcBef>
                    <a:spcPts val="320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A518CDD4-C300-C8F5-AEC4-03E57AE628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64877" y="7609954"/>
                <a:ext cx="1653947" cy="1421536"/>
              </a:xfrm>
              <a:prstGeom prst="straightConnector1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4" name="直接箭头连接符 63">
                <a:extLst>
                  <a:ext uri="{FF2B5EF4-FFF2-40B4-BE49-F238E27FC236}">
                    <a16:creationId xmlns:a16="http://schemas.microsoft.com/office/drawing/2014/main" id="{268EC1C7-143D-F32E-04D9-8CA029F88A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70063" y="5548476"/>
                <a:ext cx="0" cy="90000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4826F1B4-2E51-B334-11D0-2C8E15CB2436}"/>
                  </a:ext>
                </a:extLst>
              </p:cNvPr>
              <p:cNvGrpSpPr/>
              <p:nvPr/>
            </p:nvGrpSpPr>
            <p:grpSpPr>
              <a:xfrm>
                <a:off x="5941194" y="4420703"/>
                <a:ext cx="2125273" cy="1025319"/>
                <a:chOff x="2510127" y="10048181"/>
                <a:chExt cx="2125273" cy="1025319"/>
              </a:xfrm>
            </p:grpSpPr>
            <p:cxnSp>
              <p:nvCxnSpPr>
                <p:cNvPr id="70" name="直接箭头连接符 309">
                  <a:extLst>
                    <a:ext uri="{FF2B5EF4-FFF2-40B4-BE49-F238E27FC236}">
                      <a16:creationId xmlns:a16="http://schemas.microsoft.com/office/drawing/2014/main" id="{0632A4B1-C70B-57E0-101F-0CEBD2E0A4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2329" y="10461762"/>
                  <a:ext cx="363071" cy="611738"/>
                </a:xfrm>
                <a:prstGeom prst="straightConnector1">
                  <a:avLst/>
                </a:prstGeom>
                <a:ln w="19050">
                  <a:solidFill>
                    <a:srgbClr val="0000FF"/>
                  </a:solidFill>
                  <a:prstDash val="lgDash"/>
                  <a:tailEnd type="triangle"/>
                </a:ln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Magnet Loading">
                  <a:extLst>
                    <a:ext uri="{FF2B5EF4-FFF2-40B4-BE49-F238E27FC236}">
                      <a16:creationId xmlns:a16="http://schemas.microsoft.com/office/drawing/2014/main" id="{A70FDDA4-E82B-472D-5E45-21E61352B11B}"/>
                    </a:ext>
                  </a:extLst>
                </p:cNvPr>
                <p:cNvSpPr txBox="1"/>
                <p:nvPr/>
              </p:nvSpPr>
              <p:spPr>
                <a:xfrm>
                  <a:off x="2510127" y="10048181"/>
                  <a:ext cx="1842277" cy="46165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square" lIns="91436" tIns="91436" rIns="91436" bIns="91436" numCol="1" anchor="ctr">
                  <a:spAutoFit/>
                </a:bodyPr>
                <a:lstStyle>
                  <a:lvl1pPr>
                    <a:spcBef>
                      <a:spcPts val="2000"/>
                    </a:spcBef>
                    <a:defRPr sz="3000"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defRPr>
                  </a:lvl1pPr>
                </a:lstStyle>
                <a:p>
                  <a:pPr algn="l">
                    <a:spcBef>
                      <a:spcPts val="0"/>
                    </a:spcBef>
                  </a:pPr>
                  <a:r>
                    <a:rPr lang="en-US" altLang="zh-CN" sz="1800" dirty="0"/>
                    <a:t>Carrier waste</a:t>
                  </a:r>
                </a:p>
              </p:txBody>
            </p:sp>
          </p:grpSp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51D6E534-5465-8F61-03E1-54CD84288BD1}"/>
                </a:ext>
              </a:extLst>
            </p:cNvPr>
            <p:cNvGrpSpPr/>
            <p:nvPr/>
          </p:nvGrpSpPr>
          <p:grpSpPr>
            <a:xfrm>
              <a:off x="1289599" y="9100272"/>
              <a:ext cx="11032903" cy="3606049"/>
              <a:chOff x="1289599" y="9100272"/>
              <a:chExt cx="11032903" cy="3606049"/>
            </a:xfrm>
          </p:grpSpPr>
          <p:sp>
            <p:nvSpPr>
              <p:cNvPr id="47" name="Magnet Loading">
                <a:extLst>
                  <a:ext uri="{FF2B5EF4-FFF2-40B4-BE49-F238E27FC236}">
                    <a16:creationId xmlns:a16="http://schemas.microsoft.com/office/drawing/2014/main" id="{A70241B7-DA17-8B60-0DC1-3BBAE810AEF2}"/>
                  </a:ext>
                </a:extLst>
              </p:cNvPr>
              <p:cNvSpPr txBox="1"/>
              <p:nvPr/>
            </p:nvSpPr>
            <p:spPr>
              <a:xfrm>
                <a:off x="9216165" y="9100272"/>
                <a:ext cx="1183777" cy="73865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 algn="l">
                  <a:spcBef>
                    <a:spcPts val="0"/>
                  </a:spcBef>
                </a:pPr>
                <a:r>
                  <a:rPr lang="en-US" altLang="zh-CN" sz="1800" dirty="0"/>
                  <a:t>Carrier Location </a:t>
                </a:r>
              </a:p>
            </p:txBody>
          </p:sp>
          <p:sp>
            <p:nvSpPr>
              <p:cNvPr id="60" name="Magnet Loading">
                <a:extLst>
                  <a:ext uri="{FF2B5EF4-FFF2-40B4-BE49-F238E27FC236}">
                    <a16:creationId xmlns:a16="http://schemas.microsoft.com/office/drawing/2014/main" id="{56E5DCF7-9ECA-6EF5-48B6-647098E70084}"/>
                  </a:ext>
                </a:extLst>
              </p:cNvPr>
              <p:cNvSpPr txBox="1"/>
              <p:nvPr/>
            </p:nvSpPr>
            <p:spPr>
              <a:xfrm>
                <a:off x="1289599" y="12213887"/>
                <a:ext cx="5018588" cy="4924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>
                  <a:spcBef>
                    <a:spcPts val="0"/>
                  </a:spcBef>
                </a:pPr>
                <a:r>
                  <a:rPr lang="en" altLang="zh-CN" sz="2000" dirty="0"/>
                  <a:t>There is a gap at the edge after breaking</a:t>
                </a:r>
                <a:endParaRPr lang="en-US" altLang="zh-CN" sz="2000" dirty="0"/>
              </a:p>
            </p:txBody>
          </p:sp>
          <p:sp>
            <p:nvSpPr>
              <p:cNvPr id="65" name="Magnet Loading">
                <a:extLst>
                  <a:ext uri="{FF2B5EF4-FFF2-40B4-BE49-F238E27FC236}">
                    <a16:creationId xmlns:a16="http://schemas.microsoft.com/office/drawing/2014/main" id="{49A5916C-0785-B2EC-7A7E-CEB73556075D}"/>
                  </a:ext>
                </a:extLst>
              </p:cNvPr>
              <p:cNvSpPr txBox="1"/>
              <p:nvPr/>
            </p:nvSpPr>
            <p:spPr>
              <a:xfrm>
                <a:off x="6923706" y="11706628"/>
                <a:ext cx="5398796" cy="49243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91436" tIns="91436" rIns="91436" bIns="91436" numCol="1" anchor="ctr">
                <a:spAutoFit/>
              </a:bodyPr>
              <a:lstStyle>
                <a:lvl1pPr>
                  <a:spcBef>
                    <a:spcPts val="2000"/>
                  </a:spcBef>
                  <a:defRPr sz="3000"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</a:lstStyle>
              <a:p>
                <a:pPr>
                  <a:spcBef>
                    <a:spcPts val="0"/>
                  </a:spcBef>
                </a:pPr>
                <a:r>
                  <a:rPr lang="en" altLang="zh-CN" sz="2000" dirty="0"/>
                  <a:t>There is a gap at the edge after breaking</a:t>
                </a:r>
                <a:endParaRPr lang="en-US" altLang="zh-CN" sz="2000" dirty="0"/>
              </a:p>
            </p:txBody>
          </p:sp>
        </p:grpSp>
      </p:grpSp>
      <p:sp>
        <p:nvSpPr>
          <p:cNvPr id="58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5782685" y="6723917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12115358" y="6693034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箭头: 右 13">
            <a:extLst>
              <a:ext uri="{FF2B5EF4-FFF2-40B4-BE49-F238E27FC236}">
                <a16:creationId xmlns:a16="http://schemas.microsoft.com/office/drawing/2014/main" id="{AFCF1C9B-B209-A26D-A198-99504BBA7A54}"/>
              </a:ext>
            </a:extLst>
          </p:cNvPr>
          <p:cNvSpPr/>
          <p:nvPr/>
        </p:nvSpPr>
        <p:spPr>
          <a:xfrm>
            <a:off x="18347382" y="6685834"/>
            <a:ext cx="464820" cy="354341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ctr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6"/>
          <a:srcRect r="10573"/>
          <a:stretch/>
        </p:blipFill>
        <p:spPr>
          <a:xfrm>
            <a:off x="6027413" y="8554932"/>
            <a:ext cx="3344550" cy="3523744"/>
          </a:xfrm>
          <a:prstGeom prst="rect">
            <a:avLst/>
          </a:prstGeom>
        </p:spPr>
      </p:pic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FDD2B99-FECB-C266-604D-94C5EF2CE7E0}"/>
              </a:ext>
            </a:extLst>
          </p:cNvPr>
          <p:cNvCxnSpPr>
            <a:cxnSpLocks/>
          </p:cNvCxnSpPr>
          <p:nvPr/>
        </p:nvCxnSpPr>
        <p:spPr>
          <a:xfrm flipH="1">
            <a:off x="8736567" y="8049133"/>
            <a:ext cx="988878" cy="83941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8631" y="9342169"/>
            <a:ext cx="4650018" cy="309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368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X1758 / Revision list："/>
          <p:cNvSpPr txBox="1"/>
          <p:nvPr/>
        </p:nvSpPr>
        <p:spPr>
          <a:xfrm>
            <a:off x="322684" y="946718"/>
            <a:ext cx="20229721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Process Description - Glue Cleaning</a:t>
            </a:r>
          </a:p>
        </p:txBody>
      </p:sp>
      <p:graphicFrame>
        <p:nvGraphicFramePr>
          <p:cNvPr id="6" name="表格"/>
          <p:cNvGraphicFramePr/>
          <p:nvPr>
            <p:extLst>
              <p:ext uri="{D42A27DB-BD31-4B8C-83A1-F6EECF244321}">
                <p14:modId xmlns:p14="http://schemas.microsoft.com/office/powerpoint/2010/main" val="1637551323"/>
              </p:ext>
            </p:extLst>
          </p:nvPr>
        </p:nvGraphicFramePr>
        <p:xfrm>
          <a:off x="534738" y="7504979"/>
          <a:ext cx="10765865" cy="5658933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96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2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5677">
                <a:tc gridSpan="3"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en-US" sz="3000" b="1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Glue cleaning parameter</a:t>
                      </a:r>
                      <a:r>
                        <a:rPr lang="en-US" altLang="zh-CN" sz="3000" b="1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s</a:t>
                      </a:r>
                      <a:endParaRPr lang="en-US" sz="3000" b="1" dirty="0">
                        <a:latin typeface="Arial" panose="020B0604020202020204" pitchFamily="34" charset="0"/>
                        <a:ea typeface="Arial" panose="020B060402020202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>
                        <a:alpha val="69804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07">
                <a:tc rowSpan="4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Glue cleaning Machine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Name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cleaning machine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GM-C02-60-MR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Vendor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Guoyu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Rated power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60 W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407">
                <a:tc rowSpan="4">
                  <a:txBody>
                    <a:bodyPr/>
                    <a:lstStyle/>
                    <a:p>
                      <a:pPr algn="ctr" defTabSz="914400">
                        <a:spcBef>
                          <a:spcPts val="0"/>
                        </a:spcBef>
                        <a:defRPr sz="1800" b="0"/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Parameter</a:t>
                      </a:r>
                      <a:r>
                        <a:rPr lang="en-US" altLang="zh-CN" sz="2400" dirty="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s</a:t>
                      </a:r>
                      <a:endParaRPr sz="2400" dirty="0">
                        <a:latin typeface="Arial" panose="020B0604020202020204" pitchFamily="34" charset="0"/>
                        <a:ea typeface="Arial" panose="020B0604020202020204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power 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42~54 W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Laser speed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1pPr>
                      <a:lvl2pPr marL="742950" indent="-28575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2pPr>
                      <a:lvl3pPr marL="11430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3pPr>
                      <a:lvl4pPr marL="16002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4pPr>
                      <a:lvl5pPr marL="2057400" indent="-228600" algn="ctr">
                        <a:spcBef>
                          <a:spcPts val="1400"/>
                        </a:spcBef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ts val="1400"/>
                        </a:spcBef>
                        <a:spcAft>
                          <a:spcPct val="0"/>
                        </a:spcAft>
                        <a:buSzPct val="100000"/>
                        <a:defRPr sz="58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2500~4000 mm/s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Q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frequency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10~20 KHz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54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Fill the gap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0.025~0.04 mm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8189A76F-D639-85DF-719D-225C757BB93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6375932" y="10587068"/>
            <a:ext cx="2056130" cy="18176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6" b="3592"/>
          <a:stretch/>
        </p:blipFill>
        <p:spPr>
          <a:xfrm flipH="1">
            <a:off x="13096908" y="2380442"/>
            <a:ext cx="9154747" cy="5779698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1E93415F-BF27-C7DD-0134-808E2391C5A9}"/>
              </a:ext>
            </a:extLst>
          </p:cNvPr>
          <p:cNvSpPr txBox="1"/>
          <p:nvPr/>
        </p:nvSpPr>
        <p:spPr>
          <a:xfrm>
            <a:off x="1799237" y="6539915"/>
            <a:ext cx="5283475" cy="574516"/>
          </a:xfrm>
          <a:prstGeom prst="rect">
            <a:avLst/>
          </a:prstGeom>
          <a:solidFill>
            <a:srgbClr val="FFFF00">
              <a:alpha val="4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1600" tIns="101600" rIns="101600" bIns="101600" numCol="1" spcCol="38100" rtlCol="0" anchor="ctr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/>
              <a:t>Automatic glue cleaning machine</a:t>
            </a:r>
          </a:p>
        </p:txBody>
      </p:sp>
      <p:sp>
        <p:nvSpPr>
          <p:cNvPr id="44" name="圆角矩形 2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88925" y="8795622"/>
            <a:ext cx="3623234" cy="7382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400" dirty="0"/>
              <a:t>Products loading tray</a:t>
            </a:r>
          </a:p>
        </p:txBody>
      </p:sp>
      <p:sp>
        <p:nvSpPr>
          <p:cNvPr id="45" name="圆角矩形 2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219653" y="8795622"/>
            <a:ext cx="3810706" cy="73826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400" dirty="0"/>
              <a:t>Products unloading tray</a:t>
            </a:r>
          </a:p>
        </p:txBody>
      </p:sp>
      <p:sp>
        <p:nvSpPr>
          <p:cNvPr id="57" name="圆角矩形 2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466006" y="4147799"/>
            <a:ext cx="1747446" cy="59578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Tx/>
              <a:buSzTx/>
              <a:buFontTx/>
            </a:pPr>
            <a:r>
              <a:rPr kumimoji="1" lang="en-US" altLang="zh-CN" sz="2400" kern="1200" dirty="0">
                <a:solidFill>
                  <a:prstClr val="black"/>
                </a:solidFill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Robot</a:t>
            </a:r>
            <a:endParaRPr kumimoji="1" 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9" name="圆角矩形 2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660923" y="5200146"/>
            <a:ext cx="3528942" cy="1064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400" dirty="0"/>
              <a:t>Glue cleaning station</a:t>
            </a:r>
          </a:p>
        </p:txBody>
      </p:sp>
      <p:cxnSp>
        <p:nvCxnSpPr>
          <p:cNvPr id="11" name="肘形连接符 10"/>
          <p:cNvCxnSpPr>
            <a:stCxn id="57" idx="3"/>
          </p:cNvCxnSpPr>
          <p:nvPr/>
        </p:nvCxnSpPr>
        <p:spPr>
          <a:xfrm flipV="1">
            <a:off x="11213452" y="3916392"/>
            <a:ext cx="7402352" cy="529302"/>
          </a:xfrm>
          <a:prstGeom prst="bentConnector3">
            <a:avLst>
              <a:gd name="adj1" fmla="val 2319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0" name="肘形连接符 59"/>
          <p:cNvCxnSpPr/>
          <p:nvPr/>
        </p:nvCxnSpPr>
        <p:spPr>
          <a:xfrm flipV="1">
            <a:off x="12189865" y="4882551"/>
            <a:ext cx="3544716" cy="883391"/>
          </a:xfrm>
          <a:prstGeom prst="bentConnector3">
            <a:avLst>
              <a:gd name="adj1" fmla="val 3296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14100542" y="7283404"/>
            <a:ext cx="0" cy="15122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21218742" y="7283405"/>
            <a:ext cx="0" cy="15122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2" name="Fixture of loading Can&amp;Mag pass drying oven"/>
          <p:cNvSpPr txBox="1"/>
          <p:nvPr/>
        </p:nvSpPr>
        <p:spPr>
          <a:xfrm>
            <a:off x="15068826" y="12204724"/>
            <a:ext cx="2056130" cy="400050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sz="2000" dirty="0"/>
              <a:t>Final Product</a:t>
            </a:r>
            <a:endParaRPr sz="2000" dirty="0"/>
          </a:p>
        </p:txBody>
      </p:sp>
      <p:sp>
        <p:nvSpPr>
          <p:cNvPr id="63" name="圆角矩形 2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154660" y="2953203"/>
            <a:ext cx="2370138" cy="71852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3300"/>
            </a:solidFill>
            <a:prstDash val="sys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cs typeface="Arial" panose="020B0604020202020204" pitchFamily="34" charset="0"/>
              </a:rPr>
              <a:t>Laser device</a:t>
            </a:r>
          </a:p>
        </p:txBody>
      </p:sp>
      <p:cxnSp>
        <p:nvCxnSpPr>
          <p:cNvPr id="65" name="肘形连接符 64"/>
          <p:cNvCxnSpPr/>
          <p:nvPr/>
        </p:nvCxnSpPr>
        <p:spPr>
          <a:xfrm flipV="1">
            <a:off x="11524798" y="2794958"/>
            <a:ext cx="4572093" cy="515934"/>
          </a:xfrm>
          <a:prstGeom prst="bentConnector3">
            <a:avLst>
              <a:gd name="adj1" fmla="val 2547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0" t="7120" r="2735" b="2485"/>
          <a:stretch/>
        </p:blipFill>
        <p:spPr>
          <a:xfrm>
            <a:off x="1621412" y="2183616"/>
            <a:ext cx="5784456" cy="429347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X1758 / Revision list："/>
          <p:cNvSpPr txBox="1"/>
          <p:nvPr/>
        </p:nvSpPr>
        <p:spPr>
          <a:xfrm>
            <a:off x="322684" y="946718"/>
            <a:ext cx="19976995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Process Description - Inspection</a:t>
            </a:r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0575458" y="4097211"/>
            <a:ext cx="2500012" cy="5040000"/>
            <a:chOff x="19029293" y="4097212"/>
            <a:chExt cx="2160000" cy="4354539"/>
          </a:xfrm>
        </p:grpSpPr>
        <p:pic>
          <p:nvPicPr>
            <p:cNvPr id="16" name="图像" descr="图像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600000">
              <a:off x="19869440" y="4097212"/>
              <a:ext cx="812213" cy="312731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7" name="Polar Pen"/>
            <p:cNvSpPr txBox="1"/>
            <p:nvPr/>
          </p:nvSpPr>
          <p:spPr>
            <a:xfrm>
              <a:off x="19029293" y="7928535"/>
              <a:ext cx="2160000" cy="523216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800" dirty="0"/>
                <a:t>Polar Pen</a:t>
              </a:r>
            </a:p>
          </p:txBody>
        </p:sp>
      </p:grpSp>
      <p:grpSp>
        <p:nvGrpSpPr>
          <p:cNvPr id="7" name="组合 6"/>
          <p:cNvGrpSpPr>
            <a:grpSpLocks noChangeAspect="1"/>
          </p:cNvGrpSpPr>
          <p:nvPr/>
        </p:nvGrpSpPr>
        <p:grpSpPr>
          <a:xfrm>
            <a:off x="7120688" y="3726631"/>
            <a:ext cx="4833049" cy="5400000"/>
            <a:chOff x="7177604" y="3726631"/>
            <a:chExt cx="4229025" cy="4725120"/>
          </a:xfrm>
        </p:grpSpPr>
        <p:pic>
          <p:nvPicPr>
            <p:cNvPr id="21" name="image7.jpeg" descr="image7.jpeg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177604" y="3726631"/>
              <a:ext cx="4229025" cy="3768724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2" name="SST Tester"/>
            <p:cNvSpPr txBox="1"/>
            <p:nvPr/>
          </p:nvSpPr>
          <p:spPr>
            <a:xfrm>
              <a:off x="8032116" y="7928535"/>
              <a:ext cx="2520000" cy="523216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800" dirty="0"/>
                <a:t>SST Tester</a:t>
              </a:r>
            </a:p>
          </p:txBody>
        </p:sp>
      </p:grp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14344735" y="3700499"/>
            <a:ext cx="4205481" cy="5400000"/>
            <a:chOff x="13469284" y="3700500"/>
            <a:chExt cx="3700240" cy="4751251"/>
          </a:xfrm>
        </p:grpSpPr>
        <p:pic>
          <p:nvPicPr>
            <p:cNvPr id="19" name="IMG_3847.jpeg" descr="IMG_3847.jpe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469284" y="3700500"/>
              <a:ext cx="3700240" cy="348848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0" name="Flux density Test"/>
            <p:cNvSpPr txBox="1"/>
            <p:nvPr/>
          </p:nvSpPr>
          <p:spPr>
            <a:xfrm>
              <a:off x="13699404" y="7928535"/>
              <a:ext cx="3240000" cy="523216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 defTabSz="914400">
                <a:spcBef>
                  <a:spcPts val="0"/>
                </a:spcBef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800" dirty="0"/>
                <a:t>Flux </a:t>
              </a:r>
              <a:r>
                <a:rPr lang="en-US" sz="2800" dirty="0"/>
                <a:t>D</a:t>
              </a:r>
              <a:r>
                <a:rPr sz="2800" dirty="0"/>
                <a:t>ensity Test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207638" y="3700499"/>
            <a:ext cx="3980488" cy="5411740"/>
            <a:chOff x="1207638" y="3700499"/>
            <a:chExt cx="3980488" cy="5411740"/>
          </a:xfrm>
        </p:grpSpPr>
        <p:sp>
          <p:nvSpPr>
            <p:cNvPr id="14" name="CMM…"/>
            <p:cNvSpPr txBox="1"/>
            <p:nvPr/>
          </p:nvSpPr>
          <p:spPr>
            <a:xfrm>
              <a:off x="1217882" y="8521256"/>
              <a:ext cx="3960000" cy="590983"/>
            </a:xfrm>
            <a:prstGeom prst="rect">
              <a:avLst/>
            </a:prstGeom>
            <a:ln w="12700">
              <a:miter lim="400000"/>
            </a:ln>
          </p:spPr>
          <p:txBody>
            <a:bodyPr lIns="45718" tIns="45718" rIns="45718" bIns="45718">
              <a:spAutoFit/>
            </a:bodyPr>
            <a:lstStyle>
              <a:lvl1pPr>
                <a:defRPr sz="300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</a:lstStyle>
            <a:p>
              <a:r>
                <a:rPr sz="2800" dirty="0"/>
                <a:t>OMM Dimension Test</a:t>
              </a:r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7638" y="3700499"/>
              <a:ext cx="3980488" cy="432000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496" y="3370265"/>
            <a:ext cx="5203161" cy="3772160"/>
          </a:xfrm>
          <a:prstGeom prst="rect">
            <a:avLst/>
          </a:prstGeom>
        </p:spPr>
      </p:pic>
      <p:sp>
        <p:nvSpPr>
          <p:cNvPr id="23" name="X1758 / Revision list："/>
          <p:cNvSpPr txBox="1"/>
          <p:nvPr/>
        </p:nvSpPr>
        <p:spPr>
          <a:xfrm>
            <a:off x="322684" y="946718"/>
            <a:ext cx="19976995" cy="923322"/>
          </a:xfrm>
          <a:prstGeom prst="rect">
            <a:avLst/>
          </a:prstGeom>
          <a:ln w="12700">
            <a:miter lim="400000"/>
          </a:ln>
        </p:spPr>
        <p:txBody>
          <a:bodyPr wrap="square" lIns="91436" tIns="91436" rIns="91436" bIns="91436">
            <a:spAutoFit/>
          </a:bodyPr>
          <a:lstStyle/>
          <a:p>
            <a:pPr algn="l">
              <a:spcBef>
                <a:spcPts val="2800"/>
              </a:spcBef>
              <a:defRPr sz="4800">
                <a:solidFill>
                  <a:srgbClr val="004D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4800" dirty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B747 BUD </a:t>
            </a:r>
            <a:r>
              <a:rPr lang="en-US" altLang="zh-CN" sz="4800" dirty="0">
                <a:solidFill>
                  <a:srgbClr val="00B0F0"/>
                </a:solidFill>
              </a:rPr>
              <a:t>|</a:t>
            </a:r>
            <a:r>
              <a:rPr lang="en-US" altLang="zh-CN" sz="4800" dirty="0">
                <a:solidFill>
                  <a:schemeClr val="tx1"/>
                </a:solidFill>
              </a:rPr>
              <a:t> Process Description - Packaging</a:t>
            </a:r>
          </a:p>
        </p:txBody>
      </p:sp>
      <p:pic>
        <p:nvPicPr>
          <p:cNvPr id="2" name="图像" descr="图像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46053" y="9843904"/>
            <a:ext cx="4526280" cy="35013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ake out of the product (Mag&amp;Can）"/>
          <p:cNvSpPr txBox="1"/>
          <p:nvPr/>
        </p:nvSpPr>
        <p:spPr>
          <a:xfrm>
            <a:off x="528171" y="7718459"/>
            <a:ext cx="6111619" cy="101565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>
              <a:defRPr sz="3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>
              <a:spcBef>
                <a:spcPts val="0"/>
              </a:spcBef>
            </a:pPr>
            <a:r>
              <a:rPr dirty="0"/>
              <a:t>Place the </a:t>
            </a:r>
            <a:r>
              <a:rPr lang="en-US" dirty="0"/>
              <a:t>product</a:t>
            </a:r>
            <a:r>
              <a:rPr lang="en-US" altLang="zh-CN" dirty="0"/>
              <a:t>s</a:t>
            </a:r>
            <a:r>
              <a:rPr lang="en-US" dirty="0"/>
              <a:t> into tray</a:t>
            </a:r>
          </a:p>
          <a:p>
            <a:pPr>
              <a:spcBef>
                <a:spcPts val="0"/>
              </a:spcBef>
            </a:pPr>
            <a:r>
              <a:rPr lang="en-US" dirty="0"/>
              <a:t>Qty:64P</a:t>
            </a:r>
            <a:r>
              <a:rPr lang="en-US" altLang="zh-CN" dirty="0"/>
              <a:t>cs</a:t>
            </a:r>
            <a:endParaRPr lang="en-US" dirty="0"/>
          </a:p>
        </p:txBody>
      </p:sp>
      <p:sp>
        <p:nvSpPr>
          <p:cNvPr id="6" name="Put them into the box and cover a EPE board"/>
          <p:cNvSpPr txBox="1"/>
          <p:nvPr/>
        </p:nvSpPr>
        <p:spPr>
          <a:xfrm>
            <a:off x="15977062" y="7375559"/>
            <a:ext cx="8079971" cy="1046436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>
            <a:lvl1pPr algn="just">
              <a:defRPr sz="1200"/>
            </a:lvl1pPr>
          </a:lstStyle>
          <a:p>
            <a:pPr algn="ctr"/>
            <a:r>
              <a:rPr lang="en-US" sz="3200" dirty="0">
                <a:sym typeface="+mn-ea"/>
              </a:rPr>
              <a:t>Qty:</a:t>
            </a:r>
            <a:r>
              <a:rPr lang="en-US" sz="3000" dirty="0">
                <a:latin typeface="Arial" panose="020B0604020202020204"/>
                <a:cs typeface="Arial" panose="020B0604020202020204"/>
                <a:sym typeface="+mn-ea"/>
              </a:rPr>
              <a:t>6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</a:rPr>
              <a:t> Layer*4 Tray/Layer* </a:t>
            </a:r>
            <a:r>
              <a:rPr lang="en-US" altLang="zh-CN" sz="3000" dirty="0">
                <a:latin typeface="Arial" panose="020B0604020202020204"/>
                <a:ea typeface="Arial" panose="020B0604020202020204"/>
                <a:cs typeface="Arial" panose="020B0604020202020204"/>
              </a:rPr>
              <a:t>64Pcs/Tray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</a:rPr>
              <a:t>=1536pcs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613865" y="7385034"/>
            <a:ext cx="6312626" cy="66684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101600" tIns="101600" rIns="101600" bIns="101600" numCol="1" spcCol="38100" rtlCol="0" anchor="t" forceAA="0">
            <a:spAutoFit/>
          </a:bodyPr>
          <a:lstStyle/>
          <a:p>
            <a:pPr algn="ctr">
              <a:buNone/>
            </a:pPr>
            <a:r>
              <a:rPr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Packing 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4</a:t>
            </a:r>
            <a:r>
              <a:rPr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tray</a:t>
            </a:r>
            <a:r>
              <a:rPr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s with a </a:t>
            </a:r>
            <a:r>
              <a:rPr lang="en-US" sz="3000" dirty="0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wrapping film</a:t>
            </a:r>
            <a:endParaRPr kumimoji="0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Helvetica"/>
            </a:endParaRPr>
          </a:p>
        </p:txBody>
      </p:sp>
      <p:sp>
        <p:nvSpPr>
          <p:cNvPr id="13" name="Rectangle 235"/>
          <p:cNvSpPr/>
          <p:nvPr/>
        </p:nvSpPr>
        <p:spPr>
          <a:xfrm>
            <a:off x="5813054" y="4568242"/>
            <a:ext cx="2294766" cy="3824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Product </a:t>
            </a:r>
            <a:r>
              <a:rPr lang="en-US" sz="2000" kern="100" noProof="0" dirty="0">
                <a:solidFill>
                  <a:sysClr val="windowText" lastClr="000000"/>
                </a:solidFill>
                <a:ea typeface="Arial" panose="020B0604020202020204" pitchFamily="34" charset="0"/>
                <a:sym typeface="Helvetica Neue"/>
              </a:rPr>
              <a:t>64</a:t>
            </a: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x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 panose="020F0502020204030204" pitchFamily="34" charset="0"/>
              <a:sym typeface="Helvetica Neue"/>
            </a:endParaRPr>
          </a:p>
        </p:txBody>
      </p:sp>
      <p:sp>
        <p:nvSpPr>
          <p:cNvPr id="16" name="Rectangle 239"/>
          <p:cNvSpPr/>
          <p:nvPr/>
        </p:nvSpPr>
        <p:spPr>
          <a:xfrm>
            <a:off x="6659378" y="6358294"/>
            <a:ext cx="2294766" cy="38244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8255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Arial" panose="020B0604020202020204" pitchFamily="34" charset="0"/>
                <a:sym typeface="Helvetica Neue"/>
              </a:rPr>
              <a:t>Tray x1</a:t>
            </a:r>
            <a:endParaRPr kumimoji="0" lang="zh-CN" altLang="en-US" sz="2000" b="0" i="0" u="none" strike="noStrike" kern="1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Calibri" panose="020F0502020204030204" pitchFamily="34" charset="0"/>
              <a:sym typeface="Helvetica Neue"/>
            </a:endParaRPr>
          </a:p>
        </p:txBody>
      </p:sp>
      <p:cxnSp>
        <p:nvCxnSpPr>
          <p:cNvPr id="18" name="直接连接符 17"/>
          <p:cNvCxnSpPr>
            <a:endCxn id="13" idx="1"/>
          </p:cNvCxnSpPr>
          <p:nvPr/>
        </p:nvCxnSpPr>
        <p:spPr>
          <a:xfrm>
            <a:off x="4961079" y="4437560"/>
            <a:ext cx="851976" cy="321904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4999"/>
              </a:srgbClr>
            </a:solidFill>
            <a:prstDash val="solid"/>
          </a:ln>
          <a:effectLst/>
        </p:spPr>
      </p:cxnSp>
      <p:cxnSp>
        <p:nvCxnSpPr>
          <p:cNvPr id="21" name="直接连接符 20"/>
          <p:cNvCxnSpPr/>
          <p:nvPr/>
        </p:nvCxnSpPr>
        <p:spPr>
          <a:xfrm>
            <a:off x="5453147" y="5920702"/>
            <a:ext cx="1186543" cy="569122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4999"/>
              </a:srgbClr>
            </a:solidFill>
            <a:prstDash val="solid"/>
          </a:ln>
          <a:effectLst/>
        </p:spPr>
      </p:cxnSp>
      <p:sp>
        <p:nvSpPr>
          <p:cNvPr id="24" name="箭头: 燕尾形 70"/>
          <p:cNvSpPr/>
          <p:nvPr/>
        </p:nvSpPr>
        <p:spPr>
          <a:xfrm>
            <a:off x="8234144" y="4914209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箭头: 燕尾形 70"/>
          <p:cNvSpPr/>
          <p:nvPr/>
        </p:nvSpPr>
        <p:spPr>
          <a:xfrm>
            <a:off x="16634021" y="4759464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箭头: 燕尾形 70"/>
          <p:cNvSpPr/>
          <p:nvPr/>
        </p:nvSpPr>
        <p:spPr>
          <a:xfrm rot="5400000">
            <a:off x="20012309" y="8772949"/>
            <a:ext cx="720000" cy="720000"/>
          </a:xfrm>
          <a:prstGeom prst="notchedRightArrow">
            <a:avLst/>
          </a:prstGeom>
          <a:solidFill>
            <a:srgbClr val="FFFFFF"/>
          </a:solidFill>
          <a:ln w="12700" cap="flat">
            <a:solidFill>
              <a:srgbClr val="0000FF"/>
            </a:solidFill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6" tIns="91436" rIns="91436" bIns="91436" numCol="1" spcCol="38100" rtlCol="0" anchor="t">
            <a:sp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69481" y="2567918"/>
            <a:ext cx="5476144" cy="392190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9987" y="3070917"/>
            <a:ext cx="5470892" cy="407150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hank you !"/>
          <p:cNvSpPr txBox="1"/>
          <p:nvPr/>
        </p:nvSpPr>
        <p:spPr>
          <a:xfrm>
            <a:off x="5836920" y="5750557"/>
            <a:ext cx="11430004" cy="2031317"/>
          </a:xfrm>
          <a:prstGeom prst="rect">
            <a:avLst/>
          </a:prstGeom>
          <a:ln w="12700">
            <a:miter lim="400000"/>
          </a:ln>
        </p:spPr>
        <p:txBody>
          <a:bodyPr lIns="91436" tIns="91436" rIns="91436" bIns="91436">
            <a:spAutoFit/>
          </a:bodyPr>
          <a:lstStyle>
            <a:lvl1pPr>
              <a:spcBef>
                <a:spcPts val="7200"/>
              </a:spcBef>
              <a:defRPr sz="8800">
                <a:solidFill>
                  <a:srgbClr val="3366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sz="12000" dirty="0"/>
              <a:t>Thank you !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c0ZWZjY2UxNzNhN2Q3NWRjNmM2MWJjYjcyMTVjMD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0da4d0d-8799-4d6b-acbc-1fb63abdc39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6" tIns="91436" rIns="91436" bIns="91436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defRPr sz="24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101600" tIns="101600" rIns="101600" bIns="101600" numCol="1" spcCol="38100" rtlCol="0" anchor="ctr">
        <a:spAutoFit/>
      </a:bodyPr>
      <a:lstStyle>
        <a:defPPr marL="0" marR="0" indent="0" algn="ctr" defTabSz="1828800" rtl="0" fontAlgn="auto" latinLnBrk="0" hangingPunct="0">
          <a:lnSpc>
            <a:spcPct val="10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defRPr kumimoji="0" sz="5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Lucida Grande"/>
        <a:ea typeface="Lucida Grande"/>
        <a:cs typeface="Lucida Grand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6" tIns="91436" rIns="91436" bIns="91436" numCol="1" spcCol="38100" rtlCol="0" anchor="t">
        <a:spAutoFit/>
      </a:bodyPr>
      <a:lstStyle>
        <a:defPPr marL="0" marR="0" indent="0" algn="ctr" defTabSz="1828800" rtl="0" fontAlgn="auto" latinLnBrk="0" hangingPunct="0">
          <a:lnSpc>
            <a:spcPct val="10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defRPr kumimoji="0" sz="5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101600" tIns="101600" rIns="101600" bIns="101600" numCol="1" spcCol="38100" rtlCol="0" anchor="ctr">
        <a:spAutoFit/>
      </a:bodyPr>
      <a:lstStyle>
        <a:defPPr marL="0" marR="0" indent="0" algn="ctr" defTabSz="1828800" rtl="0" fontAlgn="auto" latinLnBrk="0" hangingPunct="0">
          <a:lnSpc>
            <a:spcPct val="10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defRPr kumimoji="0" sz="5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5604</TotalTime>
  <Words>809</Words>
  <Application>Microsoft Office PowerPoint</Application>
  <PresentationFormat>自定义</PresentationFormat>
  <Paragraphs>270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Lucida Grande</vt:lpstr>
      <vt:lpstr>宋体</vt:lpstr>
      <vt:lpstr>微软雅黑</vt:lpstr>
      <vt:lpstr>Arial</vt:lpstr>
      <vt:lpstr>Calibri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Chen JH</cp:lastModifiedBy>
  <cp:revision>1470</cp:revision>
  <cp:lastPrinted>2025-06-24T02:05:57Z</cp:lastPrinted>
  <dcterms:created xsi:type="dcterms:W3CDTF">2019-10-11T04:52:00Z</dcterms:created>
  <dcterms:modified xsi:type="dcterms:W3CDTF">2025-07-01T12:34:52Z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0301565B136443409DA07E14E894C204</vt:lpwstr>
  </property>
</Properties>
</file>